
<file path=[Content_Types].xml><?xml version="1.0" encoding="utf-8"?>
<Types xmlns="http://schemas.openxmlformats.org/package/2006/content-types"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300" r:id="rId2"/>
    <p:sldId id="259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285" r:id="rId15"/>
    <p:sldId id="284" r:id="rId16"/>
    <p:sldId id="260" r:id="rId17"/>
    <p:sldId id="261" r:id="rId18"/>
    <p:sldId id="262" r:id="rId19"/>
    <p:sldId id="263" r:id="rId20"/>
    <p:sldId id="303" r:id="rId21"/>
    <p:sldId id="301" r:id="rId22"/>
    <p:sldId id="302" r:id="rId23"/>
    <p:sldId id="264" r:id="rId24"/>
    <p:sldId id="265" r:id="rId25"/>
    <p:sldId id="266" r:id="rId26"/>
    <p:sldId id="267" r:id="rId27"/>
    <p:sldId id="304" r:id="rId28"/>
    <p:sldId id="305" r:id="rId29"/>
    <p:sldId id="268" r:id="rId30"/>
    <p:sldId id="286" r:id="rId31"/>
    <p:sldId id="287" r:id="rId32"/>
    <p:sldId id="288" r:id="rId33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9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81412F9-67AD-4B22-A987-73FB8B3B6A1B}" type="datetimeFigureOut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09DBA8F-207A-4006-AAE4-22A072BFAA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9662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A74A401-F740-4CB2-8CF1-409F2EAE506C}" type="datetimeFigureOut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2446" tIns="46223" rIns="92446" bIns="46223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9DE3A64-D343-4CDA-ADF6-A5A828FB7B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0753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9324368-1C8E-413E-804D-09470C980D5C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696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9FD7341-4F43-4F38-9959-584F55BD5EC1}" type="slidenum">
              <a:rPr lang="en-US" altLang="en-US"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060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73EF8C4-4950-436A-8FA9-A29151B43DD3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573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7EDA7B1-9890-4F64-94FE-4D6BBBA132D3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273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FE9BAFD-9B3C-4572-B53C-BF15A47C73E8}" type="slidenum">
              <a:rPr lang="en-US" altLang="en-US"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322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F8B839F-EAE4-4C00-8F1B-EAD47426E807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18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3CBD55A-B1D7-48C4-8EE1-CA2B1128F69B}" type="slidenum">
              <a:rPr lang="en-US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931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603F3A7-FEA8-43B1-A4F7-84621B930CDF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272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03C37FA-0499-400B-8906-43FF53F57E63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777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0179C5F-B795-4422-AD61-A9117FE05E4B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060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92FD725-E19A-459B-B624-10B89B5BB5B8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009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00E9B17-F89C-4901-81C4-5AB163D34D99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038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EE4DC4-AADF-4C47-8CEF-BC6D6D65EFA5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996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E9BBBFA-BCC9-469F-B8A7-4E422AFB2417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266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EE53349-6F0D-4C24-9D38-23E3268D2537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828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65718A-5A40-42EA-AA5C-FBB1DCA662FB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1140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D8D486-D853-4A79-8C93-782DEB9E3D54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6680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CAF87A-34C4-4C80-968A-BE3DBA03509F}" type="slidenum">
              <a:rPr lang="en-US" altLang="en-US"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198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1176659-8E59-4427-8C20-5FBF8C693881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2103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1D8AF3F-7EFE-478B-8FE4-A492F87785D1}" type="slidenum">
              <a:rPr lang="en-US" altLang="en-US"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3176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3587E38-6C93-4C5E-9E43-A1ECC57CD8CB}" type="slidenum">
              <a:rPr lang="en-US" altLang="en-US"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0669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B60D286-8893-4CB9-BE3F-4545672F5E03}" type="slidenum">
              <a:rPr lang="en-US" altLang="en-US">
                <a:latin typeface="Calibri" panose="020F0502020204030204" pitchFamily="34" charset="0"/>
              </a:rPr>
              <a:pPr eaLnBrk="1" hangingPunct="1"/>
              <a:t>26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4169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8D0A60-62C8-46C1-B813-DBA47F7A3891}" type="slidenum">
              <a:rPr lang="en-US" altLang="en-US"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1162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206FEF9-F01F-4614-85B8-D31CC7733327}" type="slidenum">
              <a:rPr lang="en-US" altLang="en-US">
                <a:latin typeface="Calibri" panose="020F0502020204030204" pitchFamily="34" charset="0"/>
              </a:rPr>
              <a:pPr eaLnBrk="1" hangingPunct="1"/>
              <a:t>30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4029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2DC478-D8FE-4AD8-B0C0-B7CCE8F0A8F5}" type="slidenum">
              <a:rPr lang="en-US" altLang="en-US">
                <a:latin typeface="Calibri" panose="020F0502020204030204" pitchFamily="34" charset="0"/>
              </a:rPr>
              <a:pPr eaLnBrk="1" hangingPunct="1"/>
              <a:t>31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4086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9D31C6-C933-4507-801D-C97CBE093C2B}" type="slidenum">
              <a:rPr lang="en-US" altLang="en-US">
                <a:latin typeface="Calibri" panose="020F0502020204030204" pitchFamily="34" charset="0"/>
              </a:rPr>
              <a:pPr eaLnBrk="1" hangingPunct="1"/>
              <a:t>32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49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BC353-C127-4AE9-9448-8EF01B062CCE}" type="datetime1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DB6B35-DB45-407E-83AE-8A6952DA0E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483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78153-3532-4859-BF0B-484F228184B7}" type="datetime1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4BB57-E972-46EA-8BDD-B8A3423301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358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A50CE8-AE25-4E7D-A68F-027C8FF7F36E}" type="datetime1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E2D870-6DAB-40AA-89E8-DB8FFE412B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15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02C54-BE27-4C98-8F01-EABDDC2B3B1D}" type="datetime1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A46F0-28FE-4DA3-AF5F-BBA72CE50C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8751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FC737-9920-4ECD-88FC-12F906F6AADE}" type="datetime1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AF88B7-8FCB-49FC-89EB-2CC274AA26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5940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E17FB-07A6-4675-A667-FD06A9E10316}" type="datetime1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A7D044-5379-4BFB-B07D-E0FE4CA598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213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C9B81-FF86-4183-B842-8E00E5089AE4}" type="datetime1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211CDF-AAF1-4D1C-9386-43202073F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738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CE3684-8E66-4EBB-8F20-D146BBA26952}" type="datetime1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976839-5D94-47E4-98C0-1DC89BA8CD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035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D66FD-1205-437C-B13A-DC9D9E059078}" type="datetime1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33D975-3961-4DC3-AC67-04F7DD560E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612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60559-27FC-4542-A1E8-E978D7471B62}" type="datetime1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68581F-8507-48A6-8646-C0554773AC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0278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7C24E8-B8F2-47B8-ABEC-B8B7AB9FAAB8}" type="datetime1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77E190-73D8-43DC-9E13-101379C26E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5583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FBD81FC-5C2B-402A-B7B8-72569E51CAF0}" type="datetime1">
              <a:rPr lang="en-US"/>
              <a:pPr>
                <a:defRPr/>
              </a:pPr>
              <a:t>4/6/2016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2DB01CB2-B697-4156-B0B8-29C0719476F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file:///C:\JAVA7API\docs\api\java\io\DataOutputStream.html#writeByte%28int%29" TargetMode="External"/><Relationship Id="rId13" Type="http://schemas.openxmlformats.org/officeDocument/2006/relationships/hyperlink" Target="file:///C:\JAVA7API\docs\api\java\io\DataOutputStream.html#writeDouble%28double%29" TargetMode="External"/><Relationship Id="rId18" Type="http://schemas.openxmlformats.org/officeDocument/2006/relationships/hyperlink" Target="file:///C:\JAVA7API\docs\api\java\io\DataOutputStream.html#writeUTF%28java.lang.String%29" TargetMode="External"/><Relationship Id="rId3" Type="http://schemas.openxmlformats.org/officeDocument/2006/relationships/hyperlink" Target="file:///C:\JAVA7API\docs\api\java\io\DataOutputStream.html#flush%28%29" TargetMode="External"/><Relationship Id="rId7" Type="http://schemas.openxmlformats.org/officeDocument/2006/relationships/hyperlink" Target="file:///C:\JAVA7API\docs\api\java\io\DataOutputStream.html#writeBoolean%28boolean%29" TargetMode="External"/><Relationship Id="rId12" Type="http://schemas.openxmlformats.org/officeDocument/2006/relationships/hyperlink" Target="file:///C:\JAVA7API\docs\api\java\io\DataOutputStream.html#writeChars%28java.lang.String%29" TargetMode="External"/><Relationship Id="rId17" Type="http://schemas.openxmlformats.org/officeDocument/2006/relationships/hyperlink" Target="file:///C:\JAVA7API\docs\api\java\io\DataOutputStream.html#writeShort%28int%29" TargetMode="External"/><Relationship Id="rId2" Type="http://schemas.openxmlformats.org/officeDocument/2006/relationships/notesSlide" Target="../notesSlides/notesSlide8.xml"/><Relationship Id="rId16" Type="http://schemas.openxmlformats.org/officeDocument/2006/relationships/hyperlink" Target="file:///C:\JAVA7API\docs\api\java\io\DataOutputStream.html#writeLong%28long%2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C:\JAVA7API\docs\api\java\io\DataOutputStream.html#write%28int%29" TargetMode="External"/><Relationship Id="rId11" Type="http://schemas.openxmlformats.org/officeDocument/2006/relationships/hyperlink" Target="file:///C:\JAVA7API\docs\api\java\io\DataOutputStream.html#writeChar%28int%29" TargetMode="External"/><Relationship Id="rId5" Type="http://schemas.openxmlformats.org/officeDocument/2006/relationships/hyperlink" Target="file:///C:\JAVA7API\docs\api\java\io\DataOutputStream.html#write%28byte[],%20int,%20int%29" TargetMode="External"/><Relationship Id="rId15" Type="http://schemas.openxmlformats.org/officeDocument/2006/relationships/hyperlink" Target="file:///C:\JAVA7API\docs\api\java\io\DataOutputStream.html#writeInt%28int%29" TargetMode="External"/><Relationship Id="rId10" Type="http://schemas.openxmlformats.org/officeDocument/2006/relationships/hyperlink" Target="file:///C:\JAVA7API\docs\api\java\lang\String.html" TargetMode="External"/><Relationship Id="rId19" Type="http://schemas.openxmlformats.org/officeDocument/2006/relationships/hyperlink" Target="file:///C:\JAVA7API\docs\api\java\io\DataInput.html#modified-utf-8" TargetMode="External"/><Relationship Id="rId4" Type="http://schemas.openxmlformats.org/officeDocument/2006/relationships/hyperlink" Target="file:///C:\JAVA7API\docs\api\java\io\DataOutputStream.html#size%28%29" TargetMode="External"/><Relationship Id="rId9" Type="http://schemas.openxmlformats.org/officeDocument/2006/relationships/hyperlink" Target="file:///C:\JAVA7API\docs\api\java\io\DataOutputStream.html#writeBytes%28java.lang.String%29" TargetMode="External"/><Relationship Id="rId14" Type="http://schemas.openxmlformats.org/officeDocument/2006/relationships/hyperlink" Target="file:///C:\JAVA7API\docs\api\java\io\DataOutputStream.html#writeFloat%28float%29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file:///C:\JAVA7API\docs\api\java\io\DataInputStream.html#readDouble%28%29" TargetMode="External"/><Relationship Id="rId3" Type="http://schemas.openxmlformats.org/officeDocument/2006/relationships/hyperlink" Target="file:///C:\JAVA7API\docs\api\java\io\DataInputStream.html#read%28byte[]%29" TargetMode="External"/><Relationship Id="rId7" Type="http://schemas.openxmlformats.org/officeDocument/2006/relationships/hyperlink" Target="file:///C:\JAVA7API\docs\api\java\io\DataInputStream.html#readChar%28%29" TargetMode="External"/><Relationship Id="rId12" Type="http://schemas.openxmlformats.org/officeDocument/2006/relationships/hyperlink" Target="file:///C:\JAVA7API\docs\api\java\io\DataInputStream.html#readInt%28%29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C:\JAVA7API\docs\api\java\io\DataInputStream.html#readByte%28%29" TargetMode="External"/><Relationship Id="rId11" Type="http://schemas.openxmlformats.org/officeDocument/2006/relationships/hyperlink" Target="file:///C:\JAVA7API\docs\api\java\io\DataInputStream.html#readFully%28byte[],%20int,%20int%29" TargetMode="External"/><Relationship Id="rId5" Type="http://schemas.openxmlformats.org/officeDocument/2006/relationships/hyperlink" Target="file:///C:\JAVA7API\docs\api\java\io\DataInputStream.html#readBoolean%28%29" TargetMode="External"/><Relationship Id="rId10" Type="http://schemas.openxmlformats.org/officeDocument/2006/relationships/hyperlink" Target="file:///C:\JAVA7API\docs\api\java\io\DataInputStream.html#readFully%28byte[]%29" TargetMode="External"/><Relationship Id="rId4" Type="http://schemas.openxmlformats.org/officeDocument/2006/relationships/hyperlink" Target="file:///C:\JAVA7API\docs\api\java\io\DataInputStream.html#read%28byte[],%20int,%20int%29" TargetMode="External"/><Relationship Id="rId9" Type="http://schemas.openxmlformats.org/officeDocument/2006/relationships/hyperlink" Target="file:///C:\JAVA7API\docs\api\java\io\DataInputStream.html#readFloat%28%29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CS 116</a:t>
            </a:r>
            <a:br>
              <a:rPr lang="en-US" dirty="0" smtClean="0"/>
            </a:br>
            <a:r>
              <a:rPr lang="en-US" dirty="0" smtClean="0"/>
              <a:t>Object Oriented Programming 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12</a:t>
            </a:r>
            <a:endParaRPr lang="en-US" dirty="0"/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183662" y="6019800"/>
            <a:ext cx="8960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u="sng" dirty="0" smtClean="0">
                <a:latin typeface="Calibri" panose="020F0502020204030204" pitchFamily="34" charset="0"/>
              </a:rPr>
              <a:t>Acknowledgement: Contains materials provided by George </a:t>
            </a:r>
            <a:r>
              <a:rPr lang="en-US" altLang="en-US" b="1" u="sng" dirty="0" err="1" smtClean="0">
                <a:latin typeface="Calibri" panose="020F0502020204030204" pitchFamily="34" charset="0"/>
              </a:rPr>
              <a:t>Koutsogiannakis</a:t>
            </a:r>
            <a:r>
              <a:rPr lang="en-US" altLang="en-US" b="1" u="sng" dirty="0" smtClean="0">
                <a:latin typeface="Calibri" panose="020F0502020204030204" pitchFamily="34" charset="0"/>
              </a:rPr>
              <a:t> and Matt Bauer</a:t>
            </a:r>
            <a:endParaRPr lang="en-US" altLang="en-US" b="1" u="sng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19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Topics</a:t>
            </a:r>
            <a:endParaRPr lang="en-US" altLang="en-US" dirty="0" smtClean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Read and Write to Binary File</a:t>
            </a:r>
          </a:p>
          <a:p>
            <a:pPr eaLnBrk="1" hangingPunct="1"/>
            <a:r>
              <a:rPr lang="en-US" altLang="en-US" dirty="0" smtClean="0"/>
              <a:t>Writing </a:t>
            </a:r>
            <a:r>
              <a:rPr lang="en-US" altLang="en-US" dirty="0" smtClean="0"/>
              <a:t>objects into a File.</a:t>
            </a:r>
          </a:p>
          <a:p>
            <a:pPr eaLnBrk="1" hangingPunct="1"/>
            <a:r>
              <a:rPr lang="en-US" altLang="en-US" dirty="0" smtClean="0"/>
              <a:t>Reading objects from a File</a:t>
            </a:r>
            <a:r>
              <a:rPr lang="en-US" altLang="en-US" dirty="0" smtClean="0"/>
              <a:t>.</a:t>
            </a:r>
          </a:p>
          <a:p>
            <a:pPr eaLnBrk="1" hangingPunct="1"/>
            <a:r>
              <a:rPr lang="en-US" altLang="en-US" dirty="0" smtClean="0"/>
              <a:t>Text book chapter 11 (pg. 782-795)</a:t>
            </a:r>
            <a:endParaRPr lang="en-US" altLang="en-US" dirty="0" smtClean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23968F2-8D1F-4A9E-8E23-D11361C4F7EF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Binary Coded Files.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57200" y="1412558"/>
            <a:ext cx="8229600" cy="3845241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 file stored in binary format. A binary file is computer -readable but not human-readable.</a:t>
            </a:r>
          </a:p>
          <a:p>
            <a:pPr eaLnBrk="1" hangingPunct="1"/>
            <a:r>
              <a:rPr lang="en-US" altLang="en-US" dirty="0" smtClean="0"/>
              <a:t>All executable programs are stored in binary files, as are most numeric data files.</a:t>
            </a:r>
          </a:p>
          <a:p>
            <a:pPr lvl="1" eaLnBrk="1" hangingPunct="1"/>
            <a:r>
              <a:rPr lang="en-US" altLang="en-US" dirty="0" smtClean="0"/>
              <a:t>In contrast, text files are stored in a form (usually ASCII) that is human-readable. </a:t>
            </a:r>
          </a:p>
          <a:p>
            <a:pPr lvl="1" eaLnBrk="1" hangingPunct="1"/>
            <a:r>
              <a:rPr lang="en-US" altLang="en-US" dirty="0" smtClean="0"/>
              <a:t>Text files are also binary files (1s and 0s) using ASCII codes</a:t>
            </a:r>
          </a:p>
          <a:p>
            <a:pPr lvl="1" eaLnBrk="1" hangingPunct="1"/>
            <a:r>
              <a:rPr lang="en-US" dirty="0"/>
              <a:t>128 different ASCII codes</a:t>
            </a:r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507BED8-5F8E-4D4D-AD85-D4D2F8B9441F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985670"/>
              </p:ext>
            </p:extLst>
          </p:nvPr>
        </p:nvGraphicFramePr>
        <p:xfrm>
          <a:off x="685800" y="6043930"/>
          <a:ext cx="8229600" cy="624840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ASCII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'c'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'a'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't'</a:t>
                      </a:r>
                    </a:p>
                  </a:txBody>
                  <a:tcPr marL="19050" marR="19050" marT="19050" marB="1905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0110   0011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0110   0001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0111   1000</a:t>
                      </a:r>
                    </a:p>
                  </a:txBody>
                  <a:tcPr marL="19050" marR="19050" marT="19050" marB="190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673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Binary Coded Files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Every primitive data type can be converted into a binary coded version of the data type.</a:t>
            </a:r>
          </a:p>
          <a:p>
            <a:pPr eaLnBrk="1" hangingPunct="1"/>
            <a:r>
              <a:rPr lang="en-US" altLang="en-US" smtClean="0"/>
              <a:t>The java.io package has classes with methods that allow us to convert each data type to its binary coded version and write it (or read it from) in a file. </a:t>
            </a:r>
          </a:p>
          <a:p>
            <a:pPr eaLnBrk="1" hangingPunct="1"/>
            <a:r>
              <a:rPr lang="en-US" altLang="en-US" smtClean="0"/>
              <a:t>This technique can be used when structured data is to be recorded in a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63C549B-17D2-4F95-835F-C667B8178C3F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078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Binary Coded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Let us look at the example of structured data of records from lecture 11 again:</a:t>
            </a:r>
          </a:p>
          <a:p>
            <a:pPr>
              <a:defRPr/>
            </a:pPr>
            <a:r>
              <a:rPr lang="en-US" dirty="0" smtClean="0"/>
              <a:t> </a:t>
            </a:r>
            <a:r>
              <a:rPr lang="en-US" sz="1800" dirty="0"/>
              <a:t>A</a:t>
            </a:r>
            <a:r>
              <a:rPr lang="en-US" sz="1800" dirty="0">
                <a:cs typeface="Times New Roman" charset="0"/>
              </a:rPr>
              <a:t>n airline company could store data in a file where each line represents a flight segment containing the following data: </a:t>
            </a:r>
          </a:p>
          <a:p>
            <a:pPr lvl="1">
              <a:defRPr/>
            </a:pPr>
            <a:r>
              <a:rPr lang="en-US" dirty="0"/>
              <a:t>flight number</a:t>
            </a:r>
          </a:p>
          <a:p>
            <a:pPr lvl="1">
              <a:defRPr/>
            </a:pPr>
            <a:r>
              <a:rPr lang="en-US" dirty="0"/>
              <a:t>origin airport</a:t>
            </a:r>
          </a:p>
          <a:p>
            <a:pPr lvl="1">
              <a:defRPr/>
            </a:pPr>
            <a:r>
              <a:rPr lang="en-US" dirty="0"/>
              <a:t>destination airport</a:t>
            </a:r>
          </a:p>
          <a:p>
            <a:pPr lvl="1">
              <a:defRPr/>
            </a:pPr>
            <a:r>
              <a:rPr lang="en-US" dirty="0"/>
              <a:t>number of passengers</a:t>
            </a:r>
          </a:p>
          <a:p>
            <a:pPr lvl="1">
              <a:defRPr/>
            </a:pPr>
            <a:r>
              <a:rPr lang="en-US" dirty="0"/>
              <a:t>average ticket price</a:t>
            </a:r>
            <a:r>
              <a:rPr lang="en-US" dirty="0">
                <a:cs typeface="Times New Roman" charset="0"/>
              </a:rPr>
              <a:t> </a:t>
            </a:r>
          </a:p>
          <a:p>
            <a:pPr>
              <a:defRPr/>
            </a:pPr>
            <a:r>
              <a:rPr lang="en-US" sz="1800" dirty="0">
                <a:cs typeface="Times New Roman" charset="0"/>
              </a:rPr>
              <a:t>These are called headers or field names of the record.</a:t>
            </a:r>
          </a:p>
          <a:p>
            <a:pPr>
              <a:defRPr/>
            </a:pPr>
            <a:r>
              <a:rPr lang="en-US" sz="1800" dirty="0">
                <a:cs typeface="Times New Roman" charset="0"/>
              </a:rPr>
              <a:t>Such a file could contain the following data</a:t>
            </a:r>
            <a:r>
              <a:rPr lang="en-US" dirty="0">
                <a:cs typeface="Times New Roman" charset="0"/>
              </a:rPr>
              <a:t>:</a:t>
            </a:r>
          </a:p>
          <a:p>
            <a:pPr>
              <a:buNone/>
              <a:defRPr/>
            </a:pPr>
            <a:r>
              <a:rPr lang="en-US" sz="1500" dirty="0">
                <a:latin typeface="Courier New" pitchFamily="49" charset="0"/>
                <a:cs typeface="Times New Roman" charset="0"/>
              </a:rPr>
              <a:t>   AA123,BWI,SFO,235,239.5</a:t>
            </a:r>
          </a:p>
          <a:p>
            <a:pPr>
              <a:buNone/>
              <a:defRPr/>
            </a:pPr>
            <a:r>
              <a:rPr lang="en-US" sz="1500" dirty="0">
                <a:latin typeface="Courier New" pitchFamily="49" charset="0"/>
                <a:cs typeface="Times New Roman" charset="0"/>
              </a:rPr>
              <a:t>   AA200,BOS,JFK,150,89.3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791FC30-4C9B-4B97-9D2E-49B332BA5210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615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Binary Coded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>
              <a:defRPr/>
            </a:pPr>
            <a:r>
              <a:rPr lang="en-US" dirty="0" smtClean="0"/>
              <a:t>The airline wants to save the records in a secured (coded) file. </a:t>
            </a:r>
          </a:p>
          <a:p>
            <a:pPr>
              <a:defRPr/>
            </a:pPr>
            <a:r>
              <a:rPr lang="en-US" dirty="0" smtClean="0"/>
              <a:t>The records will have to be written into  binary coded file using the proper streams.</a:t>
            </a:r>
          </a:p>
          <a:p>
            <a:pPr>
              <a:defRPr/>
            </a:pPr>
            <a:r>
              <a:rPr lang="en-US" dirty="0" smtClean="0"/>
              <a:t>Each field of each record will need to be binary coded and written into the file.</a:t>
            </a:r>
          </a:p>
          <a:p>
            <a:pPr>
              <a:defRPr/>
            </a:pPr>
            <a:r>
              <a:rPr lang="en-US" dirty="0" smtClean="0"/>
              <a:t>The file will be read back by a program which uses the proper read streams that convert the binary coded data back to its original data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F71C24C-E41B-4486-A61B-AD33A1C2F3BE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902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-26581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Binary Coded data. 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To convert data type to their binary coded versions we use two classes out of the java.io </a:t>
            </a:r>
            <a:r>
              <a:rPr lang="en-US" altLang="en-US" dirty="0" smtClean="0"/>
              <a:t>package</a:t>
            </a:r>
            <a:r>
              <a:rPr lang="en-US" altLang="en-US" dirty="0"/>
              <a:t>:</a:t>
            </a:r>
          </a:p>
          <a:p>
            <a:pPr marL="728663" lvl="1" indent="-385763">
              <a:buFont typeface="Calibri" panose="020F0502020204030204" pitchFamily="34" charset="0"/>
              <a:buAutoNum type="arabicPeriod"/>
            </a:pPr>
            <a:r>
              <a:rPr lang="en-US" altLang="en-US" dirty="0"/>
              <a:t>A File object  whose constructor takes as argument the name of the file to be created. </a:t>
            </a:r>
          </a:p>
          <a:p>
            <a:pPr lvl="2" eaLnBrk="1" hangingPunct="1"/>
            <a:r>
              <a:rPr lang="en-US" altLang="en-US" dirty="0"/>
              <a:t>The extension is usually .</a:t>
            </a:r>
            <a:r>
              <a:rPr lang="en-US" altLang="en-US" dirty="0" err="1"/>
              <a:t>dat</a:t>
            </a:r>
            <a:endParaRPr lang="en-US" altLang="en-US" dirty="0"/>
          </a:p>
          <a:p>
            <a:pPr marL="728663" lvl="1" indent="-385763">
              <a:buFont typeface="Calibri" panose="020F0502020204030204" pitchFamily="34" charset="0"/>
              <a:buAutoNum type="arabicPeriod"/>
            </a:pPr>
            <a:r>
              <a:rPr lang="en-US" altLang="en-US" dirty="0"/>
              <a:t>An object of the </a:t>
            </a:r>
            <a:r>
              <a:rPr lang="en-US" altLang="en-US" dirty="0" err="1"/>
              <a:t>FileOutputStream</a:t>
            </a:r>
            <a:r>
              <a:rPr lang="en-US" altLang="en-US" dirty="0"/>
              <a:t> class whose constructor takes as argument the File object created above in step 1.</a:t>
            </a:r>
          </a:p>
          <a:p>
            <a:pPr marL="728663" lvl="1" indent="-385763">
              <a:buFont typeface="Calibri" panose="020F0502020204030204" pitchFamily="34" charset="0"/>
              <a:buAutoNum type="arabicPeriod"/>
            </a:pPr>
            <a:r>
              <a:rPr lang="en-US" altLang="en-US" dirty="0"/>
              <a:t>An object of the class </a:t>
            </a:r>
            <a:r>
              <a:rPr lang="en-US" altLang="en-US" dirty="0" err="1"/>
              <a:t>DataOutputStream</a:t>
            </a:r>
            <a:r>
              <a:rPr lang="en-US" altLang="en-US" dirty="0"/>
              <a:t> whose constructor takes as argument the </a:t>
            </a:r>
            <a:r>
              <a:rPr lang="en-US" altLang="en-US" dirty="0" err="1"/>
              <a:t>FileOutputObject</a:t>
            </a:r>
            <a:r>
              <a:rPr lang="en-US" altLang="en-US" dirty="0"/>
              <a:t> created in step 2.</a:t>
            </a:r>
          </a:p>
          <a:p>
            <a:pPr marL="728663" lvl="1" indent="-385763">
              <a:buFont typeface="Calibri" panose="020F0502020204030204" pitchFamily="34" charset="0"/>
              <a:buAutoNum type="arabicPeriod"/>
            </a:pPr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9574E27-0BCF-4723-95D2-81F2D3E84346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045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Binary Coded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>
              <a:defRPr/>
            </a:pPr>
            <a:r>
              <a:rPr lang="en-US" dirty="0" smtClean="0"/>
              <a:t>The class </a:t>
            </a:r>
            <a:r>
              <a:rPr lang="en-US" dirty="0" err="1" smtClean="0"/>
              <a:t>DataOutputStream</a:t>
            </a:r>
            <a:r>
              <a:rPr lang="en-US" dirty="0" smtClean="0"/>
              <a:t> has a number of write methods.</a:t>
            </a:r>
          </a:p>
          <a:p>
            <a:pPr>
              <a:defRPr/>
            </a:pPr>
            <a:r>
              <a:rPr lang="en-US" dirty="0" smtClean="0"/>
              <a:t> Actually one write method for each primitive data type.</a:t>
            </a:r>
          </a:p>
          <a:p>
            <a:pPr>
              <a:defRPr/>
            </a:pPr>
            <a:r>
              <a:rPr lang="en-US" dirty="0" smtClean="0"/>
              <a:t>There are also other write methods that allow you to write an array of bytes types.</a:t>
            </a:r>
          </a:p>
          <a:p>
            <a:pPr>
              <a:defRPr/>
            </a:pPr>
            <a:r>
              <a:rPr lang="en-US" dirty="0" smtClean="0"/>
              <a:t>You will invoke the proper write method and pass it the primitive data type that you want to convert and write into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9F278A3-C575-47E7-9FD9-E65BECD7EBC9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157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DataOutputStream Class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b="1" dirty="0" smtClean="0">
                <a:hlinkClick r:id="rId3" action="ppaction://hlinkfile"/>
              </a:rPr>
              <a:t>void  flush</a:t>
            </a:r>
            <a:r>
              <a:rPr lang="en-US" dirty="0" smtClean="0"/>
              <a:t>() Flushes this data output stream.</a:t>
            </a:r>
          </a:p>
          <a:p>
            <a:pPr>
              <a:defRPr/>
            </a:pPr>
            <a:r>
              <a:rPr lang="en-US" dirty="0" err="1" smtClean="0"/>
              <a:t>int</a:t>
            </a:r>
            <a:r>
              <a:rPr lang="en-US" dirty="0" smtClean="0"/>
              <a:t>  </a:t>
            </a:r>
            <a:r>
              <a:rPr lang="en-US" b="1" dirty="0" smtClean="0">
                <a:hlinkClick r:id="rId4" action="ppaction://hlinkfile"/>
              </a:rPr>
              <a:t>size</a:t>
            </a:r>
            <a:r>
              <a:rPr lang="en-US" dirty="0" smtClean="0"/>
              <a:t>() Returns the current value of the counter written, the number of bytes written to this data output stream so far.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smtClean="0">
                <a:hlinkClick r:id="rId5" action="ppaction://hlinkfile"/>
              </a:rPr>
              <a:t>write</a:t>
            </a:r>
            <a:r>
              <a:rPr lang="en-US" dirty="0" smtClean="0"/>
              <a:t>(byte[] b, </a:t>
            </a:r>
            <a:r>
              <a:rPr lang="en-US" dirty="0" err="1" smtClean="0"/>
              <a:t>int</a:t>
            </a:r>
            <a:r>
              <a:rPr lang="en-US" dirty="0" smtClean="0"/>
              <a:t> off, </a:t>
            </a:r>
            <a:r>
              <a:rPr lang="en-US" dirty="0" err="1" smtClean="0"/>
              <a:t>int</a:t>
            </a:r>
            <a:r>
              <a:rPr lang="en-US" dirty="0" smtClean="0"/>
              <a:t> </a:t>
            </a:r>
            <a:r>
              <a:rPr lang="en-US" dirty="0" err="1" smtClean="0"/>
              <a:t>len</a:t>
            </a:r>
            <a:r>
              <a:rPr lang="en-US" dirty="0" smtClean="0"/>
              <a:t>) Writes </a:t>
            </a:r>
            <a:r>
              <a:rPr lang="en-US" dirty="0" err="1" smtClean="0"/>
              <a:t>len</a:t>
            </a:r>
            <a:r>
              <a:rPr lang="en-US" dirty="0" smtClean="0"/>
              <a:t> bytes from the specified byte array starting at offset off to the underlying output stream.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smtClean="0">
                <a:hlinkClick r:id="rId6" action="ppaction://hlinkfile"/>
              </a:rPr>
              <a:t>write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 b) Writes the specified byte (the low eight bits of the argument b) to the underlying output stream.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err="1" smtClean="0">
                <a:hlinkClick r:id="rId7" action="ppaction://hlinkfile"/>
              </a:rPr>
              <a:t>writeBoolean</a:t>
            </a:r>
            <a:r>
              <a:rPr lang="en-US" dirty="0" smtClean="0"/>
              <a:t>(</a:t>
            </a:r>
            <a:r>
              <a:rPr lang="en-US" dirty="0" err="1" smtClean="0"/>
              <a:t>boolean</a:t>
            </a:r>
            <a:r>
              <a:rPr lang="en-US" dirty="0" smtClean="0"/>
              <a:t> v) Writes a </a:t>
            </a:r>
            <a:r>
              <a:rPr lang="en-US" dirty="0" err="1" smtClean="0"/>
              <a:t>boolean</a:t>
            </a:r>
            <a:r>
              <a:rPr lang="en-US" dirty="0" smtClean="0"/>
              <a:t> to the underlying output stream as a 1-byte value.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err="1" smtClean="0">
                <a:hlinkClick r:id="rId8" action="ppaction://hlinkfile"/>
              </a:rPr>
              <a:t>writeByte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 v) Writes out a byte to the underlying output stream as a 1-byte value.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err="1" smtClean="0">
                <a:hlinkClick r:id="rId9" action="ppaction://hlinkfile"/>
              </a:rPr>
              <a:t>writeBytes</a:t>
            </a:r>
            <a:r>
              <a:rPr lang="en-US" dirty="0" smtClean="0"/>
              <a:t>(</a:t>
            </a:r>
            <a:r>
              <a:rPr lang="en-US" dirty="0" smtClean="0">
                <a:hlinkClick r:id="rId10" action="ppaction://hlinkfile" tooltip="class in java.lang"/>
              </a:rPr>
              <a:t>String</a:t>
            </a:r>
            <a:r>
              <a:rPr lang="en-US" dirty="0" smtClean="0"/>
              <a:t> s) Writes out the string to the underlying output stream as a sequence of bytes.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err="1" smtClean="0">
                <a:hlinkClick r:id="rId11" action="ppaction://hlinkfile"/>
              </a:rPr>
              <a:t>writeChar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 v) Writes a char to the underlying output stream as a 2-byte value, high byte first.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err="1" smtClean="0">
                <a:hlinkClick r:id="rId12" action="ppaction://hlinkfile"/>
              </a:rPr>
              <a:t>writeChars</a:t>
            </a:r>
            <a:r>
              <a:rPr lang="en-US" dirty="0" smtClean="0"/>
              <a:t>(</a:t>
            </a:r>
            <a:r>
              <a:rPr lang="en-US" dirty="0" smtClean="0">
                <a:hlinkClick r:id="rId10" action="ppaction://hlinkfile" tooltip="class in java.lang"/>
              </a:rPr>
              <a:t>String</a:t>
            </a:r>
            <a:r>
              <a:rPr lang="en-US" dirty="0" smtClean="0"/>
              <a:t> s) Writes a string to the underlying output stream as a sequence of characters.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err="1" smtClean="0">
                <a:hlinkClick r:id="rId13" action="ppaction://hlinkfile"/>
              </a:rPr>
              <a:t>writeDouble</a:t>
            </a:r>
            <a:r>
              <a:rPr lang="en-US" dirty="0" smtClean="0"/>
              <a:t>(double v) Converts the double argument to a long using the </a:t>
            </a:r>
            <a:r>
              <a:rPr lang="en-US" dirty="0" err="1" smtClean="0"/>
              <a:t>doubleToLongBits</a:t>
            </a:r>
            <a:r>
              <a:rPr lang="en-US" dirty="0" smtClean="0"/>
              <a:t> method in class Double, and then writes that long value to the underlying output stream as an 8-byte quantity, high byte first.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err="1" smtClean="0">
                <a:hlinkClick r:id="rId14" action="ppaction://hlinkfile"/>
              </a:rPr>
              <a:t>writeFloat</a:t>
            </a:r>
            <a:r>
              <a:rPr lang="en-US" dirty="0" smtClean="0"/>
              <a:t>(float v) Converts the float argument to an </a:t>
            </a:r>
            <a:r>
              <a:rPr lang="en-US" dirty="0" err="1" smtClean="0"/>
              <a:t>int</a:t>
            </a:r>
            <a:r>
              <a:rPr lang="en-US" dirty="0" smtClean="0"/>
              <a:t> using the </a:t>
            </a:r>
            <a:r>
              <a:rPr lang="en-US" dirty="0" err="1" smtClean="0"/>
              <a:t>floatToIntBits</a:t>
            </a:r>
            <a:r>
              <a:rPr lang="en-US" dirty="0" smtClean="0"/>
              <a:t> method in class Float, and then writes that </a:t>
            </a:r>
            <a:r>
              <a:rPr lang="en-US" dirty="0" err="1" smtClean="0"/>
              <a:t>int</a:t>
            </a:r>
            <a:r>
              <a:rPr lang="en-US" dirty="0" smtClean="0"/>
              <a:t> value to the underlying output stream as a 4-byte quantity, high byte first.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err="1" smtClean="0">
                <a:hlinkClick r:id="rId15" action="ppaction://hlinkfile"/>
              </a:rPr>
              <a:t>writeInt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 v) Writes an </a:t>
            </a:r>
            <a:r>
              <a:rPr lang="en-US" dirty="0" err="1" smtClean="0"/>
              <a:t>int</a:t>
            </a:r>
            <a:r>
              <a:rPr lang="en-US" dirty="0" smtClean="0"/>
              <a:t> to the underlying output stream as four bytes, high byte first.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err="1" smtClean="0">
                <a:hlinkClick r:id="rId16" action="ppaction://hlinkfile"/>
              </a:rPr>
              <a:t>writeLong</a:t>
            </a:r>
            <a:r>
              <a:rPr lang="en-US" dirty="0" smtClean="0"/>
              <a:t>(long v) Writes a long to the underlying output stream as eight bytes, high byte first.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err="1" smtClean="0">
                <a:hlinkClick r:id="rId17" action="ppaction://hlinkfile"/>
              </a:rPr>
              <a:t>writeShort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 v) Writes a short to the underlying output stream as two bytes, high byte first.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err="1" smtClean="0">
                <a:hlinkClick r:id="rId18" action="ppaction://hlinkfile"/>
              </a:rPr>
              <a:t>writeUTF</a:t>
            </a:r>
            <a:r>
              <a:rPr lang="en-US" dirty="0" smtClean="0"/>
              <a:t>(</a:t>
            </a:r>
            <a:r>
              <a:rPr lang="en-US" dirty="0" smtClean="0">
                <a:hlinkClick r:id="rId10" action="ppaction://hlinkfile" tooltip="class in java.lang"/>
              </a:rPr>
              <a:t>String</a:t>
            </a:r>
            <a:r>
              <a:rPr lang="en-US" dirty="0" smtClean="0"/>
              <a:t> </a:t>
            </a:r>
            <a:r>
              <a:rPr lang="en-US" dirty="0" err="1" smtClean="0"/>
              <a:t>str</a:t>
            </a:r>
            <a:r>
              <a:rPr lang="en-US" dirty="0" smtClean="0"/>
              <a:t>) Writes a string to the underlying output stream using </a:t>
            </a:r>
            <a:r>
              <a:rPr lang="en-US" dirty="0" smtClean="0">
                <a:hlinkClick r:id="rId19" action="ppaction://hlinkfile"/>
              </a:rPr>
              <a:t>modified UTF-8</a:t>
            </a:r>
            <a:r>
              <a:rPr lang="en-US" dirty="0" smtClean="0"/>
              <a:t> encoding in a machine-independent manner.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508A937-DA63-460C-8A94-615E8ADE3657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3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Reading Binary Coded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/>
              <a:t>To read binary coded data from a binary coded file use assuming that the name of the file is numerical.dat:</a:t>
            </a:r>
          </a:p>
          <a:p>
            <a:pPr marL="385763" indent="-385763">
              <a:buFont typeface="+mj-lt"/>
              <a:buAutoNum type="arabicPeriod"/>
              <a:defRPr/>
            </a:pPr>
            <a:r>
              <a:rPr lang="en-US" dirty="0" smtClean="0"/>
              <a:t>File </a:t>
            </a:r>
            <a:r>
              <a:rPr lang="en-US" dirty="0" err="1" smtClean="0"/>
              <a:t>file</a:t>
            </a:r>
            <a:r>
              <a:rPr lang="en-US" dirty="0" smtClean="0"/>
              <a:t> = new File ("numerical.dat");</a:t>
            </a:r>
          </a:p>
          <a:p>
            <a:pPr marL="385763" indent="-385763">
              <a:buFont typeface="+mj-lt"/>
              <a:buAutoNum type="arabicPeriod"/>
              <a:defRPr/>
            </a:pPr>
            <a:r>
              <a:rPr lang="en-US" dirty="0" smtClean="0"/>
              <a:t> </a:t>
            </a:r>
            <a:r>
              <a:rPr lang="en-US" dirty="0" err="1" smtClean="0"/>
              <a:t>FileInputStream</a:t>
            </a:r>
            <a:r>
              <a:rPr lang="en-US" dirty="0" smtClean="0"/>
              <a:t> </a:t>
            </a:r>
            <a:r>
              <a:rPr lang="en-US" dirty="0" err="1" smtClean="0"/>
              <a:t>file_input</a:t>
            </a:r>
            <a:r>
              <a:rPr lang="en-US" dirty="0" smtClean="0"/>
              <a:t> = new </a:t>
            </a:r>
            <a:r>
              <a:rPr lang="en-US" dirty="0" err="1" smtClean="0"/>
              <a:t>FileInputStream</a:t>
            </a:r>
            <a:r>
              <a:rPr lang="en-US" dirty="0" smtClean="0"/>
              <a:t> (file);</a:t>
            </a:r>
          </a:p>
          <a:p>
            <a:pPr marL="385763" indent="-385763">
              <a:buFont typeface="+mj-lt"/>
              <a:buAutoNum type="arabicPeriod"/>
              <a:defRPr/>
            </a:pPr>
            <a:r>
              <a:rPr lang="en-US" dirty="0" err="1" smtClean="0"/>
              <a:t>DataInputStream</a:t>
            </a:r>
            <a:r>
              <a:rPr lang="en-US" dirty="0" smtClean="0"/>
              <a:t> </a:t>
            </a:r>
            <a:r>
              <a:rPr lang="en-US" dirty="0" err="1" smtClean="0"/>
              <a:t>data_in</a:t>
            </a:r>
            <a:r>
              <a:rPr lang="en-US" dirty="0" smtClean="0"/>
              <a:t>    = new </a:t>
            </a:r>
            <a:r>
              <a:rPr lang="en-US" dirty="0" err="1" smtClean="0"/>
              <a:t>DataInputStream</a:t>
            </a:r>
            <a:r>
              <a:rPr lang="en-US" dirty="0" smtClean="0"/>
              <a:t> (</a:t>
            </a:r>
            <a:r>
              <a:rPr lang="en-US" dirty="0" err="1" smtClean="0"/>
              <a:t>file_input</a:t>
            </a:r>
            <a:r>
              <a:rPr lang="en-US" dirty="0" smtClean="0"/>
              <a:t> 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FF3499F-3E5F-4E73-81BC-83CE880F6DE5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086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DataInputStream class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The </a:t>
            </a:r>
            <a:r>
              <a:rPr lang="en-US" altLang="en-US" sz="2800" dirty="0" err="1"/>
              <a:t>DataInputStream</a:t>
            </a:r>
            <a:r>
              <a:rPr lang="en-US" altLang="en-US" sz="2800" dirty="0"/>
              <a:t> class has read methods</a:t>
            </a:r>
          </a:p>
          <a:p>
            <a:pPr eaLnBrk="1" hangingPunct="1"/>
            <a:r>
              <a:rPr lang="en-US" altLang="en-US" sz="2800" dirty="0"/>
              <a:t>A read method for each primitive data type.</a:t>
            </a:r>
          </a:p>
          <a:p>
            <a:pPr eaLnBrk="1" hangingPunct="1"/>
            <a:r>
              <a:rPr lang="en-US" altLang="en-US" sz="2800" dirty="0"/>
              <a:t>When you open a file for reading you need to keep reading the coded values until the EOF (end of file) symbol is </a:t>
            </a:r>
            <a:r>
              <a:rPr lang="en-US" altLang="en-US" sz="2800" dirty="0" err="1"/>
              <a:t>encoutered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/>
              <a:t>When the EOF is encountered by your program an end of file exception will be thrown.</a:t>
            </a:r>
          </a:p>
          <a:p>
            <a:pPr eaLnBrk="1" hangingPunct="1"/>
            <a:r>
              <a:rPr lang="en-US" altLang="en-US" sz="2800" dirty="0"/>
              <a:t>The catch will be used to stop the reading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3BEB824-4793-4856-A603-C774C2779DB9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719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 rtlCol="0">
            <a:normAutofit fontScale="70000" lnSpcReduction="20000"/>
          </a:bodyPr>
          <a:lstStyle/>
          <a:p>
            <a:pPr>
              <a:buNone/>
              <a:defRPr/>
            </a:pPr>
            <a:r>
              <a:rPr lang="en-US" sz="1875" dirty="0"/>
              <a:t>try</a:t>
            </a:r>
          </a:p>
          <a:p>
            <a:pPr>
              <a:buNone/>
              <a:defRPr/>
            </a:pPr>
            <a:r>
              <a:rPr lang="en-US" sz="1875" dirty="0"/>
              <a:t>{</a:t>
            </a:r>
          </a:p>
          <a:p>
            <a:pPr lvl="1">
              <a:buNone/>
              <a:defRPr/>
            </a:pPr>
            <a:r>
              <a:rPr lang="en-US" sz="1950" dirty="0"/>
              <a:t>     //create stream objects</a:t>
            </a:r>
          </a:p>
          <a:p>
            <a:pPr lvl="1">
              <a:buNone/>
              <a:defRPr/>
            </a:pPr>
            <a:r>
              <a:rPr lang="en-US" sz="1950" dirty="0"/>
              <a:t>      while (true) {</a:t>
            </a:r>
          </a:p>
          <a:p>
            <a:pPr lvl="1">
              <a:buNone/>
              <a:defRPr/>
            </a:pPr>
            <a:r>
              <a:rPr lang="en-US" sz="1950" dirty="0"/>
              <a:t>        try {</a:t>
            </a:r>
          </a:p>
          <a:p>
            <a:pPr lvl="1">
              <a:buNone/>
              <a:defRPr/>
            </a:pPr>
            <a:r>
              <a:rPr lang="en-US" sz="1950" dirty="0"/>
              <a:t>                  //read method(s)</a:t>
            </a:r>
          </a:p>
          <a:p>
            <a:pPr lvl="1">
              <a:buNone/>
              <a:defRPr/>
            </a:pPr>
            <a:r>
              <a:rPr lang="en-US" sz="1950" dirty="0"/>
              <a:t>                 //other code as needed</a:t>
            </a:r>
          </a:p>
          <a:p>
            <a:pPr lvl="1">
              <a:buNone/>
              <a:defRPr/>
            </a:pPr>
            <a:r>
              <a:rPr lang="en-US" sz="1950" dirty="0"/>
              <a:t>       }</a:t>
            </a:r>
          </a:p>
          <a:p>
            <a:pPr lvl="1">
              <a:buNone/>
              <a:defRPr/>
            </a:pPr>
            <a:r>
              <a:rPr lang="en-US" sz="1950" dirty="0"/>
              <a:t>       catch (</a:t>
            </a:r>
            <a:r>
              <a:rPr lang="en-US" sz="1950" dirty="0" err="1"/>
              <a:t>EOFException</a:t>
            </a:r>
            <a:r>
              <a:rPr lang="en-US" sz="1950" dirty="0"/>
              <a:t> </a:t>
            </a:r>
            <a:r>
              <a:rPr lang="en-US" sz="1950" dirty="0" err="1"/>
              <a:t>eof</a:t>
            </a:r>
            <a:r>
              <a:rPr lang="en-US" sz="1950" dirty="0"/>
              <a:t>) {</a:t>
            </a:r>
          </a:p>
          <a:p>
            <a:pPr lvl="1">
              <a:buNone/>
              <a:defRPr/>
            </a:pPr>
            <a:r>
              <a:rPr lang="en-US" sz="1950" dirty="0"/>
              <a:t>          </a:t>
            </a:r>
            <a:r>
              <a:rPr lang="en-US" sz="1950" dirty="0" err="1"/>
              <a:t>System.out.println</a:t>
            </a:r>
            <a:r>
              <a:rPr lang="en-US" sz="1950" dirty="0"/>
              <a:t> ("End of File");</a:t>
            </a:r>
          </a:p>
          <a:p>
            <a:pPr lvl="1">
              <a:buNone/>
              <a:defRPr/>
            </a:pPr>
            <a:r>
              <a:rPr lang="en-US" sz="1950" dirty="0"/>
              <a:t>          break;</a:t>
            </a:r>
          </a:p>
          <a:p>
            <a:pPr lvl="1">
              <a:buNone/>
              <a:defRPr/>
            </a:pPr>
            <a:r>
              <a:rPr lang="en-US" sz="1950" dirty="0"/>
              <a:t>        }</a:t>
            </a:r>
          </a:p>
          <a:p>
            <a:pPr lvl="1">
              <a:buNone/>
              <a:defRPr/>
            </a:pPr>
            <a:r>
              <a:rPr lang="en-US" sz="1950" dirty="0"/>
              <a:t>        // Print out the integer, double data pairs.</a:t>
            </a:r>
          </a:p>
          <a:p>
            <a:pPr lvl="1">
              <a:buNone/>
              <a:defRPr/>
            </a:pPr>
            <a:r>
              <a:rPr lang="en-US" sz="1950" dirty="0"/>
              <a:t>        </a:t>
            </a:r>
            <a:r>
              <a:rPr lang="en-US" sz="1950" dirty="0" err="1"/>
              <a:t>System.out.printf</a:t>
            </a:r>
            <a:r>
              <a:rPr lang="en-US" sz="1950" dirty="0"/>
              <a:t> ("%3d. Data = %8.3e %n", </a:t>
            </a:r>
            <a:r>
              <a:rPr lang="en-US" sz="1950" dirty="0" err="1"/>
              <a:t>i_data</a:t>
            </a:r>
            <a:r>
              <a:rPr lang="en-US" sz="1950" dirty="0"/>
              <a:t>, </a:t>
            </a:r>
            <a:r>
              <a:rPr lang="en-US" sz="1950" dirty="0" err="1"/>
              <a:t>d_data</a:t>
            </a:r>
            <a:r>
              <a:rPr lang="en-US" sz="1950" dirty="0"/>
              <a:t> );</a:t>
            </a:r>
          </a:p>
          <a:p>
            <a:pPr lvl="1">
              <a:buNone/>
              <a:defRPr/>
            </a:pPr>
            <a:r>
              <a:rPr lang="en-US" sz="1950" dirty="0"/>
              <a:t>      }  // end of while loop</a:t>
            </a:r>
          </a:p>
          <a:p>
            <a:pPr lvl="1">
              <a:buNone/>
              <a:defRPr/>
            </a:pPr>
            <a:r>
              <a:rPr lang="en-US" sz="1950" dirty="0"/>
              <a:t>      </a:t>
            </a:r>
            <a:r>
              <a:rPr lang="en-US" sz="1950" dirty="0" err="1"/>
              <a:t>data_in.close</a:t>
            </a:r>
            <a:r>
              <a:rPr lang="en-US" sz="1950" dirty="0"/>
              <a:t> ();   </a:t>
            </a:r>
            <a:endParaRPr lang="en-US" sz="1200" dirty="0"/>
          </a:p>
          <a:p>
            <a:pPr>
              <a:buNone/>
              <a:defRPr/>
            </a:pPr>
            <a:r>
              <a:rPr lang="en-US" sz="1500" dirty="0"/>
              <a:t> </a:t>
            </a:r>
            <a:r>
              <a:rPr lang="en-US" sz="1875" dirty="0"/>
              <a:t>} //end of top try</a:t>
            </a:r>
          </a:p>
          <a:p>
            <a:pPr>
              <a:buNone/>
              <a:defRPr/>
            </a:pPr>
            <a:r>
              <a:rPr lang="en-US" sz="1875" dirty="0"/>
              <a:t>catch  (</a:t>
            </a:r>
            <a:r>
              <a:rPr lang="en-US" sz="1875" dirty="0" err="1"/>
              <a:t>IOException</a:t>
            </a:r>
            <a:r>
              <a:rPr lang="en-US" sz="1875" dirty="0"/>
              <a:t> e) {</a:t>
            </a:r>
          </a:p>
          <a:p>
            <a:pPr>
              <a:buNone/>
              <a:defRPr/>
            </a:pPr>
            <a:r>
              <a:rPr lang="en-US" sz="1875" dirty="0"/>
              <a:t>       </a:t>
            </a:r>
            <a:r>
              <a:rPr lang="en-US" sz="1875" dirty="0" err="1"/>
              <a:t>System.out.println</a:t>
            </a:r>
            <a:r>
              <a:rPr lang="en-US" sz="1875" dirty="0"/>
              <a:t> ( "IO Exception =: " + e );</a:t>
            </a:r>
          </a:p>
          <a:p>
            <a:pPr>
              <a:buNone/>
              <a:defRPr/>
            </a:pPr>
            <a:r>
              <a:rPr lang="en-US" sz="1875" dirty="0"/>
              <a:t>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28A23D-AC0A-4942-8760-E527FD4D86A9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600" y="5943601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Look at the examples provided on the website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28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DataInputStream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55000" lnSpcReduction="20000"/>
          </a:bodyPr>
          <a:lstStyle/>
          <a:p>
            <a:pPr>
              <a:defRPr/>
            </a:pPr>
            <a:r>
              <a:rPr lang="en-US" dirty="0" smtClean="0"/>
              <a:t>Some of the methods in this class are:</a:t>
            </a:r>
          </a:p>
          <a:p>
            <a:pPr>
              <a:defRPr/>
            </a:pPr>
            <a:r>
              <a:rPr lang="en-US" dirty="0" err="1" smtClean="0"/>
              <a:t>int</a:t>
            </a:r>
            <a:r>
              <a:rPr lang="en-US" dirty="0" smtClean="0"/>
              <a:t>  </a:t>
            </a:r>
            <a:r>
              <a:rPr lang="en-US" b="1" dirty="0" smtClean="0">
                <a:hlinkClick r:id="rId3" action="ppaction://hlinkfile"/>
              </a:rPr>
              <a:t>read</a:t>
            </a:r>
            <a:r>
              <a:rPr lang="en-US" dirty="0" smtClean="0"/>
              <a:t>(byte[] b) Reads some number of bytes from the contained input stream and stores them into the buffer array b.</a:t>
            </a:r>
          </a:p>
          <a:p>
            <a:pPr>
              <a:defRPr/>
            </a:pPr>
            <a:r>
              <a:rPr lang="en-US" dirty="0" err="1" smtClean="0"/>
              <a:t>Int</a:t>
            </a:r>
            <a:r>
              <a:rPr lang="en-US" dirty="0" smtClean="0"/>
              <a:t>  </a:t>
            </a:r>
            <a:r>
              <a:rPr lang="en-US" b="1" dirty="0" smtClean="0">
                <a:hlinkClick r:id="rId4" action="ppaction://hlinkfile"/>
              </a:rPr>
              <a:t>read</a:t>
            </a:r>
            <a:r>
              <a:rPr lang="en-US" dirty="0" smtClean="0"/>
              <a:t>(byte[] b, </a:t>
            </a:r>
            <a:r>
              <a:rPr lang="en-US" dirty="0" err="1" smtClean="0"/>
              <a:t>int</a:t>
            </a:r>
            <a:r>
              <a:rPr lang="en-US" dirty="0" smtClean="0"/>
              <a:t> off, </a:t>
            </a:r>
            <a:r>
              <a:rPr lang="en-US" dirty="0" err="1" smtClean="0"/>
              <a:t>int</a:t>
            </a:r>
            <a:r>
              <a:rPr lang="en-US" dirty="0" smtClean="0"/>
              <a:t> </a:t>
            </a:r>
            <a:r>
              <a:rPr lang="en-US" dirty="0" err="1" smtClean="0"/>
              <a:t>len</a:t>
            </a:r>
            <a:r>
              <a:rPr lang="en-US" dirty="0" smtClean="0"/>
              <a:t>) Reads up to </a:t>
            </a:r>
            <a:r>
              <a:rPr lang="en-US" dirty="0" err="1" smtClean="0"/>
              <a:t>len</a:t>
            </a:r>
            <a:r>
              <a:rPr lang="en-US" dirty="0" smtClean="0"/>
              <a:t> bytes of data from the contained input stream into an array of bytes.</a:t>
            </a:r>
          </a:p>
          <a:p>
            <a:pPr>
              <a:defRPr/>
            </a:pPr>
            <a:r>
              <a:rPr lang="en-US" dirty="0" err="1" smtClean="0"/>
              <a:t>boolean</a:t>
            </a:r>
            <a:r>
              <a:rPr lang="en-US" dirty="0" smtClean="0"/>
              <a:t>  </a:t>
            </a:r>
            <a:r>
              <a:rPr lang="en-US" b="1" dirty="0" err="1" smtClean="0">
                <a:hlinkClick r:id="rId5" action="ppaction://hlinkfile"/>
              </a:rPr>
              <a:t>readBoolean</a:t>
            </a:r>
            <a:r>
              <a:rPr lang="en-US" dirty="0" smtClean="0"/>
              <a:t>() See the general contract of the </a:t>
            </a:r>
            <a:r>
              <a:rPr lang="en-US" dirty="0" err="1" smtClean="0"/>
              <a:t>readBoolean</a:t>
            </a:r>
            <a:r>
              <a:rPr lang="en-US" dirty="0" smtClean="0"/>
              <a:t> method of </a:t>
            </a:r>
            <a:r>
              <a:rPr lang="en-US" dirty="0" err="1" smtClean="0"/>
              <a:t>DataInput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smtClean="0"/>
              <a:t>byte  </a:t>
            </a:r>
            <a:r>
              <a:rPr lang="en-US" b="1" dirty="0" err="1" smtClean="0">
                <a:hlinkClick r:id="rId6" action="ppaction://hlinkfile"/>
              </a:rPr>
              <a:t>readByte</a:t>
            </a:r>
            <a:r>
              <a:rPr lang="en-US" dirty="0" smtClean="0"/>
              <a:t>() See the general contract of the </a:t>
            </a:r>
            <a:r>
              <a:rPr lang="en-US" dirty="0" err="1" smtClean="0"/>
              <a:t>readByte</a:t>
            </a:r>
            <a:r>
              <a:rPr lang="en-US" dirty="0" smtClean="0"/>
              <a:t> method of </a:t>
            </a:r>
            <a:r>
              <a:rPr lang="en-US" dirty="0" err="1" smtClean="0"/>
              <a:t>DataInput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smtClean="0"/>
              <a:t>char  </a:t>
            </a:r>
            <a:r>
              <a:rPr lang="en-US" b="1" dirty="0" err="1" smtClean="0">
                <a:hlinkClick r:id="rId7" action="ppaction://hlinkfile"/>
              </a:rPr>
              <a:t>readChar</a:t>
            </a:r>
            <a:r>
              <a:rPr lang="en-US" dirty="0" smtClean="0"/>
              <a:t>() See the general contract of the </a:t>
            </a:r>
            <a:r>
              <a:rPr lang="en-US" dirty="0" err="1" smtClean="0"/>
              <a:t>readChar</a:t>
            </a:r>
            <a:r>
              <a:rPr lang="en-US" dirty="0" smtClean="0"/>
              <a:t> method of </a:t>
            </a:r>
            <a:r>
              <a:rPr lang="en-US" dirty="0" err="1" smtClean="0"/>
              <a:t>DataInput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smtClean="0"/>
              <a:t>double  </a:t>
            </a:r>
            <a:r>
              <a:rPr lang="en-US" b="1" dirty="0" err="1" smtClean="0">
                <a:hlinkClick r:id="rId8" action="ppaction://hlinkfile"/>
              </a:rPr>
              <a:t>readDouble</a:t>
            </a:r>
            <a:r>
              <a:rPr lang="en-US" dirty="0" smtClean="0"/>
              <a:t>() See the general contract of the </a:t>
            </a:r>
            <a:r>
              <a:rPr lang="en-US" dirty="0" err="1" smtClean="0"/>
              <a:t>readDouble</a:t>
            </a:r>
            <a:r>
              <a:rPr lang="en-US" dirty="0" smtClean="0"/>
              <a:t> method of </a:t>
            </a:r>
            <a:r>
              <a:rPr lang="en-US" dirty="0" err="1" smtClean="0"/>
              <a:t>DataInput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smtClean="0"/>
              <a:t>float  </a:t>
            </a:r>
            <a:r>
              <a:rPr lang="en-US" b="1" dirty="0" err="1" smtClean="0">
                <a:hlinkClick r:id="rId9" action="ppaction://hlinkfile"/>
              </a:rPr>
              <a:t>readFloat</a:t>
            </a:r>
            <a:r>
              <a:rPr lang="en-US" dirty="0" smtClean="0"/>
              <a:t>() See the general contract of the </a:t>
            </a:r>
            <a:r>
              <a:rPr lang="en-US" dirty="0" err="1" smtClean="0"/>
              <a:t>readFloat</a:t>
            </a:r>
            <a:r>
              <a:rPr lang="en-US" dirty="0" smtClean="0"/>
              <a:t> method of </a:t>
            </a:r>
            <a:r>
              <a:rPr lang="en-US" dirty="0" err="1" smtClean="0"/>
              <a:t>DataInput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err="1" smtClean="0">
                <a:hlinkClick r:id="rId10" action="ppaction://hlinkfile"/>
              </a:rPr>
              <a:t>readFully</a:t>
            </a:r>
            <a:r>
              <a:rPr lang="en-US" dirty="0" smtClean="0"/>
              <a:t>(byte[] b) See the general contract of the </a:t>
            </a:r>
            <a:r>
              <a:rPr lang="en-US" dirty="0" err="1" smtClean="0"/>
              <a:t>readFully</a:t>
            </a:r>
            <a:r>
              <a:rPr lang="en-US" dirty="0" smtClean="0"/>
              <a:t> method of </a:t>
            </a:r>
            <a:r>
              <a:rPr lang="en-US" dirty="0" err="1" smtClean="0"/>
              <a:t>DataInput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smtClean="0"/>
              <a:t>void  </a:t>
            </a:r>
            <a:r>
              <a:rPr lang="en-US" b="1" dirty="0" err="1" smtClean="0">
                <a:hlinkClick r:id="rId11" action="ppaction://hlinkfile"/>
              </a:rPr>
              <a:t>readFully</a:t>
            </a:r>
            <a:r>
              <a:rPr lang="en-US" dirty="0" smtClean="0"/>
              <a:t>(byte[] b, </a:t>
            </a:r>
            <a:r>
              <a:rPr lang="en-US" dirty="0" err="1" smtClean="0"/>
              <a:t>int</a:t>
            </a:r>
            <a:r>
              <a:rPr lang="en-US" dirty="0" smtClean="0"/>
              <a:t> off, </a:t>
            </a:r>
            <a:r>
              <a:rPr lang="en-US" dirty="0" err="1" smtClean="0"/>
              <a:t>int</a:t>
            </a:r>
            <a:r>
              <a:rPr lang="en-US" dirty="0" smtClean="0"/>
              <a:t> </a:t>
            </a:r>
            <a:r>
              <a:rPr lang="en-US" dirty="0" err="1" smtClean="0"/>
              <a:t>len</a:t>
            </a:r>
            <a:r>
              <a:rPr lang="en-US" dirty="0" smtClean="0"/>
              <a:t>) See the general contract of the </a:t>
            </a:r>
            <a:r>
              <a:rPr lang="en-US" dirty="0" err="1" smtClean="0"/>
              <a:t>readFully</a:t>
            </a:r>
            <a:r>
              <a:rPr lang="en-US" dirty="0" smtClean="0"/>
              <a:t> method of </a:t>
            </a:r>
            <a:r>
              <a:rPr lang="en-US" dirty="0" err="1" smtClean="0"/>
              <a:t>DataInput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err="1" smtClean="0"/>
              <a:t>int</a:t>
            </a:r>
            <a:r>
              <a:rPr lang="en-US" dirty="0" smtClean="0"/>
              <a:t>  </a:t>
            </a:r>
            <a:r>
              <a:rPr lang="en-US" b="1" dirty="0" err="1" smtClean="0">
                <a:hlinkClick r:id="rId12" action="ppaction://hlinkfile"/>
              </a:rPr>
              <a:t>readInt</a:t>
            </a:r>
            <a:r>
              <a:rPr lang="en-US" dirty="0" smtClean="0"/>
              <a:t>() See the general contract of the </a:t>
            </a:r>
            <a:r>
              <a:rPr lang="en-US" dirty="0" err="1" smtClean="0"/>
              <a:t>readInt</a:t>
            </a:r>
            <a:r>
              <a:rPr lang="en-US" dirty="0" smtClean="0"/>
              <a:t> method of </a:t>
            </a:r>
            <a:r>
              <a:rPr lang="en-US" dirty="0" err="1" smtClean="0"/>
              <a:t>DataInput</a:t>
            </a:r>
            <a:r>
              <a:rPr lang="en-US" dirty="0" smtClean="0"/>
              <a:t>.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AD40B8B-7DD4-4231-9700-E408BF4C8450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792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Serialization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Serialization converts the object state to serial bytes.</a:t>
            </a:r>
            <a:endParaRPr lang="en-US" altLang="en-US" dirty="0" smtClean="0"/>
          </a:p>
          <a:p>
            <a:pPr eaLnBrk="1" hangingPunct="1"/>
            <a:r>
              <a:rPr lang="en-US" altLang="en-US" dirty="0" smtClean="0"/>
              <a:t>A State of an object is the particular value </a:t>
            </a:r>
            <a:r>
              <a:rPr lang="en-US" altLang="en-US" dirty="0" err="1" smtClean="0"/>
              <a:t>sof</a:t>
            </a:r>
            <a:r>
              <a:rPr lang="en-US" altLang="en-US" dirty="0" smtClean="0"/>
              <a:t> its attributes (fields) at a particular time.</a:t>
            </a:r>
          </a:p>
          <a:p>
            <a:pPr eaLnBrk="1" hangingPunct="1"/>
            <a:r>
              <a:rPr lang="en-US" altLang="en-US" dirty="0" smtClean="0"/>
              <a:t>Saving a particular state via serialization is called “persistence”.</a:t>
            </a:r>
          </a:p>
          <a:p>
            <a:pPr eaLnBrk="1" hangingPunct="1"/>
            <a:r>
              <a:rPr lang="en-US" altLang="en-US" dirty="0" smtClean="0"/>
              <a:t>Why serialize?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9254CE8-7888-418E-A9EC-BB3325CC6F50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Serialization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Writing objects into a file involves a protocol of Java called: Serialization</a:t>
            </a:r>
          </a:p>
          <a:p>
            <a:pPr lvl="1" eaLnBrk="1" hangingPunct="1"/>
            <a:r>
              <a:rPr lang="en-US" altLang="en-US" smtClean="0"/>
              <a:t>Objects are converted (serialized) into a byte stream and stored in the file.</a:t>
            </a:r>
          </a:p>
          <a:p>
            <a:pPr eaLnBrk="1" hangingPunct="1"/>
            <a:r>
              <a:rPr lang="en-US" altLang="en-US" smtClean="0"/>
              <a:t>Reading objects from a file involves a protocol called deserialization.</a:t>
            </a:r>
          </a:p>
          <a:p>
            <a:pPr lvl="1" eaLnBrk="1" hangingPunct="1"/>
            <a:r>
              <a:rPr lang="en-US" altLang="en-US" smtClean="0"/>
              <a:t>Objects are converted back to the particular data type that they belong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EF68F7B-EB39-4602-BDA6-22D29AF37C9F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Writing Objects to a File</a:t>
            </a:r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To write an object to a file, its class must implement the </a:t>
            </a:r>
            <a:r>
              <a:rPr lang="en-US" i="1" dirty="0" err="1" smtClean="0"/>
              <a:t>Serializable</a:t>
            </a:r>
            <a:r>
              <a:rPr lang="en-US" dirty="0" smtClean="0"/>
              <a:t> interface, which indicates that: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 smtClean="0"/>
              <a:t>the object can be converted to a byte stream to be written to a file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 smtClean="0"/>
              <a:t>that byte stream can be converted back into a copy of the object when read from the file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cs typeface="Times New Roman" pitchFamily="18" charset="0"/>
              </a:rPr>
              <a:t>The</a:t>
            </a:r>
            <a:r>
              <a:rPr lang="en-US" i="1" dirty="0" smtClean="0">
                <a:cs typeface="Times New Roman" pitchFamily="18" charset="0"/>
              </a:rPr>
              <a:t> </a:t>
            </a:r>
            <a:r>
              <a:rPr lang="en-US" i="1" dirty="0" err="1" smtClean="0">
                <a:cs typeface="Times New Roman" pitchFamily="18" charset="0"/>
              </a:rPr>
              <a:t>Serializable</a:t>
            </a:r>
            <a:r>
              <a:rPr lang="en-US" dirty="0" smtClean="0">
                <a:cs typeface="Times New Roman" pitchFamily="18" charset="0"/>
              </a:rPr>
              <a:t> interface has no methods to implement. All we need to do is:</a:t>
            </a:r>
            <a:r>
              <a:rPr lang="en-US" sz="2400" dirty="0" smtClean="0">
                <a:cs typeface="Times New Roman" pitchFamily="18" charset="0"/>
              </a:rPr>
              <a:t>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i="1" dirty="0" smtClean="0">
                <a:cs typeface="Times New Roman" pitchFamily="18" charset="0"/>
              </a:rPr>
              <a:t> import </a:t>
            </a:r>
            <a:r>
              <a:rPr lang="en-US" sz="2400" dirty="0" smtClean="0">
                <a:cs typeface="Times New Roman" pitchFamily="18" charset="0"/>
              </a:rPr>
              <a:t>the</a:t>
            </a:r>
            <a:r>
              <a:rPr lang="en-US" sz="2400" i="1" dirty="0" smtClean="0">
                <a:cs typeface="Times New Roman" pitchFamily="18" charset="0"/>
              </a:rPr>
              <a:t> </a:t>
            </a:r>
            <a:r>
              <a:rPr lang="en-US" sz="2400" i="1" dirty="0" err="1" smtClean="0">
                <a:cs typeface="Times New Roman" pitchFamily="18" charset="0"/>
              </a:rPr>
              <a:t>java.io.Serializable</a:t>
            </a:r>
            <a:r>
              <a:rPr lang="en-US" sz="2400" dirty="0" smtClean="0">
                <a:cs typeface="Times New Roman" pitchFamily="18" charset="0"/>
              </a:rPr>
              <a:t> interface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cs typeface="Times New Roman" pitchFamily="18" charset="0"/>
              </a:rPr>
              <a:t>add  </a:t>
            </a:r>
            <a:r>
              <a:rPr lang="en-US" sz="2400" i="1" dirty="0" smtClean="0">
                <a:cs typeface="Times New Roman" pitchFamily="18" charset="0"/>
              </a:rPr>
              <a:t>implements</a:t>
            </a:r>
            <a:r>
              <a:rPr lang="en-US" sz="2400" dirty="0" smtClean="0">
                <a:cs typeface="Times New Roman" pitchFamily="18" charset="0"/>
              </a:rPr>
              <a:t> </a:t>
            </a:r>
            <a:r>
              <a:rPr lang="en-US" sz="2400" i="1" dirty="0" err="1" smtClean="0">
                <a:cs typeface="Times New Roman" pitchFamily="18" charset="0"/>
              </a:rPr>
              <a:t>Serializable</a:t>
            </a:r>
            <a:r>
              <a:rPr lang="en-US" sz="2400" dirty="0" smtClean="0">
                <a:cs typeface="Times New Roman" pitchFamily="18" charset="0"/>
              </a:rPr>
              <a:t> to the class header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 err="1" smtClean="0">
                <a:cs typeface="Times New Roman" pitchFamily="18" charset="0"/>
              </a:rPr>
              <a:t>i.e</a:t>
            </a:r>
            <a:r>
              <a:rPr lang="en-US" sz="2400" dirty="0" smtClean="0">
                <a:cs typeface="Times New Roman" pitchFamily="18" charset="0"/>
              </a:rPr>
              <a:t> 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 smtClean="0">
                <a:cs typeface="Times New Roman" pitchFamily="18" charset="0"/>
              </a:rPr>
              <a:t>        </a:t>
            </a:r>
            <a:r>
              <a:rPr lang="en-US" sz="2400" b="1" i="1" dirty="0" smtClean="0">
                <a:cs typeface="Times New Roman" pitchFamily="18" charset="0"/>
              </a:rPr>
              <a:t>public class </a:t>
            </a:r>
            <a:r>
              <a:rPr lang="en-US" sz="2400" b="1" i="1" dirty="0" err="1" smtClean="0">
                <a:cs typeface="Times New Roman" pitchFamily="18" charset="0"/>
              </a:rPr>
              <a:t>MyClass</a:t>
            </a:r>
            <a:r>
              <a:rPr lang="en-US" sz="2400" b="1" i="1" dirty="0" smtClean="0">
                <a:cs typeface="Times New Roman" pitchFamily="18" charset="0"/>
              </a:rPr>
              <a:t> implements </a:t>
            </a:r>
            <a:r>
              <a:rPr lang="en-US" sz="2400" b="1" i="1" dirty="0" err="1" smtClean="0">
                <a:cs typeface="Times New Roman" pitchFamily="18" charset="0"/>
              </a:rPr>
              <a:t>Serializable</a:t>
            </a:r>
            <a:endParaRPr lang="en-US" sz="2400" b="1" i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87D2720-63FA-42F9-A326-340DA4FBF5B9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The </a:t>
            </a:r>
            <a:r>
              <a:rPr lang="en-US" altLang="en-US" sz="4000" i="1" smtClean="0"/>
              <a:t>ObjectOutputStream</a:t>
            </a:r>
            <a:r>
              <a:rPr lang="en-US" altLang="en-US" sz="4000" smtClean="0"/>
              <a:t> Class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3434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anose="02020603050405020304" pitchFamily="18" charset="0"/>
              </a:rPr>
              <a:t>The </a:t>
            </a:r>
            <a:r>
              <a:rPr lang="en-US" altLang="en-US" i="1" dirty="0" err="1" smtClean="0">
                <a:cs typeface="Times New Roman" panose="02020603050405020304" pitchFamily="18" charset="0"/>
              </a:rPr>
              <a:t>ObjectOutputStream</a:t>
            </a:r>
            <a:r>
              <a:rPr lang="en-US" altLang="en-US" dirty="0" smtClean="0">
                <a:cs typeface="Times New Roman" panose="02020603050405020304" pitchFamily="18" charset="0"/>
              </a:rPr>
              <a:t> class, coupled with the </a:t>
            </a:r>
            <a:r>
              <a:rPr lang="en-US" altLang="en-US" i="1" dirty="0" err="1" smtClean="0">
                <a:cs typeface="Times New Roman" panose="02020603050405020304" pitchFamily="18" charset="0"/>
              </a:rPr>
              <a:t>FileOutputStream</a:t>
            </a:r>
            <a:r>
              <a:rPr lang="en-US" altLang="en-US" i="1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smtClean="0">
                <a:cs typeface="Times New Roman" panose="02020603050405020304" pitchFamily="18" charset="0"/>
              </a:rPr>
              <a:t>class, provides the functionality to write objects to a file. </a:t>
            </a:r>
          </a:p>
          <a:p>
            <a:pPr eaLnBrk="1" hangingPunct="1"/>
            <a:r>
              <a:rPr lang="en-US" altLang="en-US" dirty="0" smtClean="0">
                <a:cs typeface="Times New Roman" panose="02020603050405020304" pitchFamily="18" charset="0"/>
              </a:rPr>
              <a:t>The </a:t>
            </a:r>
            <a:r>
              <a:rPr lang="en-US" altLang="en-US" i="1" dirty="0" err="1" smtClean="0">
                <a:cs typeface="Times New Roman" panose="02020603050405020304" pitchFamily="18" charset="0"/>
              </a:rPr>
              <a:t>ObjectOutputStream</a:t>
            </a:r>
            <a:r>
              <a:rPr lang="en-US" altLang="en-US" i="1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smtClean="0">
                <a:cs typeface="Times New Roman" panose="02020603050405020304" pitchFamily="18" charset="0"/>
              </a:rPr>
              <a:t>class provides a convenient way to write objects to a file. </a:t>
            </a:r>
          </a:p>
          <a:p>
            <a:pPr lvl="1" eaLnBrk="1" hangingPunct="1"/>
            <a:r>
              <a:rPr lang="en-US" altLang="en-US" sz="2400" dirty="0" smtClean="0">
                <a:cs typeface="Times New Roman" panose="02020603050405020304" pitchFamily="18" charset="0"/>
              </a:rPr>
              <a:t>Its </a:t>
            </a:r>
            <a:r>
              <a:rPr lang="en-US" altLang="en-US" sz="2400" i="1" dirty="0" err="1" smtClean="0">
                <a:cs typeface="Times New Roman" panose="02020603050405020304" pitchFamily="18" charset="0"/>
              </a:rPr>
              <a:t>writeObject</a:t>
            </a:r>
            <a:r>
              <a:rPr lang="en-US" altLang="en-US" sz="2400" i="1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method takes one argument: the object to be written.</a:t>
            </a:r>
          </a:p>
          <a:p>
            <a:pPr eaLnBrk="1" hangingPunct="1">
              <a:buFontTx/>
              <a:buNone/>
            </a:pPr>
            <a:endParaRPr lang="en-US" altLang="en-US" sz="2400" dirty="0" smtClean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B40056B-416B-410F-86CE-E67FC72AE146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848600" cy="5619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smtClean="0"/>
              <a:t> Constructors for Writing Objects</a:t>
            </a:r>
            <a:r>
              <a:rPr lang="en-US" smtClean="0"/>
              <a:t>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 </a:t>
            </a:r>
          </a:p>
        </p:txBody>
      </p:sp>
      <p:graphicFrame>
        <p:nvGraphicFramePr>
          <p:cNvPr id="262168" name="Group 24"/>
          <p:cNvGraphicFramePr>
            <a:graphicFrameLocks noGrp="1"/>
          </p:cNvGraphicFramePr>
          <p:nvPr/>
        </p:nvGraphicFramePr>
        <p:xfrm>
          <a:off x="152400" y="1143000"/>
          <a:ext cx="8839200" cy="5572125"/>
        </p:xfrm>
        <a:graphic>
          <a:graphicData uri="http://schemas.openxmlformats.org/drawingml/2006/table">
            <a:tbl>
              <a:tblPr/>
              <a:tblGrid>
                <a:gridCol w="3048000"/>
                <a:gridCol w="5791200"/>
              </a:tblGrid>
              <a:tr h="3657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Class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Constructor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3334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FileOutputStream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FileOutputStream( String filename,</a:t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</a:b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          boolean mode ) 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creates a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FileOutputStream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object from a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String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representing the name of a file. If the file does not exist, it is created. If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mode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is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false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the current contents of the file, if any, will be replaced. If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mode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is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true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writing will append data to the end of the file. Throws a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FileNotFoundException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7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ObjectOutputStream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ObjectOutputStream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( 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OutputStream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/>
                      </a:r>
                      <a:b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</a:b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                out )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Courier New" pitchFamily="49" charset="0"/>
                        </a:rPr>
                        <a:t>creates an </a:t>
                      </a:r>
                      <a:r>
                        <a:rPr kumimoji="0" lang="en-US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Courier New" pitchFamily="49" charset="0"/>
                        </a:rPr>
                        <a:t>ObjectOutputStream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Courier New" pitchFamily="49" charset="0"/>
                        </a:rPr>
                        <a:t> that writes to the </a:t>
                      </a:r>
                      <a:r>
                        <a:rPr kumimoji="0" lang="en-US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Courier New" pitchFamily="49" charset="0"/>
                        </a:rPr>
                        <a:t>OutputStream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Courier New" pitchFamily="49" charset="0"/>
                        </a:rPr>
                        <a:t> </a:t>
                      </a: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Courier New" pitchFamily="49" charset="0"/>
                        </a:rPr>
                        <a:t>out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Throws an </a:t>
                      </a:r>
                      <a:r>
                        <a:rPr kumimoji="0" lang="en-US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IOException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5FCCF1D-7E7F-426E-98E4-FBDC88BD5AAD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The </a:t>
            </a:r>
            <a:r>
              <a:rPr lang="en-US" altLang="en-US" sz="4000" i="1" smtClean="0"/>
              <a:t>writeObject</a:t>
            </a:r>
            <a:r>
              <a:rPr lang="en-US" altLang="en-US" sz="4000" smtClean="0"/>
              <a:t> Method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4864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>
              <a:buFontTx/>
              <a:buNone/>
            </a:pPr>
            <a:r>
              <a:rPr lang="en-US" altLang="en-US" i="1" dirty="0" smtClean="0">
                <a:solidFill>
                  <a:schemeClr val="tx2"/>
                </a:solidFill>
              </a:rPr>
              <a:t>See Textbook examples</a:t>
            </a:r>
          </a:p>
        </p:txBody>
      </p:sp>
      <p:graphicFrame>
        <p:nvGraphicFramePr>
          <p:cNvPr id="263183" name="Group 15"/>
          <p:cNvGraphicFramePr>
            <a:graphicFrameLocks noGrp="1"/>
          </p:cNvGraphicFramePr>
          <p:nvPr/>
        </p:nvGraphicFramePr>
        <p:xfrm>
          <a:off x="685800" y="1447800"/>
          <a:ext cx="7848600" cy="2682875"/>
        </p:xfrm>
        <a:graphic>
          <a:graphicData uri="http://schemas.openxmlformats.org/drawingml/2006/table">
            <a:tbl>
              <a:tblPr/>
              <a:tblGrid>
                <a:gridCol w="1905000"/>
                <a:gridCol w="5943600"/>
              </a:tblGrid>
              <a:tr h="4573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Return value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Method name and argument list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22255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void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writeObject( Object o )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/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</a:b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 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writes the object argument to a file. That object must be an instance of a class that implements the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Serializable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interface. Otherwise, a run-time exception will be generated.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Throws an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IOException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552D1D8-A550-4CDB-809C-FBD733725249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Objects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BB57-E972-46EA-8BDD-B8A3423301FF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1905000"/>
            <a:ext cx="7239000" cy="369331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public class FlightRecord2 implements Serializable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public static final </a:t>
            </a:r>
            <a:r>
              <a:rPr lang="en-US" dirty="0" err="1"/>
              <a:t>DecimalFormat</a:t>
            </a:r>
            <a:r>
              <a:rPr lang="en-US" dirty="0"/>
              <a:t> MONEY</a:t>
            </a:r>
          </a:p>
          <a:p>
            <a:r>
              <a:rPr lang="en-US" dirty="0"/>
              <a:t>                        = new </a:t>
            </a:r>
            <a:r>
              <a:rPr lang="en-US" dirty="0" err="1"/>
              <a:t>DecimalFormat</a:t>
            </a:r>
            <a:r>
              <a:rPr lang="en-US" dirty="0"/>
              <a:t>( "$###.00" );</a:t>
            </a:r>
          </a:p>
          <a:p>
            <a:r>
              <a:rPr lang="en-US" dirty="0"/>
              <a:t>  private String </a:t>
            </a:r>
            <a:r>
              <a:rPr lang="en-US" dirty="0" err="1"/>
              <a:t>flightNumber</a:t>
            </a:r>
            <a:r>
              <a:rPr lang="en-US" dirty="0"/>
              <a:t>;     // ex. = AA123</a:t>
            </a:r>
          </a:p>
          <a:p>
            <a:r>
              <a:rPr lang="en-US" dirty="0"/>
              <a:t>  private String origin;           // origin airport; ex. = BWI</a:t>
            </a:r>
          </a:p>
          <a:p>
            <a:r>
              <a:rPr lang="en-US" dirty="0"/>
              <a:t>  private String destination;      // destination airport; ex. = SFO</a:t>
            </a:r>
          </a:p>
          <a:p>
            <a:r>
              <a:rPr lang="en-US" dirty="0"/>
              <a:t>  private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numPassengers</a:t>
            </a:r>
            <a:r>
              <a:rPr lang="en-US" dirty="0"/>
              <a:t>;       // number of passengers</a:t>
            </a:r>
          </a:p>
          <a:p>
            <a:r>
              <a:rPr lang="en-US" dirty="0"/>
              <a:t>  private double </a:t>
            </a:r>
            <a:r>
              <a:rPr lang="en-US" dirty="0" err="1"/>
              <a:t>avgTicketPrice</a:t>
            </a:r>
            <a:r>
              <a:rPr lang="en-US" dirty="0"/>
              <a:t>;   // average ticket price</a:t>
            </a:r>
          </a:p>
          <a:p>
            <a:r>
              <a:rPr lang="en-US" dirty="0" smtClean="0"/>
              <a:t>…</a:t>
            </a:r>
          </a:p>
          <a:p>
            <a:r>
              <a:rPr lang="en-US" dirty="0" smtClean="0"/>
              <a:t>…</a:t>
            </a:r>
          </a:p>
          <a:p>
            <a:r>
              <a:rPr lang="en-US" dirty="0" smtClean="0"/>
              <a:t>…</a:t>
            </a:r>
          </a:p>
          <a:p>
            <a:r>
              <a:rPr lang="en-US" dirty="0" smtClean="0"/>
              <a:t>}</a:t>
            </a:r>
          </a:p>
        </p:txBody>
      </p:sp>
      <p:sp>
        <p:nvSpPr>
          <p:cNvPr id="3" name="Line Callout 1 2"/>
          <p:cNvSpPr/>
          <p:nvPr/>
        </p:nvSpPr>
        <p:spPr>
          <a:xfrm>
            <a:off x="4876800" y="4800600"/>
            <a:ext cx="3657600" cy="1219200"/>
          </a:xfrm>
          <a:prstGeom prst="borderCallout1">
            <a:avLst>
              <a:gd name="adj1" fmla="val 18750"/>
              <a:gd name="adj2" fmla="val -8333"/>
              <a:gd name="adj3" fmla="val -211047"/>
              <a:gd name="adj4" fmla="val -554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Objects of this class will be serialized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Therefore it needs to implement Serializable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385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 dirty="0"/>
              <a:t>Writing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BB57-E972-46EA-8BDD-B8A3423301FF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85800" y="1088896"/>
            <a:ext cx="8001000" cy="50167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public class </a:t>
            </a:r>
            <a:r>
              <a:rPr lang="en-US" sz="1600" dirty="0" err="1"/>
              <a:t>WritingObjects</a:t>
            </a:r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public static void main( String [] </a:t>
            </a:r>
            <a:r>
              <a:rPr lang="en-US" sz="1600" dirty="0" err="1"/>
              <a:t>args</a:t>
            </a:r>
            <a:r>
              <a:rPr lang="en-US" sz="1600" dirty="0"/>
              <a:t> )</a:t>
            </a:r>
          </a:p>
          <a:p>
            <a:r>
              <a:rPr lang="en-US" sz="1600" dirty="0"/>
              <a:t>  {</a:t>
            </a:r>
          </a:p>
          <a:p>
            <a:r>
              <a:rPr lang="en-US" sz="1600" dirty="0"/>
              <a:t>   // instantiate the objects</a:t>
            </a:r>
          </a:p>
          <a:p>
            <a:r>
              <a:rPr lang="en-US" sz="1600" dirty="0"/>
              <a:t>   FlightRecord2 fr1 = new FlightRecord2( "AA31", "BWI", "SFO",</a:t>
            </a:r>
          </a:p>
          <a:p>
            <a:r>
              <a:rPr lang="en-US" sz="1600" dirty="0"/>
              <a:t>                                           200, 235.9 );</a:t>
            </a:r>
          </a:p>
          <a:p>
            <a:r>
              <a:rPr lang="en-US" sz="1600" dirty="0"/>
              <a:t>   FlightRecord2 fr2 = new FlightRecord2( "CO25", "LAX", "JFK",</a:t>
            </a:r>
          </a:p>
          <a:p>
            <a:r>
              <a:rPr lang="en-US" sz="1600" dirty="0"/>
              <a:t>                                           225, 419.9 );</a:t>
            </a:r>
          </a:p>
          <a:p>
            <a:r>
              <a:rPr lang="en-US" sz="1600" dirty="0"/>
              <a:t>   FlightRecord2 fr3 = new FlightRecord2( "US57", "IAD", "DEN",</a:t>
            </a:r>
          </a:p>
          <a:p>
            <a:r>
              <a:rPr lang="en-US" sz="1600" dirty="0"/>
              <a:t>                                           175, 179.5 );</a:t>
            </a:r>
          </a:p>
          <a:p>
            <a:r>
              <a:rPr lang="en-US" sz="1600" dirty="0" smtClean="0"/>
              <a:t>   </a:t>
            </a:r>
            <a:r>
              <a:rPr lang="en-US" sz="1600" dirty="0"/>
              <a:t>try</a:t>
            </a:r>
          </a:p>
          <a:p>
            <a:r>
              <a:rPr lang="en-US" sz="1600" dirty="0"/>
              <a:t>   {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FileOutputStream</a:t>
            </a:r>
            <a:r>
              <a:rPr lang="en-US" sz="1600" dirty="0"/>
              <a:t> </a:t>
            </a:r>
            <a:r>
              <a:rPr lang="en-US" sz="1600" dirty="0" err="1"/>
              <a:t>fos</a:t>
            </a:r>
            <a:r>
              <a:rPr lang="en-US" sz="1600" dirty="0"/>
              <a:t> = new </a:t>
            </a:r>
            <a:r>
              <a:rPr lang="en-US" sz="1600" dirty="0" err="1"/>
              <a:t>FileOutputStream</a:t>
            </a:r>
            <a:endParaRPr lang="en-US" sz="1600" dirty="0"/>
          </a:p>
          <a:p>
            <a:r>
              <a:rPr lang="en-US" sz="1600" dirty="0"/>
              <a:t>                                  ( "objects", false ); // </a:t>
            </a:r>
            <a:r>
              <a:rPr lang="en-US" sz="1600" dirty="0" smtClean="0"/>
              <a:t>“false” </a:t>
            </a:r>
            <a:r>
              <a:rPr lang="en-US" sz="1600" dirty="0"/>
              <a:t>means </a:t>
            </a:r>
            <a:r>
              <a:rPr lang="en-US" sz="1600" dirty="0" smtClean="0"/>
              <a:t>file will be overwritten</a:t>
            </a:r>
            <a:endParaRPr lang="en-US" sz="1600" dirty="0"/>
          </a:p>
          <a:p>
            <a:r>
              <a:rPr lang="en-US" sz="1600" dirty="0" smtClean="0"/>
              <a:t>             </a:t>
            </a:r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ObjectOutputStream</a:t>
            </a:r>
            <a:r>
              <a:rPr lang="en-US" sz="1600" dirty="0"/>
              <a:t> </a:t>
            </a:r>
            <a:r>
              <a:rPr lang="en-US" sz="1600" dirty="0" err="1"/>
              <a:t>oos</a:t>
            </a:r>
            <a:r>
              <a:rPr lang="en-US" sz="1600" dirty="0"/>
              <a:t> = new </a:t>
            </a:r>
            <a:r>
              <a:rPr lang="en-US" sz="1600" dirty="0" err="1"/>
              <a:t>ObjectOutputStream</a:t>
            </a:r>
            <a:r>
              <a:rPr lang="en-US" sz="1600" dirty="0"/>
              <a:t>( </a:t>
            </a:r>
            <a:r>
              <a:rPr lang="en-US" sz="1600" dirty="0" err="1"/>
              <a:t>fos</a:t>
            </a:r>
            <a:r>
              <a:rPr lang="en-US" sz="1600" dirty="0"/>
              <a:t> );</a:t>
            </a:r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//continued on next slide</a:t>
            </a:r>
            <a:endParaRPr lang="en-US" sz="1600" dirty="0"/>
          </a:p>
        </p:txBody>
      </p:sp>
      <p:sp>
        <p:nvSpPr>
          <p:cNvPr id="6" name="Line Callout 1 5"/>
          <p:cNvSpPr/>
          <p:nvPr/>
        </p:nvSpPr>
        <p:spPr>
          <a:xfrm>
            <a:off x="4686300" y="1335117"/>
            <a:ext cx="3657600" cy="685800"/>
          </a:xfrm>
          <a:prstGeom prst="borderCallout1">
            <a:avLst>
              <a:gd name="adj1" fmla="val 102471"/>
              <a:gd name="adj2" fmla="val 84690"/>
              <a:gd name="adj3" fmla="val 418217"/>
              <a:gd name="adj4" fmla="val 878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Create output stream to write the objects to file</a:t>
            </a:r>
            <a:endParaRPr lang="en-US" dirty="0"/>
          </a:p>
        </p:txBody>
      </p:sp>
      <p:sp>
        <p:nvSpPr>
          <p:cNvPr id="3" name="Right Brace 2"/>
          <p:cNvSpPr/>
          <p:nvPr/>
        </p:nvSpPr>
        <p:spPr>
          <a:xfrm>
            <a:off x="7620000" y="4191000"/>
            <a:ext cx="762000" cy="1524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85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Writing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BB57-E972-46EA-8BDD-B8A3423301FF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85800" y="1524000"/>
            <a:ext cx="8001000" cy="50783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// write the objects to the file</a:t>
            </a:r>
          </a:p>
          <a:p>
            <a:r>
              <a:rPr lang="en-US" dirty="0"/>
              <a:t>    </a:t>
            </a:r>
            <a:r>
              <a:rPr lang="en-US" dirty="0" err="1"/>
              <a:t>oos.writeObject</a:t>
            </a:r>
            <a:r>
              <a:rPr lang="en-US" dirty="0"/>
              <a:t>( fr1 );</a:t>
            </a:r>
          </a:p>
          <a:p>
            <a:r>
              <a:rPr lang="en-US" dirty="0"/>
              <a:t>    </a:t>
            </a:r>
            <a:r>
              <a:rPr lang="en-US" dirty="0" err="1"/>
              <a:t>oos.writeObject</a:t>
            </a:r>
            <a:r>
              <a:rPr lang="en-US" dirty="0"/>
              <a:t>( fr2 );</a:t>
            </a:r>
          </a:p>
          <a:p>
            <a:r>
              <a:rPr lang="en-US" dirty="0"/>
              <a:t>    </a:t>
            </a:r>
            <a:r>
              <a:rPr lang="en-US" dirty="0" err="1"/>
              <a:t>oos.writeObject</a:t>
            </a:r>
            <a:r>
              <a:rPr lang="en-US" dirty="0"/>
              <a:t>( fr3 </a:t>
            </a:r>
            <a:r>
              <a:rPr lang="en-US" dirty="0" smtClean="0"/>
              <a:t>);</a:t>
            </a:r>
            <a:endParaRPr lang="en-US" dirty="0"/>
          </a:p>
          <a:p>
            <a:r>
              <a:rPr lang="en-US" dirty="0" smtClean="0"/>
              <a:t>    </a:t>
            </a:r>
            <a:r>
              <a:rPr lang="en-US" dirty="0" err="1" smtClean="0"/>
              <a:t>oos.close</a:t>
            </a:r>
            <a:r>
              <a:rPr lang="en-US" dirty="0"/>
              <a:t>( ); // release resources associated with the objects </a:t>
            </a:r>
            <a:r>
              <a:rPr lang="en-US" dirty="0" smtClean="0"/>
              <a:t>file</a:t>
            </a:r>
            <a:endParaRPr lang="en-US" dirty="0"/>
          </a:p>
          <a:p>
            <a:r>
              <a:rPr lang="en-US" dirty="0"/>
              <a:t>   }</a:t>
            </a:r>
          </a:p>
          <a:p>
            <a:endParaRPr lang="en-US" dirty="0"/>
          </a:p>
          <a:p>
            <a:r>
              <a:rPr lang="en-US" dirty="0"/>
              <a:t>   catch( </a:t>
            </a:r>
            <a:r>
              <a:rPr lang="en-US" dirty="0" err="1"/>
              <a:t>FileNotFoundException</a:t>
            </a:r>
            <a:r>
              <a:rPr lang="en-US" dirty="0"/>
              <a:t> </a:t>
            </a:r>
            <a:r>
              <a:rPr lang="en-US" dirty="0" err="1"/>
              <a:t>fnfe</a:t>
            </a:r>
            <a:r>
              <a:rPr lang="en-US" dirty="0"/>
              <a:t> )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</a:t>
            </a:r>
            <a:r>
              <a:rPr lang="en-US" dirty="0" err="1"/>
              <a:t>System.out.println</a:t>
            </a:r>
            <a:r>
              <a:rPr lang="en-US" dirty="0"/>
              <a:t>( "Unable to write to objects" );</a:t>
            </a:r>
          </a:p>
          <a:p>
            <a:r>
              <a:rPr lang="en-US" dirty="0"/>
              <a:t>   }</a:t>
            </a:r>
          </a:p>
          <a:p>
            <a:endParaRPr lang="en-US" dirty="0"/>
          </a:p>
          <a:p>
            <a:r>
              <a:rPr lang="en-US" dirty="0"/>
              <a:t>   catch( </a:t>
            </a:r>
            <a:r>
              <a:rPr lang="en-US" dirty="0" err="1"/>
              <a:t>IOException</a:t>
            </a:r>
            <a:r>
              <a:rPr lang="en-US" dirty="0"/>
              <a:t> </a:t>
            </a:r>
            <a:r>
              <a:rPr lang="en-US" dirty="0" err="1"/>
              <a:t>ioe</a:t>
            </a:r>
            <a:r>
              <a:rPr lang="en-US" dirty="0"/>
              <a:t> )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 </a:t>
            </a:r>
            <a:r>
              <a:rPr lang="en-US" dirty="0" err="1"/>
              <a:t>ioe.printStackTrace</a:t>
            </a:r>
            <a:r>
              <a:rPr lang="en-US" dirty="0"/>
              <a:t>( );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Line Callout 1 8"/>
          <p:cNvSpPr/>
          <p:nvPr/>
        </p:nvSpPr>
        <p:spPr>
          <a:xfrm>
            <a:off x="4282263" y="5099050"/>
            <a:ext cx="3657600" cy="539750"/>
          </a:xfrm>
          <a:prstGeom prst="borderCallout1">
            <a:avLst>
              <a:gd name="adj1" fmla="val -6056"/>
              <a:gd name="adj2" fmla="val 47190"/>
              <a:gd name="adj3" fmla="val -510155"/>
              <a:gd name="adj4" fmla="val 102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Write objects into file</a:t>
            </a:r>
            <a:endParaRPr lang="en-US" dirty="0"/>
          </a:p>
        </p:txBody>
      </p:sp>
      <p:sp>
        <p:nvSpPr>
          <p:cNvPr id="10" name="Right Brace 9"/>
          <p:cNvSpPr/>
          <p:nvPr/>
        </p:nvSpPr>
        <p:spPr>
          <a:xfrm>
            <a:off x="3924300" y="1829169"/>
            <a:ext cx="762000" cy="9140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00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609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smtClean="0"/>
              <a:t>Omitting Data from the File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</a:t>
            </a:r>
            <a:r>
              <a:rPr lang="en-US" i="1" dirty="0" err="1" smtClean="0"/>
              <a:t>writeObject</a:t>
            </a:r>
            <a:r>
              <a:rPr lang="en-US" i="1" dirty="0" smtClean="0"/>
              <a:t> </a:t>
            </a:r>
            <a:r>
              <a:rPr lang="en-US" dirty="0" smtClean="0"/>
              <a:t>method does not write any object fields declared to be</a:t>
            </a:r>
            <a:r>
              <a:rPr lang="en-US" i="1" dirty="0" smtClean="0"/>
              <a:t> static</a:t>
            </a:r>
            <a:r>
              <a:rPr lang="en-US" dirty="0" smtClean="0"/>
              <a:t> or </a:t>
            </a:r>
            <a:r>
              <a:rPr lang="en-US" i="1" dirty="0" smtClean="0">
                <a:solidFill>
                  <a:schemeClr val="tx2"/>
                </a:solidFill>
              </a:rPr>
              <a:t>transient.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You can declare a field as</a:t>
            </a:r>
            <a:r>
              <a:rPr lang="en-US" i="1" dirty="0" smtClean="0"/>
              <a:t> transient </a:t>
            </a:r>
            <a:r>
              <a:rPr lang="en-US" dirty="0" smtClean="0"/>
              <a:t>if you can easily reproduce its value or if its value is 0. </a:t>
            </a:r>
          </a:p>
          <a:p>
            <a:pPr lvl="1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Syntax to declare a field as </a:t>
            </a:r>
            <a:r>
              <a:rPr lang="en-US" sz="2400" i="1" dirty="0" smtClean="0"/>
              <a:t>transient</a:t>
            </a:r>
            <a:r>
              <a:rPr lang="en-US" sz="2400" dirty="0" smtClean="0"/>
              <a:t>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sz="2400" dirty="0" smtClean="0"/>
          </a:p>
          <a:p>
            <a:pPr lvl="1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accessModifier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transient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dataType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fieldName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sz="2400" dirty="0" smtClean="0"/>
          </a:p>
          <a:p>
            <a:pPr lvl="1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Example</a:t>
            </a:r>
            <a:r>
              <a:rPr lang="en-US" dirty="0" smtClean="0"/>
              <a:t>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dirty="0" smtClean="0"/>
          </a:p>
          <a:p>
            <a:pPr lvl="1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dirty="0" smtClean="0">
                <a:latin typeface="Courier New" pitchFamily="49" charset="0"/>
                <a:cs typeface="Times New Roman" pitchFamily="18" charset="0"/>
              </a:rPr>
              <a:t>  private transient double </a:t>
            </a:r>
            <a:r>
              <a:rPr lang="en-US" sz="2000" dirty="0" err="1" smtClean="0">
                <a:latin typeface="Courier New" pitchFamily="49" charset="0"/>
                <a:cs typeface="Times New Roman" pitchFamily="18" charset="0"/>
              </a:rPr>
              <a:t>totalRevenue</a:t>
            </a:r>
            <a:r>
              <a:rPr lang="en-US" sz="2000" dirty="0" smtClean="0">
                <a:latin typeface="Courier New" pitchFamily="49" charset="0"/>
                <a:cs typeface="Times New Roman" pitchFamily="18" charset="0"/>
              </a:rPr>
              <a:t>;</a:t>
            </a:r>
            <a:r>
              <a:rPr lang="en-US" sz="2000" dirty="0" smtClean="0">
                <a:latin typeface="Courier New" pitchFamily="49" charset="0"/>
              </a:rPr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5E4C20F-3ABB-4E93-B48D-356DDCA8F416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Reading Objects from a File</a:t>
            </a:r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5029200"/>
          </a:xfrm>
        </p:spPr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cs typeface="Times New Roman" pitchFamily="18" charset="0"/>
              </a:rPr>
              <a:t>The </a:t>
            </a:r>
            <a:r>
              <a:rPr lang="en-US" i="1" dirty="0" err="1" smtClean="0">
                <a:cs typeface="Times New Roman" pitchFamily="18" charset="0"/>
              </a:rPr>
              <a:t>ObjectInputStream</a:t>
            </a:r>
            <a:r>
              <a:rPr lang="en-US" dirty="0" smtClean="0">
                <a:cs typeface="Times New Roman" pitchFamily="18" charset="0"/>
              </a:rPr>
              <a:t> class, coupled with </a:t>
            </a:r>
            <a:r>
              <a:rPr lang="en-US" i="1" dirty="0" err="1" smtClean="0">
                <a:cs typeface="Times New Roman" pitchFamily="18" charset="0"/>
              </a:rPr>
              <a:t>FileInputStream</a:t>
            </a:r>
            <a:r>
              <a:rPr lang="en-US" dirty="0" smtClean="0">
                <a:cs typeface="Times New Roman" pitchFamily="18" charset="0"/>
              </a:rPr>
              <a:t>, provides the functionality to read objects from a file.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cs typeface="Times New Roman" pitchFamily="18" charset="0"/>
              </a:rPr>
              <a:t>The </a:t>
            </a:r>
            <a:r>
              <a:rPr lang="en-US" i="1" dirty="0" err="1" smtClean="0">
                <a:cs typeface="Times New Roman" pitchFamily="18" charset="0"/>
              </a:rPr>
              <a:t>readObject</a:t>
            </a:r>
            <a:r>
              <a:rPr lang="en-US" dirty="0" smtClean="0">
                <a:cs typeface="Times New Roman" pitchFamily="18" charset="0"/>
              </a:rPr>
              <a:t> method of the </a:t>
            </a:r>
            <a:r>
              <a:rPr lang="en-US" i="1" dirty="0" err="1" smtClean="0">
                <a:cs typeface="Times New Roman" pitchFamily="18" charset="0"/>
              </a:rPr>
              <a:t>ObjectInputStream</a:t>
            </a:r>
            <a:r>
              <a:rPr lang="en-US" dirty="0" smtClean="0">
                <a:cs typeface="Times New Roman" pitchFamily="18" charset="0"/>
              </a:rPr>
              <a:t> class is designed to read objects from a file.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cs typeface="Times New Roman" pitchFamily="18" charset="0"/>
              </a:rPr>
              <a:t>Because the </a:t>
            </a:r>
            <a:r>
              <a:rPr lang="en-US" i="1" dirty="0" err="1" smtClean="0">
                <a:cs typeface="Times New Roman" pitchFamily="18" charset="0"/>
              </a:rPr>
              <a:t>readObject</a:t>
            </a:r>
            <a:r>
              <a:rPr lang="en-US" i="1" dirty="0" smtClean="0">
                <a:cs typeface="Times New Roman" pitchFamily="18" charset="0"/>
              </a:rPr>
              <a:t> </a:t>
            </a:r>
            <a:r>
              <a:rPr lang="en-US" dirty="0" smtClean="0">
                <a:cs typeface="Times New Roman" pitchFamily="18" charset="0"/>
              </a:rPr>
              <a:t>method returns a generic </a:t>
            </a:r>
            <a:r>
              <a:rPr lang="en-US" i="1" dirty="0" smtClean="0">
                <a:cs typeface="Times New Roman" pitchFamily="18" charset="0"/>
              </a:rPr>
              <a:t>Object</a:t>
            </a:r>
            <a:r>
              <a:rPr lang="en-US" dirty="0" smtClean="0">
                <a:cs typeface="Times New Roman" pitchFamily="18" charset="0"/>
              </a:rPr>
              <a:t>,</a:t>
            </a:r>
            <a:r>
              <a:rPr lang="en-US" i="1" dirty="0" smtClean="0">
                <a:cs typeface="Times New Roman" pitchFamily="18" charset="0"/>
              </a:rPr>
              <a:t> </a:t>
            </a:r>
            <a:r>
              <a:rPr lang="en-US" dirty="0" smtClean="0">
                <a:cs typeface="Times New Roman" pitchFamily="18" charset="0"/>
              </a:rPr>
              <a:t>we must type cast the returned object to the appropriate class</a:t>
            </a:r>
            <a:r>
              <a:rPr lang="en-US" dirty="0" smtClean="0">
                <a:solidFill>
                  <a:srgbClr val="FF0000"/>
                </a:solidFill>
                <a:cs typeface="Times New Roman" pitchFamily="18" charset="0"/>
              </a:rPr>
              <a:t>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cs typeface="Times New Roman" pitchFamily="18" charset="0"/>
              </a:rPr>
              <a:t>When the end of the file is reached, the </a:t>
            </a:r>
            <a:r>
              <a:rPr lang="en-US" i="1" dirty="0" err="1" smtClean="0">
                <a:cs typeface="Times New Roman" pitchFamily="18" charset="0"/>
              </a:rPr>
              <a:t>readObject</a:t>
            </a:r>
            <a:r>
              <a:rPr lang="en-US" dirty="0" smtClean="0">
                <a:cs typeface="Times New Roman" pitchFamily="18" charset="0"/>
              </a:rPr>
              <a:t> method throws an </a:t>
            </a:r>
            <a:r>
              <a:rPr lang="en-US" i="1" dirty="0" err="1" smtClean="0">
                <a:cs typeface="Times New Roman" pitchFamily="18" charset="0"/>
              </a:rPr>
              <a:t>EOFException</a:t>
            </a:r>
            <a:r>
              <a:rPr lang="en-US" dirty="0" smtClean="0">
                <a:cs typeface="Times New Roman" pitchFamily="18" charset="0"/>
              </a:rPr>
              <a:t>, so we detect the end of the file when we catch that exception.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DFB951-857C-44DC-A40E-CF14B48A386A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 </a:t>
            </a:r>
            <a:r>
              <a:rPr lang="en-US" altLang="en-US" sz="4000" smtClean="0"/>
              <a:t>Constructors for Reading Objects</a:t>
            </a:r>
            <a:r>
              <a:rPr lang="en-US" altLang="en-US" smtClean="0"/>
              <a:t>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 </a:t>
            </a:r>
          </a:p>
        </p:txBody>
      </p:sp>
      <p:graphicFrame>
        <p:nvGraphicFramePr>
          <p:cNvPr id="267282" name="Group 18"/>
          <p:cNvGraphicFramePr>
            <a:graphicFrameLocks noGrp="1"/>
          </p:cNvGraphicFramePr>
          <p:nvPr/>
        </p:nvGraphicFramePr>
        <p:xfrm>
          <a:off x="228600" y="1295400"/>
          <a:ext cx="8610600" cy="3224736"/>
        </p:xfrm>
        <a:graphic>
          <a:graphicData uri="http://schemas.openxmlformats.org/drawingml/2006/table">
            <a:tbl>
              <a:tblPr/>
              <a:tblGrid>
                <a:gridCol w="2819400"/>
                <a:gridCol w="5791200"/>
              </a:tblGrid>
              <a:tr h="4571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Class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Constructor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15663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FileInputStream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FileInputStream( String filename 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constructs a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FileInputStream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object from a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String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representing the name of a file. Throws a 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FileNotFoundException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006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ObjectInputStream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ObjectInputStream( InputStream in 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Courier New" pitchFamily="49" charset="0"/>
                        </a:rPr>
                        <a:t>creates an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Courier New" pitchFamily="49" charset="0"/>
                        </a:rPr>
                        <a:t>ObjectInputStream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Courier New" pitchFamily="49" charset="0"/>
                        </a:rPr>
                        <a:t> from the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Courier New" pitchFamily="49" charset="0"/>
                        </a:rPr>
                        <a:t>InputStream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Courier New" pitchFamily="49" charset="0"/>
                        </a:rPr>
                        <a:t>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Courier New" pitchFamily="49" charset="0"/>
                        </a:rPr>
                        <a:t>in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Throws an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IOException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4634B1-85C9-4DF1-B250-1D0B9FB136D7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609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smtClean="0"/>
              <a:t>The  </a:t>
            </a:r>
            <a:r>
              <a:rPr lang="en-US" sz="4000" i="1" smtClean="0"/>
              <a:t>readObject</a:t>
            </a:r>
            <a:r>
              <a:rPr lang="en-US" sz="4000" smtClean="0"/>
              <a:t> Method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419600"/>
            <a:ext cx="7772400" cy="2133600"/>
          </a:xfrm>
        </p:spPr>
        <p:txBody>
          <a:bodyPr rtlCol="0">
            <a:normAutofit lnSpcReduction="10000"/>
          </a:bodyPr>
          <a:lstStyle/>
          <a:p>
            <a:pPr marL="168275" indent="-168275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i="1" smtClean="0">
                <a:solidFill>
                  <a:schemeClr val="tx2"/>
                </a:solidFill>
              </a:rPr>
              <a:t>See Example 11.18 ReadingObjects.java</a:t>
            </a:r>
            <a:r>
              <a:rPr lang="en-US" i="1" smtClean="0"/>
              <a:t> </a:t>
            </a:r>
          </a:p>
          <a:p>
            <a:pPr marL="168275" indent="-168275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smtClean="0"/>
              <a:t>Note:</a:t>
            </a:r>
          </a:p>
          <a:p>
            <a:pPr marL="282575" lvl="1" indent="174625" eaLnBrk="1" fontAlgn="auto" hangingPunct="1">
              <a:spcAft>
                <a:spcPts val="0"/>
              </a:spcAft>
              <a:defRPr/>
            </a:pPr>
            <a:r>
              <a:rPr lang="en-US" sz="2400" smtClean="0"/>
              <a:t> we detect reaching the end of the file in the </a:t>
            </a:r>
            <a:r>
              <a:rPr lang="en-US" sz="2400" i="1" smtClean="0"/>
              <a:t>EOFException catch</a:t>
            </a:r>
            <a:r>
              <a:rPr lang="en-US" sz="2400" smtClean="0"/>
              <a:t> block</a:t>
            </a:r>
          </a:p>
          <a:p>
            <a:pPr marL="282575" lvl="1" indent="174625" eaLnBrk="1" fontAlgn="auto" hangingPunct="1">
              <a:spcAft>
                <a:spcPts val="0"/>
              </a:spcAft>
              <a:defRPr/>
            </a:pPr>
            <a:r>
              <a:rPr lang="en-US" sz="2400" smtClean="0"/>
              <a:t>we use a </a:t>
            </a:r>
            <a:r>
              <a:rPr lang="en-US" sz="2400" i="1" smtClean="0"/>
              <a:t>finally</a:t>
            </a:r>
            <a:r>
              <a:rPr lang="en-US" sz="2400" smtClean="0"/>
              <a:t> block to close the file</a:t>
            </a:r>
            <a:endParaRPr lang="en-US" smtClean="0"/>
          </a:p>
        </p:txBody>
      </p:sp>
      <p:graphicFrame>
        <p:nvGraphicFramePr>
          <p:cNvPr id="268304" name="Group 16"/>
          <p:cNvGraphicFramePr>
            <a:graphicFrameLocks noGrp="1"/>
          </p:cNvGraphicFramePr>
          <p:nvPr/>
        </p:nvGraphicFramePr>
        <p:xfrm>
          <a:off x="533400" y="1295400"/>
          <a:ext cx="7848600" cy="2987675"/>
        </p:xfrm>
        <a:graphic>
          <a:graphicData uri="http://schemas.openxmlformats.org/drawingml/2006/table">
            <a:tbl>
              <a:tblPr/>
              <a:tblGrid>
                <a:gridCol w="1905000"/>
                <a:gridCol w="5943600"/>
              </a:tblGrid>
              <a:tr h="3963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Return value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Method name and argument list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25913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Object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readObject( )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/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</a:b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 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reads the next object and returns it. The object must be an instance of a class that implements the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Serializable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interface. When the end of the file is reached, an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EOFException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is thrown.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Also throws an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IOException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and 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ClassNotFoundException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018C52A-3BBC-4216-85EB-FFE950BA25C7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dirty="0" smtClean="0"/>
              <a:t>Read Objects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BB57-E972-46EA-8BDD-B8A3423301FF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72440" y="1143000"/>
            <a:ext cx="7985760" cy="52629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try</a:t>
            </a:r>
          </a:p>
          <a:p>
            <a:r>
              <a:rPr lang="en-US" sz="1600" dirty="0"/>
              <a:t>   {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FileInputStream</a:t>
            </a:r>
            <a:r>
              <a:rPr lang="en-US" sz="1600" dirty="0"/>
              <a:t> </a:t>
            </a:r>
            <a:r>
              <a:rPr lang="en-US" sz="1600" dirty="0" err="1"/>
              <a:t>fis</a:t>
            </a:r>
            <a:r>
              <a:rPr lang="en-US" sz="1600" dirty="0"/>
              <a:t> = new </a:t>
            </a:r>
            <a:r>
              <a:rPr lang="en-US" sz="1600" dirty="0" err="1"/>
              <a:t>FileInputStream</a:t>
            </a:r>
            <a:r>
              <a:rPr lang="en-US" sz="1600" dirty="0"/>
              <a:t>( "objects " );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ObjectInputStream</a:t>
            </a:r>
            <a:r>
              <a:rPr lang="en-US" sz="1600" dirty="0"/>
              <a:t> </a:t>
            </a:r>
            <a:r>
              <a:rPr lang="en-US" sz="1600" dirty="0" err="1"/>
              <a:t>ois</a:t>
            </a:r>
            <a:r>
              <a:rPr lang="en-US" sz="1600" dirty="0"/>
              <a:t> = new </a:t>
            </a:r>
            <a:r>
              <a:rPr lang="en-US" sz="1600" dirty="0" err="1"/>
              <a:t>ObjectInputStream</a:t>
            </a:r>
            <a:r>
              <a:rPr lang="en-US" sz="1600" dirty="0"/>
              <a:t>( </a:t>
            </a:r>
            <a:r>
              <a:rPr lang="en-US" sz="1600" dirty="0" err="1"/>
              <a:t>fis</a:t>
            </a:r>
            <a:r>
              <a:rPr lang="en-US" sz="1600" dirty="0"/>
              <a:t> );</a:t>
            </a:r>
          </a:p>
          <a:p>
            <a:endParaRPr lang="en-US" sz="1600" dirty="0"/>
          </a:p>
          <a:p>
            <a:r>
              <a:rPr lang="en-US" sz="1600" dirty="0"/>
              <a:t>     try</a:t>
            </a:r>
          </a:p>
          <a:p>
            <a:r>
              <a:rPr lang="en-US" sz="1600" dirty="0"/>
              <a:t>     {</a:t>
            </a:r>
          </a:p>
          <a:p>
            <a:r>
              <a:rPr lang="en-US" sz="1600" dirty="0"/>
              <a:t>       while ( true )</a:t>
            </a:r>
          </a:p>
          <a:p>
            <a:r>
              <a:rPr lang="en-US" sz="1600" dirty="0"/>
              <a:t>       {</a:t>
            </a:r>
          </a:p>
          <a:p>
            <a:r>
              <a:rPr lang="en-US" sz="1600" dirty="0"/>
              <a:t>         // read object, type cast returned object to FlightRecord2</a:t>
            </a:r>
          </a:p>
          <a:p>
            <a:r>
              <a:rPr lang="en-US" sz="1600" dirty="0"/>
              <a:t>         FlightRecord2 temp = ( FlightRecord2 ) </a:t>
            </a:r>
            <a:r>
              <a:rPr lang="en-US" sz="1600" dirty="0" err="1"/>
              <a:t>ois.readObject</a:t>
            </a:r>
            <a:r>
              <a:rPr lang="en-US" sz="1600" dirty="0"/>
              <a:t>( );</a:t>
            </a:r>
          </a:p>
          <a:p>
            <a:endParaRPr lang="en-US" sz="1600" dirty="0"/>
          </a:p>
          <a:p>
            <a:r>
              <a:rPr lang="en-US" sz="1600" dirty="0"/>
              <a:t>         // print the FlightRecord2 object read</a:t>
            </a:r>
          </a:p>
          <a:p>
            <a:r>
              <a:rPr lang="en-US" sz="1600" dirty="0"/>
              <a:t>         </a:t>
            </a:r>
            <a:r>
              <a:rPr lang="en-US" sz="1600" dirty="0" err="1"/>
              <a:t>System.out.println</a:t>
            </a:r>
            <a:r>
              <a:rPr lang="en-US" sz="1600" dirty="0"/>
              <a:t>( </a:t>
            </a:r>
            <a:r>
              <a:rPr lang="en-US" sz="1600" dirty="0" err="1" smtClean="0"/>
              <a:t>temp.toString</a:t>
            </a:r>
            <a:r>
              <a:rPr lang="en-US" sz="1600" dirty="0" smtClean="0"/>
              <a:t>() </a:t>
            </a:r>
            <a:r>
              <a:rPr lang="en-US" sz="1600" dirty="0"/>
              <a:t>);</a:t>
            </a:r>
          </a:p>
          <a:p>
            <a:r>
              <a:rPr lang="en-US" sz="1600" dirty="0"/>
              <a:t>       }</a:t>
            </a:r>
          </a:p>
          <a:p>
            <a:r>
              <a:rPr lang="en-US" sz="1600" dirty="0"/>
              <a:t>     } // end inner try block</a:t>
            </a:r>
          </a:p>
          <a:p>
            <a:endParaRPr lang="en-US" sz="1600" dirty="0"/>
          </a:p>
          <a:p>
            <a:r>
              <a:rPr lang="en-US" sz="1600" dirty="0"/>
              <a:t>     catch( </a:t>
            </a:r>
            <a:r>
              <a:rPr lang="en-US" sz="1600" dirty="0" err="1"/>
              <a:t>EOFException</a:t>
            </a:r>
            <a:r>
              <a:rPr lang="en-US" sz="1600" dirty="0"/>
              <a:t> </a:t>
            </a:r>
            <a:r>
              <a:rPr lang="en-US" sz="1600" dirty="0" err="1"/>
              <a:t>eofe</a:t>
            </a:r>
            <a:r>
              <a:rPr lang="en-US" sz="1600" dirty="0"/>
              <a:t> )</a:t>
            </a:r>
          </a:p>
          <a:p>
            <a:r>
              <a:rPr lang="en-US" sz="1600" dirty="0"/>
              <a:t>     {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System.out.println</a:t>
            </a:r>
            <a:r>
              <a:rPr lang="en-US" sz="1600" dirty="0"/>
              <a:t>( "End of the file reached" );</a:t>
            </a:r>
          </a:p>
          <a:p>
            <a:r>
              <a:rPr lang="en-US" sz="1600" dirty="0"/>
              <a:t>     </a:t>
            </a:r>
            <a:r>
              <a:rPr lang="en-US" sz="1600" dirty="0" smtClean="0"/>
              <a:t>} //next slide</a:t>
            </a:r>
            <a:endParaRPr lang="en-US" sz="1600" dirty="0"/>
          </a:p>
        </p:txBody>
      </p:sp>
      <p:sp>
        <p:nvSpPr>
          <p:cNvPr id="6" name="Line Callout 1 5"/>
          <p:cNvSpPr/>
          <p:nvPr/>
        </p:nvSpPr>
        <p:spPr>
          <a:xfrm>
            <a:off x="4114800" y="2649731"/>
            <a:ext cx="3657600" cy="685800"/>
          </a:xfrm>
          <a:prstGeom prst="borderCallout1">
            <a:avLst>
              <a:gd name="adj1" fmla="val -16909"/>
              <a:gd name="adj2" fmla="val 59109"/>
              <a:gd name="adj3" fmla="val -96512"/>
              <a:gd name="adj4" fmla="val 546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Create input stream to read the objects from file</a:t>
            </a:r>
            <a:endParaRPr lang="en-US" dirty="0"/>
          </a:p>
        </p:txBody>
      </p:sp>
      <p:sp>
        <p:nvSpPr>
          <p:cNvPr id="7" name="Right Brace 6"/>
          <p:cNvSpPr/>
          <p:nvPr/>
        </p:nvSpPr>
        <p:spPr>
          <a:xfrm>
            <a:off x="5562600" y="1487517"/>
            <a:ext cx="762000" cy="762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ine Callout 1 7"/>
          <p:cNvSpPr/>
          <p:nvPr/>
        </p:nvSpPr>
        <p:spPr>
          <a:xfrm>
            <a:off x="4495800" y="4584536"/>
            <a:ext cx="3657600" cy="685800"/>
          </a:xfrm>
          <a:prstGeom prst="borderCallout1">
            <a:avLst>
              <a:gd name="adj1" fmla="val -16909"/>
              <a:gd name="adj2" fmla="val 59109"/>
              <a:gd name="adj3" fmla="val -212791"/>
              <a:gd name="adj4" fmla="val -67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Loop through the file until </a:t>
            </a:r>
            <a:r>
              <a:rPr lang="en-US" dirty="0" err="1" smtClean="0"/>
              <a:t>EOFException</a:t>
            </a:r>
            <a:r>
              <a:rPr lang="en-US" dirty="0" smtClean="0"/>
              <a:t> is thrown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658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dirty="0" smtClean="0"/>
              <a:t>Read Objects cont.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4BB57-E972-46EA-8BDD-B8A3423301FF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47040" y="1212275"/>
            <a:ext cx="7543800" cy="5509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 catch( </a:t>
            </a:r>
            <a:r>
              <a:rPr lang="en-US" sz="1600" dirty="0" err="1"/>
              <a:t>ClassNotFoundException</a:t>
            </a:r>
            <a:r>
              <a:rPr lang="en-US" sz="1600" dirty="0"/>
              <a:t> </a:t>
            </a:r>
            <a:r>
              <a:rPr lang="en-US" sz="1600" dirty="0" err="1"/>
              <a:t>cnfe</a:t>
            </a:r>
            <a:r>
              <a:rPr lang="en-US" sz="1600" dirty="0"/>
              <a:t> )</a:t>
            </a:r>
          </a:p>
          <a:p>
            <a:r>
              <a:rPr lang="en-US" sz="1600" dirty="0"/>
              <a:t>     {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System.out.println</a:t>
            </a:r>
            <a:r>
              <a:rPr lang="en-US" sz="1600" dirty="0"/>
              <a:t>( </a:t>
            </a:r>
            <a:r>
              <a:rPr lang="en-US" sz="1600" dirty="0" err="1"/>
              <a:t>cnfe.getMessage</a:t>
            </a:r>
            <a:r>
              <a:rPr lang="en-US" sz="1600" dirty="0"/>
              <a:t>( ) );</a:t>
            </a:r>
          </a:p>
          <a:p>
            <a:r>
              <a:rPr lang="en-US" sz="1600" dirty="0"/>
              <a:t>     }</a:t>
            </a:r>
          </a:p>
          <a:p>
            <a:endParaRPr lang="en-US" sz="1600" dirty="0"/>
          </a:p>
          <a:p>
            <a:r>
              <a:rPr lang="en-US" sz="1600" dirty="0"/>
              <a:t>     finally</a:t>
            </a:r>
          </a:p>
          <a:p>
            <a:r>
              <a:rPr lang="en-US" sz="1600" dirty="0"/>
              <a:t>     {</a:t>
            </a:r>
          </a:p>
          <a:p>
            <a:r>
              <a:rPr lang="en-US" sz="1600" dirty="0"/>
              <a:t>       </a:t>
            </a:r>
            <a:r>
              <a:rPr lang="en-US" sz="1600" dirty="0" err="1"/>
              <a:t>System.out.println</a:t>
            </a:r>
            <a:r>
              <a:rPr lang="en-US" sz="1600" dirty="0"/>
              <a:t>( "Closing file" );</a:t>
            </a:r>
          </a:p>
          <a:p>
            <a:r>
              <a:rPr lang="en-US" sz="1600" dirty="0"/>
              <a:t>       </a:t>
            </a:r>
            <a:r>
              <a:rPr lang="en-US" sz="1600" dirty="0" err="1"/>
              <a:t>ois.close</a:t>
            </a:r>
            <a:r>
              <a:rPr lang="en-US" sz="1600" dirty="0"/>
              <a:t>( );</a:t>
            </a:r>
          </a:p>
          <a:p>
            <a:r>
              <a:rPr lang="en-US" sz="1600" dirty="0"/>
              <a:t>     }</a:t>
            </a:r>
          </a:p>
          <a:p>
            <a:r>
              <a:rPr lang="en-US" sz="1600" dirty="0"/>
              <a:t>   } // end outer try block</a:t>
            </a:r>
          </a:p>
          <a:p>
            <a:endParaRPr lang="en-US" sz="1600" dirty="0"/>
          </a:p>
          <a:p>
            <a:r>
              <a:rPr lang="en-US" sz="1600" dirty="0"/>
              <a:t>   catch( </a:t>
            </a:r>
            <a:r>
              <a:rPr lang="en-US" sz="1600" dirty="0" err="1"/>
              <a:t>FileNotFoundException</a:t>
            </a:r>
            <a:r>
              <a:rPr lang="en-US" sz="1600" dirty="0"/>
              <a:t> </a:t>
            </a:r>
            <a:r>
              <a:rPr lang="en-US" sz="1600" dirty="0" err="1"/>
              <a:t>fnfe</a:t>
            </a:r>
            <a:r>
              <a:rPr lang="en-US" sz="1600" dirty="0"/>
              <a:t> )</a:t>
            </a:r>
          </a:p>
          <a:p>
            <a:r>
              <a:rPr lang="en-US" sz="1600" dirty="0"/>
              <a:t>   {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System.out.println</a:t>
            </a:r>
            <a:r>
              <a:rPr lang="en-US" sz="1600" dirty="0"/>
              <a:t>( "Unable to find objects" );</a:t>
            </a:r>
          </a:p>
          <a:p>
            <a:r>
              <a:rPr lang="en-US" sz="1600" dirty="0"/>
              <a:t>   }</a:t>
            </a:r>
          </a:p>
          <a:p>
            <a:endParaRPr lang="en-US" sz="1600" dirty="0"/>
          </a:p>
          <a:p>
            <a:r>
              <a:rPr lang="en-US" sz="1600" dirty="0"/>
              <a:t>   catch( </a:t>
            </a:r>
            <a:r>
              <a:rPr lang="en-US" sz="1600" dirty="0" err="1"/>
              <a:t>IOException</a:t>
            </a:r>
            <a:r>
              <a:rPr lang="en-US" sz="1600" dirty="0"/>
              <a:t> </a:t>
            </a:r>
            <a:r>
              <a:rPr lang="en-US" sz="1600" dirty="0" err="1"/>
              <a:t>ioe</a:t>
            </a:r>
            <a:r>
              <a:rPr lang="en-US" sz="1600" dirty="0"/>
              <a:t> )</a:t>
            </a:r>
          </a:p>
          <a:p>
            <a:r>
              <a:rPr lang="en-US" sz="1600" dirty="0"/>
              <a:t>   {</a:t>
            </a:r>
          </a:p>
          <a:p>
            <a:r>
              <a:rPr lang="en-US" sz="1600" dirty="0"/>
              <a:t>       </a:t>
            </a:r>
            <a:r>
              <a:rPr lang="en-US" sz="1600" dirty="0" err="1"/>
              <a:t>ioe.printStackTrace</a:t>
            </a:r>
            <a:r>
              <a:rPr lang="en-US" sz="1600" dirty="0"/>
              <a:t>( );</a:t>
            </a:r>
          </a:p>
          <a:p>
            <a:r>
              <a:rPr lang="en-US" sz="1600" dirty="0"/>
              <a:t>   }</a:t>
            </a:r>
          </a:p>
          <a:p>
            <a:r>
              <a:rPr lang="en-US" sz="16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865311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Of Writing Objects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dirty="0" smtClean="0"/>
              <a:t>We could serialize the </a:t>
            </a:r>
            <a:r>
              <a:rPr lang="en-US" altLang="en-US" sz="2000" dirty="0" err="1" smtClean="0"/>
              <a:t>VehicleA</a:t>
            </a:r>
            <a:r>
              <a:rPr lang="en-US" altLang="en-US" sz="2000" dirty="0" smtClean="0"/>
              <a:t> class (containing information about cars)by making a minor change to the class: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      public class </a:t>
            </a:r>
            <a:r>
              <a:rPr lang="en-US" altLang="en-US" sz="2000" dirty="0" err="1" smtClean="0"/>
              <a:t>VehicleA</a:t>
            </a:r>
            <a:r>
              <a:rPr lang="en-US" altLang="en-US" sz="2000" dirty="0" smtClean="0"/>
              <a:t> implements Serializable</a:t>
            </a:r>
          </a:p>
          <a:p>
            <a:pPr eaLnBrk="1" hangingPunct="1"/>
            <a:r>
              <a:rPr lang="en-US" altLang="en-US" sz="2000" dirty="0" smtClean="0"/>
              <a:t>We can exclude certain fields of the class from being  serialized (and thus have their values written) by using the keyword transient in front of the declaration of the field.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     i.e.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     </a:t>
            </a:r>
            <a:r>
              <a:rPr lang="fr-FR" altLang="en-US" sz="2000" dirty="0" err="1" smtClean="0"/>
              <a:t>private</a:t>
            </a:r>
            <a:r>
              <a:rPr lang="fr-FR" altLang="en-US" sz="2000" dirty="0" smtClean="0"/>
              <a:t>  </a:t>
            </a:r>
            <a:r>
              <a:rPr lang="fr-FR" altLang="en-US" sz="2000" dirty="0" err="1" smtClean="0"/>
              <a:t>transient</a:t>
            </a:r>
            <a:r>
              <a:rPr lang="fr-FR" altLang="en-US" sz="2000" dirty="0" smtClean="0"/>
              <a:t>   double </a:t>
            </a:r>
            <a:r>
              <a:rPr lang="fr-FR" altLang="en-US" sz="2000" dirty="0" err="1" smtClean="0"/>
              <a:t>init_v</a:t>
            </a:r>
            <a:r>
              <a:rPr lang="fr-FR" altLang="en-US" sz="2000" dirty="0" smtClean="0"/>
              <a:t>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fr-FR" altLang="en-US" sz="2000" dirty="0" smtClean="0"/>
              <a:t>     </a:t>
            </a:r>
            <a:r>
              <a:rPr lang="fr-FR" altLang="en-US" sz="2000" dirty="0" err="1" smtClean="0"/>
              <a:t>private</a:t>
            </a:r>
            <a:r>
              <a:rPr lang="fr-FR" altLang="en-US" sz="2000" dirty="0" smtClean="0"/>
              <a:t>  </a:t>
            </a:r>
            <a:r>
              <a:rPr lang="fr-FR" altLang="en-US" sz="2000" dirty="0" err="1" smtClean="0"/>
              <a:t>transient</a:t>
            </a:r>
            <a:r>
              <a:rPr lang="fr-FR" altLang="en-US" sz="2000" dirty="0" smtClean="0"/>
              <a:t>  double </a:t>
            </a:r>
            <a:r>
              <a:rPr lang="fr-FR" altLang="en-US" sz="2000" dirty="0" err="1" smtClean="0"/>
              <a:t>init_d</a:t>
            </a:r>
            <a:r>
              <a:rPr lang="fr-FR" altLang="en-US" sz="2000" dirty="0" smtClean="0"/>
              <a:t>;</a:t>
            </a:r>
            <a:endParaRPr lang="en-US" alt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3B64AB-04C8-4EF1-BCE4-A55031417482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Of Writing Objects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Now in a VehicleClient class we can save the state of a particular VehicleA object by writing it into a file. </a:t>
            </a:r>
          </a:p>
          <a:p>
            <a:pPr eaLnBrk="1" hangingPunct="1"/>
            <a:r>
              <a:rPr lang="en-US" altLang="en-US" smtClean="0"/>
              <a:t>The file name usually has the extension .ser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mtClean="0"/>
              <a:t>   i.e. MyFile.ser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mtClean="0"/>
              <a:t>   Thus: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61DC0B3-FAAA-45BB-836F-068FE4173E0A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30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Of Writing Objects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err="1" smtClean="0"/>
              <a:t>VehicleA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va</a:t>
            </a:r>
            <a:r>
              <a:rPr lang="en-US" altLang="en-US" sz="2000" dirty="0" smtClean="0"/>
              <a:t>=new </a:t>
            </a:r>
            <a:r>
              <a:rPr lang="en-US" altLang="en-US" sz="2000" dirty="0" err="1" smtClean="0"/>
              <a:t>VehicleA</a:t>
            </a:r>
            <a:r>
              <a:rPr lang="en-US" altLang="en-US" sz="2000" dirty="0" smtClean="0"/>
              <a:t>(“My Vehicle”, 2, 3, 2.1, 3.5);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 try{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	</a:t>
            </a:r>
            <a:r>
              <a:rPr lang="en-US" altLang="en-US" sz="2000" dirty="0" err="1" smtClean="0"/>
              <a:t>FileOutputStream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fos</a:t>
            </a:r>
            <a:r>
              <a:rPr lang="en-US" altLang="en-US" sz="2000" dirty="0" smtClean="0"/>
              <a:t>=new </a:t>
            </a:r>
            <a:r>
              <a:rPr lang="en-US" altLang="en-US" sz="2000" dirty="0" err="1" smtClean="0"/>
              <a:t>FileOutputStream</a:t>
            </a:r>
            <a:r>
              <a:rPr lang="en-US" altLang="en-US" sz="2000" dirty="0" smtClean="0"/>
              <a:t>(“</a:t>
            </a:r>
            <a:r>
              <a:rPr lang="en-US" altLang="en-US" sz="2000" dirty="0" err="1" smtClean="0"/>
              <a:t>MyFile.ser</a:t>
            </a:r>
            <a:r>
              <a:rPr lang="en-US" altLang="en-US" sz="2000" dirty="0" smtClean="0"/>
              <a:t>”);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	</a:t>
            </a:r>
            <a:r>
              <a:rPr lang="en-US" altLang="en-US" sz="2000" dirty="0" err="1" smtClean="0"/>
              <a:t>ObjectOutputStream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oos</a:t>
            </a:r>
            <a:r>
              <a:rPr lang="en-US" altLang="en-US" sz="2000" dirty="0" smtClean="0"/>
              <a:t>=new </a:t>
            </a:r>
            <a:r>
              <a:rPr lang="en-US" altLang="en-US" sz="2000" dirty="0" err="1" smtClean="0"/>
              <a:t>ObjectOutputStream</a:t>
            </a:r>
            <a:r>
              <a:rPr lang="en-US" altLang="en-US" sz="2000" dirty="0" smtClean="0"/>
              <a:t>(</a:t>
            </a:r>
            <a:r>
              <a:rPr lang="en-US" altLang="en-US" sz="2000" dirty="0" err="1" smtClean="0"/>
              <a:t>fos</a:t>
            </a:r>
            <a:r>
              <a:rPr lang="en-US" altLang="en-US" sz="2000" dirty="0" smtClean="0"/>
              <a:t>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	</a:t>
            </a:r>
            <a:r>
              <a:rPr lang="en-US" altLang="en-US" sz="2000" dirty="0" err="1" smtClean="0"/>
              <a:t>oos.writeObject</a:t>
            </a:r>
            <a:r>
              <a:rPr lang="en-US" altLang="en-US" sz="2000" dirty="0" smtClean="0"/>
              <a:t>(</a:t>
            </a:r>
            <a:r>
              <a:rPr lang="en-US" altLang="en-US" sz="2000" dirty="0" err="1" smtClean="0"/>
              <a:t>va</a:t>
            </a:r>
            <a:r>
              <a:rPr lang="en-US" altLang="en-US" sz="2000" dirty="0" smtClean="0"/>
              <a:t>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       </a:t>
            </a:r>
            <a:r>
              <a:rPr lang="en-US" altLang="en-US" sz="2000" dirty="0" err="1" smtClean="0"/>
              <a:t>oos.close</a:t>
            </a:r>
            <a:r>
              <a:rPr lang="en-US" altLang="en-US" sz="2000" dirty="0" smtClean="0"/>
              <a:t>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 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catch(</a:t>
            </a:r>
            <a:r>
              <a:rPr lang="en-US" altLang="en-US" sz="2000" dirty="0" err="1" smtClean="0"/>
              <a:t>IOException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ioe</a:t>
            </a:r>
            <a:r>
              <a:rPr lang="en-US" altLang="en-US" sz="2000" dirty="0" smtClean="0"/>
              <a:t>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	</a:t>
            </a:r>
            <a:r>
              <a:rPr lang="en-US" altLang="en-US" sz="2000" dirty="0" err="1" smtClean="0"/>
              <a:t>System.out.println</a:t>
            </a:r>
            <a:r>
              <a:rPr lang="en-US" altLang="en-US" sz="2000" dirty="0" smtClean="0"/>
              <a:t>(“Error writing into file”);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      </a:t>
            </a:r>
            <a:r>
              <a:rPr lang="en-US" altLang="en-US" sz="2000" dirty="0" err="1" smtClean="0"/>
              <a:t>ioe.printStackTrace</a:t>
            </a:r>
            <a:r>
              <a:rPr lang="en-US" altLang="en-US" sz="2000" dirty="0" smtClean="0"/>
              <a:t>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 smtClean="0"/>
              <a:t>}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400" dirty="0" smtClean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6A8D0BF-8563-4E17-A906-02CEFBB645D7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31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Example of Reading the Object From the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 smtClean="0"/>
              <a:t>try{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 err="1" smtClean="0"/>
              <a:t>FileInputStream</a:t>
            </a:r>
            <a:r>
              <a:rPr lang="en-US" sz="2000" dirty="0" smtClean="0"/>
              <a:t>  </a:t>
            </a:r>
            <a:r>
              <a:rPr lang="en-US" sz="2000" dirty="0" err="1" smtClean="0"/>
              <a:t>fis</a:t>
            </a:r>
            <a:r>
              <a:rPr lang="en-US" sz="2000" dirty="0" smtClean="0"/>
              <a:t> = new </a:t>
            </a:r>
            <a:r>
              <a:rPr lang="en-US" sz="2000" dirty="0" err="1" smtClean="0"/>
              <a:t>FileInputStream</a:t>
            </a:r>
            <a:r>
              <a:rPr lang="en-US" sz="2000" dirty="0" smtClean="0"/>
              <a:t>(“MyFile.ser”);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 err="1" smtClean="0"/>
              <a:t>ObjectInputStream</a:t>
            </a:r>
            <a:r>
              <a:rPr lang="en-US" sz="2000" dirty="0" smtClean="0"/>
              <a:t>  </a:t>
            </a:r>
            <a:r>
              <a:rPr lang="en-US" sz="2000" dirty="0" err="1" smtClean="0"/>
              <a:t>ois</a:t>
            </a:r>
            <a:r>
              <a:rPr lang="en-US" sz="2000" dirty="0" smtClean="0"/>
              <a:t> = new </a:t>
            </a:r>
            <a:r>
              <a:rPr lang="en-US" sz="2000" dirty="0" err="1" smtClean="0"/>
              <a:t>ObjectInputStream</a:t>
            </a:r>
            <a:r>
              <a:rPr lang="en-US" sz="2000" dirty="0" smtClean="0"/>
              <a:t>(</a:t>
            </a:r>
            <a:r>
              <a:rPr lang="en-US" sz="2000" dirty="0" err="1" smtClean="0"/>
              <a:t>fis</a:t>
            </a:r>
            <a:r>
              <a:rPr lang="en-US" sz="2000" dirty="0" smtClean="0"/>
              <a:t>);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 err="1" smtClean="0"/>
              <a:t>VehicleA</a:t>
            </a:r>
            <a:r>
              <a:rPr lang="en-US" sz="2000" dirty="0" smtClean="0"/>
              <a:t>  </a:t>
            </a:r>
            <a:r>
              <a:rPr lang="en-US" sz="2000" dirty="0" err="1" smtClean="0"/>
              <a:t>vh</a:t>
            </a:r>
            <a:r>
              <a:rPr lang="en-US" sz="2000" dirty="0" smtClean="0"/>
              <a:t> = (</a:t>
            </a:r>
            <a:r>
              <a:rPr lang="en-US" sz="2000" dirty="0" err="1" smtClean="0"/>
              <a:t>VehicleA</a:t>
            </a:r>
            <a:r>
              <a:rPr lang="en-US" sz="2000" dirty="0" smtClean="0"/>
              <a:t>)</a:t>
            </a:r>
            <a:r>
              <a:rPr lang="en-US" sz="2000" dirty="0" err="1" smtClean="0"/>
              <a:t>ois.readObject</a:t>
            </a:r>
            <a:r>
              <a:rPr lang="en-US" sz="2000" dirty="0" smtClean="0"/>
              <a:t>();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 err="1" smtClean="0"/>
              <a:t>ois.close</a:t>
            </a:r>
            <a:r>
              <a:rPr lang="en-US" sz="2000" dirty="0" smtClean="0"/>
              <a:t>();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 smtClean="0"/>
              <a:t>}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 smtClean="0"/>
              <a:t>Catch(</a:t>
            </a:r>
            <a:r>
              <a:rPr lang="en-US" sz="2000" dirty="0" err="1" smtClean="0"/>
              <a:t>IOException</a:t>
            </a:r>
            <a:r>
              <a:rPr lang="en-US" sz="2000" dirty="0" smtClean="0"/>
              <a:t> </a:t>
            </a:r>
            <a:r>
              <a:rPr lang="en-US" sz="2000" dirty="0" err="1" smtClean="0"/>
              <a:t>ioe</a:t>
            </a:r>
            <a:r>
              <a:rPr lang="en-US" sz="2000" dirty="0" smtClean="0"/>
              <a:t>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 smtClean="0"/>
              <a:t>{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 smtClean="0"/>
              <a:t>	</a:t>
            </a:r>
            <a:r>
              <a:rPr lang="en-US" sz="2000" dirty="0" err="1" smtClean="0"/>
              <a:t>System.out.println</a:t>
            </a:r>
            <a:r>
              <a:rPr lang="en-US" sz="2000" dirty="0" smtClean="0"/>
              <a:t>(“Error writing into file”);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 smtClean="0"/>
              <a:t>      </a:t>
            </a:r>
            <a:r>
              <a:rPr lang="en-US" sz="2000" dirty="0" err="1" smtClean="0"/>
              <a:t>ioe.printStackTrace</a:t>
            </a:r>
            <a:r>
              <a:rPr lang="en-US" sz="2000" dirty="0" smtClean="0"/>
              <a:t>();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 smtClean="0"/>
              <a:t>}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000" dirty="0" smtClean="0"/>
              <a:t>We can output the object’s  attributes and observe that  the values are the same as the ones we wrote in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D5AD6E4-4D42-4D62-ABDB-5C60F159389D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32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2049</Words>
  <Application>Microsoft Office PowerPoint</Application>
  <PresentationFormat>On-screen Show (4:3)</PresentationFormat>
  <Paragraphs>395</Paragraphs>
  <Slides>32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Courier New</vt:lpstr>
      <vt:lpstr>Times New Roman</vt:lpstr>
      <vt:lpstr>Office Theme</vt:lpstr>
      <vt:lpstr>CS 116 Object Oriented Programming II</vt:lpstr>
      <vt:lpstr>Topics</vt:lpstr>
      <vt:lpstr>Binary Coded Files.</vt:lpstr>
      <vt:lpstr>Binary Coded Files</vt:lpstr>
      <vt:lpstr>Binary Coded Records</vt:lpstr>
      <vt:lpstr>Binary Coded Records</vt:lpstr>
      <vt:lpstr>Binary Coded data. </vt:lpstr>
      <vt:lpstr>Binary Coded Data</vt:lpstr>
      <vt:lpstr>DataOutputStream Class Methods</vt:lpstr>
      <vt:lpstr>Reading Binary Coded Data</vt:lpstr>
      <vt:lpstr>DataInputStream class</vt:lpstr>
      <vt:lpstr>While loop</vt:lpstr>
      <vt:lpstr>DataInputStream class</vt:lpstr>
      <vt:lpstr>Serialization</vt:lpstr>
      <vt:lpstr>Serialization</vt:lpstr>
      <vt:lpstr>Writing Objects to a File</vt:lpstr>
      <vt:lpstr>The ObjectOutputStream Class</vt:lpstr>
      <vt:lpstr> Constructors for Writing Objects </vt:lpstr>
      <vt:lpstr>The writeObject Method</vt:lpstr>
      <vt:lpstr>Writing Objects</vt:lpstr>
      <vt:lpstr>Writing Objects</vt:lpstr>
      <vt:lpstr>Writing Objects</vt:lpstr>
      <vt:lpstr>Omitting Data from the File</vt:lpstr>
      <vt:lpstr>Reading Objects from a File</vt:lpstr>
      <vt:lpstr> Constructors for Reading Objects </vt:lpstr>
      <vt:lpstr>The  readObject Method</vt:lpstr>
      <vt:lpstr>Read Objects</vt:lpstr>
      <vt:lpstr>Read Objects cont.</vt:lpstr>
      <vt:lpstr>Example Of Writing Objects</vt:lpstr>
      <vt:lpstr>Example Of Writing Objects</vt:lpstr>
      <vt:lpstr>Example Of Writing Objects</vt:lpstr>
      <vt:lpstr>Example of Reading the Object From the File</vt:lpstr>
    </vt:vector>
  </TitlesOfParts>
  <Company>IIT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 George Koutsogiannakis</dc:creator>
  <cp:lastModifiedBy>john korah</cp:lastModifiedBy>
  <cp:revision>66</cp:revision>
  <dcterms:created xsi:type="dcterms:W3CDTF">2008-11-06T16:21:05Z</dcterms:created>
  <dcterms:modified xsi:type="dcterms:W3CDTF">2016-04-06T16:18:13Z</dcterms:modified>
</cp:coreProperties>
</file>