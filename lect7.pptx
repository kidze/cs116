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9" r:id="rId3"/>
    <p:sldId id="270" r:id="rId4"/>
    <p:sldId id="272" r:id="rId5"/>
    <p:sldId id="271" r:id="rId6"/>
    <p:sldId id="273" r:id="rId7"/>
    <p:sldId id="258" r:id="rId8"/>
    <p:sldId id="260" r:id="rId9"/>
    <p:sldId id="261" r:id="rId10"/>
    <p:sldId id="262" r:id="rId11"/>
    <p:sldId id="274" r:id="rId12"/>
    <p:sldId id="275" r:id="rId13"/>
    <p:sldId id="276" r:id="rId14"/>
    <p:sldId id="277" r:id="rId15"/>
    <p:sldId id="259" r:id="rId16"/>
    <p:sldId id="264" r:id="rId17"/>
    <p:sldId id="265" r:id="rId18"/>
    <p:sldId id="26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69ED95-EE71-49A4-8E99-A80719FE212A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BF0A11-36FC-44B5-B51E-9B9CAFD5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76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30C0811-93ED-4509-9D33-AA6E81F6EBB7}" type="slidenum">
              <a:rPr lang="en-US" altLang="en-US"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621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5E68E04-22C7-4C28-9F87-65E449FD8987}" type="slidenum">
              <a:rPr lang="en-US" altLang="en-US">
                <a:latin typeface="Calibri" panose="020F0502020204030204" pitchFamily="34" charset="0"/>
              </a:rPr>
              <a:pPr eaLnBrk="1" hangingPunct="1"/>
              <a:t>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586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D626F8A-D7FE-43BA-8801-F62D7EA6143A}" type="slidenum">
              <a:rPr lang="en-US" altLang="en-US"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65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59F403F-E302-4322-AAD5-BC97B09B41F3}" type="slidenum">
              <a:rPr lang="en-US" altLang="en-US">
                <a:latin typeface="Calibri" panose="020F0502020204030204" pitchFamily="34" charset="0"/>
              </a:rPr>
              <a:pPr eaLnBrk="1" hangingPunct="1"/>
              <a:t>10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122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943BA16-DC94-422E-BE4D-E15DB49C40DC}" type="slidenum">
              <a:rPr lang="en-US" altLang="en-US">
                <a:latin typeface="Calibri" panose="020F0502020204030204" pitchFamily="34" charset="0"/>
              </a:rPr>
              <a:pPr eaLnBrk="1" hangingPunct="1"/>
              <a:t>15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538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52936FA-D09A-440F-B21B-5A358C029E2D}" type="slidenum">
              <a:rPr lang="en-US" altLang="en-US">
                <a:latin typeface="Calibri" panose="020F0502020204030204" pitchFamily="34" charset="0"/>
              </a:rPr>
              <a:pPr eaLnBrk="1" hangingPunct="1"/>
              <a:t>16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357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940668D-3E5E-4F45-A485-B7119EB85503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761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B36C888-0E58-4BE8-91D8-F4092DC17360}" type="slidenum">
              <a:rPr lang="en-US" altLang="en-US"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590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06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727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76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87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87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052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2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7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63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373F9-0393-4C72-86F5-A4D2DCD5D65C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01EAB-098E-4C23-9E94-A1D65752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40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373F9-0393-4C72-86F5-A4D2DCD5D65C}" type="datetimeFigureOut">
              <a:rPr lang="en-US" smtClean="0"/>
              <a:t>3/2/2016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01EAB-098E-4C23-9E94-A1D65752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09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CS 116</a:t>
            </a:r>
            <a:br>
              <a:rPr lang="en-US" dirty="0" smtClean="0"/>
            </a:br>
            <a:r>
              <a:rPr lang="en-US" dirty="0" smtClean="0"/>
              <a:t>Object Oriented Programming II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1860924" y="6248400"/>
            <a:ext cx="88785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u="sng" dirty="0" smtClean="0">
                <a:latin typeface="Calibri" panose="020F0502020204030204" pitchFamily="34" charset="0"/>
              </a:rPr>
              <a:t>Acknowledgement: Contains materials provided by George </a:t>
            </a:r>
            <a:r>
              <a:rPr lang="en-US" altLang="en-US" b="1" u="sng" dirty="0" err="1" smtClean="0">
                <a:latin typeface="Calibri" panose="020F0502020204030204" pitchFamily="34" charset="0"/>
              </a:rPr>
              <a:t>Koutsogiannakis</a:t>
            </a:r>
            <a:r>
              <a:rPr lang="en-US" altLang="en-US" b="1" u="sng" dirty="0" smtClean="0">
                <a:latin typeface="Calibri" panose="020F0502020204030204" pitchFamily="34" charset="0"/>
              </a:rPr>
              <a:t> and Matt Bauer</a:t>
            </a:r>
            <a:endParaRPr lang="en-US" altLang="en-US" b="1" u="sng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84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Abstract Classes and 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61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of Figures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You have been asked to lead a team of software engineers to design a database of figures</a:t>
            </a:r>
          </a:p>
          <a:p>
            <a:pPr lvl="1"/>
            <a:r>
              <a:rPr lang="en-US" dirty="0" smtClean="0"/>
              <a:t>Part of a graphical software</a:t>
            </a:r>
          </a:p>
          <a:p>
            <a:r>
              <a:rPr lang="en-US" dirty="0" smtClean="0"/>
              <a:t>Purpose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o store position of various figures</a:t>
            </a:r>
          </a:p>
          <a:p>
            <a:pPr lvl="1"/>
            <a:r>
              <a:rPr lang="en-US" dirty="0" smtClean="0"/>
              <a:t>Store dimensions of the figure (length, breadth, radius, </a:t>
            </a:r>
            <a:r>
              <a:rPr lang="en-US" dirty="0" err="1" smtClean="0"/>
              <a:t>etc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Calculate area of the figures</a:t>
            </a:r>
          </a:p>
          <a:p>
            <a:r>
              <a:rPr lang="en-US" dirty="0" smtClean="0"/>
              <a:t>Challenge</a:t>
            </a:r>
          </a:p>
          <a:p>
            <a:pPr lvl="1"/>
            <a:r>
              <a:rPr lang="en-US" dirty="0" smtClean="0"/>
              <a:t>Figures have many, many shapes</a:t>
            </a:r>
          </a:p>
          <a:p>
            <a:pPr lvl="2"/>
            <a:r>
              <a:rPr lang="en-US" dirty="0" smtClean="0"/>
              <a:t>Circle, rectangle, square etc.</a:t>
            </a:r>
          </a:p>
          <a:p>
            <a:pPr lvl="1"/>
            <a:r>
              <a:rPr lang="en-US" dirty="0" smtClean="0"/>
              <a:t>Each figure has a different formula to calculate area and perimeter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502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of </a:t>
            </a:r>
            <a:r>
              <a:rPr lang="en-US" dirty="0" smtClean="0"/>
              <a:t>Figures Registry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3DA26-B8B9-460C-A6E0-61E812BCCC25}" type="slidenum">
              <a:rPr lang="en-US" altLang="en-US" smtClean="0"/>
              <a:pPr/>
              <a:t>4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51584" y="1924368"/>
                <a:ext cx="26670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Square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X Coordinate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Y Coordinate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Distance from a point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Length of a side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 smtClean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No. of sides (s)=4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Area=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Perimeter=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1584" y="1924368"/>
                <a:ext cx="2667000" cy="2308324"/>
              </a:xfrm>
              <a:prstGeom prst="rect">
                <a:avLst/>
              </a:prstGeom>
              <a:blipFill rotWithShape="0">
                <a:blip r:embed="rId2"/>
                <a:stretch>
                  <a:fillRect l="-1826" t="-1587" b="-3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162800" y="1910080"/>
                <a:ext cx="3675246" cy="2761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Equilateral Triangle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X Coordinate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Y Coordinate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Distance from a point</a:t>
                </a:r>
                <a:endParaRPr lang="en-US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Length of a side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 smtClean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No. of sides (s</a:t>
                </a:r>
                <a:r>
                  <a:rPr lang="en-US" dirty="0" smtClean="0"/>
                  <a:t>)=3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Area=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Perimeter=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1910080"/>
                <a:ext cx="3675246" cy="2761846"/>
              </a:xfrm>
              <a:prstGeom prst="rect">
                <a:avLst/>
              </a:prstGeom>
              <a:blipFill rotWithShape="0">
                <a:blip r:embed="rId3"/>
                <a:stretch>
                  <a:fillRect l="-1327" t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418584" y="3758633"/>
                <a:ext cx="26670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Circle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X Coordinate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Y Coordinate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Distance from a point</a:t>
                </a:r>
                <a:endParaRPr lang="en-US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radius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 smtClean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Area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Perimeter=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584" y="3758633"/>
                <a:ext cx="2667000" cy="2308324"/>
              </a:xfrm>
              <a:prstGeom prst="rect">
                <a:avLst/>
              </a:prstGeom>
              <a:blipFill rotWithShape="0">
                <a:blip r:embed="rId4"/>
                <a:stretch>
                  <a:fillRect l="-2059" t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2048256" y="2276855"/>
            <a:ext cx="2370328" cy="764727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58293" y="2237264"/>
            <a:ext cx="2195845" cy="804318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01297" y="4084800"/>
            <a:ext cx="2267394" cy="82408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48814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of Figures Registry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95091"/>
          </a:xfrm>
        </p:spPr>
        <p:txBody>
          <a:bodyPr/>
          <a:lstStyle/>
          <a:p>
            <a:r>
              <a:rPr lang="en-US" dirty="0" smtClean="0"/>
              <a:t>Possible way forward</a:t>
            </a:r>
          </a:p>
          <a:p>
            <a:pPr lvl="1"/>
            <a:r>
              <a:rPr lang="en-US" dirty="0" smtClean="0"/>
              <a:t>Define a superclass called Figure that encapsulates the common attributes x coordinate and y coordinate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63567" y="3068428"/>
            <a:ext cx="5468754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public class Figure{</a:t>
            </a:r>
          </a:p>
          <a:p>
            <a:r>
              <a:rPr lang="en-US" dirty="0"/>
              <a:t>	private </a:t>
            </a:r>
            <a:r>
              <a:rPr lang="en-US" dirty="0" err="1"/>
              <a:t>int</a:t>
            </a:r>
            <a:r>
              <a:rPr lang="en-US" dirty="0"/>
              <a:t> x;</a:t>
            </a:r>
          </a:p>
          <a:p>
            <a:r>
              <a:rPr lang="en-US" dirty="0"/>
              <a:t>	private </a:t>
            </a:r>
            <a:r>
              <a:rPr lang="en-US" dirty="0" err="1"/>
              <a:t>int</a:t>
            </a:r>
            <a:r>
              <a:rPr lang="en-US" dirty="0"/>
              <a:t> y;</a:t>
            </a:r>
          </a:p>
          <a:p>
            <a:r>
              <a:rPr lang="en-US" dirty="0"/>
              <a:t>	</a:t>
            </a:r>
            <a:r>
              <a:rPr lang="en-US" dirty="0" smtClean="0"/>
              <a:t>public </a:t>
            </a:r>
            <a:r>
              <a:rPr lang="en-US" dirty="0"/>
              <a:t>Figure(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xcor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ycor</a:t>
            </a:r>
            <a:r>
              <a:rPr lang="en-US" dirty="0"/>
              <a:t>){</a:t>
            </a:r>
          </a:p>
          <a:p>
            <a:r>
              <a:rPr lang="en-US" dirty="0"/>
              <a:t>		</a:t>
            </a:r>
            <a:r>
              <a:rPr lang="en-US" dirty="0" err="1"/>
              <a:t>this.x</a:t>
            </a:r>
            <a:r>
              <a:rPr lang="en-US" dirty="0"/>
              <a:t>=</a:t>
            </a:r>
            <a:r>
              <a:rPr lang="en-US" dirty="0" err="1"/>
              <a:t>xcor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this.y</a:t>
            </a:r>
            <a:r>
              <a:rPr lang="en-US" dirty="0"/>
              <a:t>=</a:t>
            </a:r>
            <a:r>
              <a:rPr lang="en-US" dirty="0" err="1"/>
              <a:t>ycor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  <a:r>
              <a:rPr lang="en-US" dirty="0" smtClean="0"/>
              <a:t>}</a:t>
            </a:r>
          </a:p>
          <a:p>
            <a:r>
              <a:rPr lang="en-US" dirty="0" smtClean="0"/>
              <a:t>//accessor and </a:t>
            </a:r>
            <a:r>
              <a:rPr lang="en-US" dirty="0" err="1" smtClean="0"/>
              <a:t>mutators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public float distance(</a:t>
            </a:r>
            <a:r>
              <a:rPr lang="en-US" dirty="0" err="1" smtClean="0"/>
              <a:t>int</a:t>
            </a:r>
            <a:r>
              <a:rPr lang="en-US" dirty="0" smtClean="0"/>
              <a:t> x1, </a:t>
            </a:r>
            <a:r>
              <a:rPr lang="en-US" dirty="0" err="1" smtClean="0"/>
              <a:t>int</a:t>
            </a:r>
            <a:r>
              <a:rPr lang="en-US" dirty="0" smtClean="0"/>
              <a:t> y1){</a:t>
            </a:r>
          </a:p>
          <a:p>
            <a:r>
              <a:rPr lang="en-US" dirty="0"/>
              <a:t>	</a:t>
            </a:r>
            <a:r>
              <a:rPr lang="en-US" dirty="0" smtClean="0"/>
              <a:t>//code to calculate the Euclid distance between two points.</a:t>
            </a:r>
          </a:p>
          <a:p>
            <a:r>
              <a:rPr lang="en-US" dirty="0"/>
              <a:t>	</a:t>
            </a:r>
            <a:r>
              <a:rPr lang="en-US" dirty="0" smtClean="0"/>
              <a:t>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0126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of Figures Registry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Now, you can create subclasses Square, </a:t>
            </a:r>
            <a:r>
              <a:rPr lang="en-US" dirty="0" err="1" smtClean="0"/>
              <a:t>EquiTriangle</a:t>
            </a:r>
            <a:r>
              <a:rPr lang="en-US" dirty="0" smtClean="0"/>
              <a:t> and Circle that inherits the superclass Figure</a:t>
            </a:r>
          </a:p>
          <a:p>
            <a:pPr lvl="1"/>
            <a:r>
              <a:rPr lang="en-US" dirty="0" smtClean="0"/>
              <a:t>It is expected that the subclasses will have additional attributes (such as length for class Square and radius for class Circle)</a:t>
            </a:r>
          </a:p>
          <a:p>
            <a:pPr lvl="1"/>
            <a:r>
              <a:rPr lang="en-US" dirty="0" smtClean="0"/>
              <a:t>Subclasses will have additional methods (such as area and perimeter implementing the appropriate formula)</a:t>
            </a:r>
          </a:p>
          <a:p>
            <a:r>
              <a:rPr lang="en-US" dirty="0" smtClean="0"/>
              <a:t>How do you force the subclasses to implement area and perimeter?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866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i="1"/>
              <a:t>abstract</a:t>
            </a:r>
            <a:r>
              <a:rPr lang="en-US" altLang="en-US" sz="4000"/>
              <a:t> Classes and Methods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An </a:t>
            </a:r>
            <a:r>
              <a:rPr lang="en-US" altLang="en-US" i="1" dirty="0" smtClean="0">
                <a:solidFill>
                  <a:schemeClr val="tx2"/>
                </a:solidFill>
              </a:rPr>
              <a:t>abstract</a:t>
            </a:r>
            <a:r>
              <a:rPr lang="en-US" altLang="en-US" dirty="0" smtClean="0">
                <a:solidFill>
                  <a:schemeClr val="tx2"/>
                </a:solidFill>
              </a:rPr>
              <a:t> class</a:t>
            </a:r>
            <a:r>
              <a:rPr lang="en-US" altLang="en-US" dirty="0" smtClean="0"/>
              <a:t> is a class that is not completely implemented.</a:t>
            </a:r>
          </a:p>
          <a:p>
            <a:r>
              <a:rPr lang="en-US" dirty="0" smtClean="0"/>
              <a:t>Purpose </a:t>
            </a:r>
            <a:r>
              <a:rPr lang="en-US" dirty="0"/>
              <a:t>is to provide an appropriate superclass from which other classes can inherit and thus share a common design.</a:t>
            </a:r>
            <a:endParaRPr lang="en-US" altLang="en-US" dirty="0" smtClean="0"/>
          </a:p>
          <a:p>
            <a:r>
              <a:rPr lang="en-US" altLang="en-US" dirty="0" smtClean="0"/>
              <a:t>Usually, the abstract class contains at least one </a:t>
            </a:r>
            <a:r>
              <a:rPr lang="en-US" altLang="en-US" i="1" dirty="0" smtClean="0">
                <a:solidFill>
                  <a:schemeClr val="tx2"/>
                </a:solidFill>
              </a:rPr>
              <a:t>abstract</a:t>
            </a:r>
            <a:r>
              <a:rPr lang="en-US" altLang="en-US" dirty="0" smtClean="0">
                <a:solidFill>
                  <a:schemeClr val="tx2"/>
                </a:solidFill>
              </a:rPr>
              <a:t> method</a:t>
            </a:r>
            <a:r>
              <a:rPr lang="en-US" altLang="en-US" dirty="0" smtClean="0"/>
              <a:t>.</a:t>
            </a:r>
          </a:p>
          <a:p>
            <a:pPr lvl="1" eaLnBrk="1" hangingPunct="1"/>
            <a:r>
              <a:rPr lang="en-US" altLang="en-US" dirty="0" smtClean="0"/>
              <a:t>An </a:t>
            </a:r>
            <a:r>
              <a:rPr lang="en-US" altLang="en-US" i="1" dirty="0" smtClean="0"/>
              <a:t>abstract</a:t>
            </a:r>
            <a:r>
              <a:rPr lang="en-US" altLang="en-US" dirty="0" smtClean="0"/>
              <a:t> method provides specification but does not provide an implementation.</a:t>
            </a:r>
          </a:p>
          <a:p>
            <a:pPr lvl="1" eaLnBrk="1" hangingPunct="1"/>
            <a:r>
              <a:rPr lang="en-US" altLang="en-US" dirty="0" smtClean="0"/>
              <a:t>The </a:t>
            </a:r>
            <a:r>
              <a:rPr lang="en-US" altLang="en-US" i="1" dirty="0" smtClean="0"/>
              <a:t>abstract </a:t>
            </a:r>
            <a:r>
              <a:rPr lang="en-US" altLang="en-US" dirty="0" smtClean="0"/>
              <a:t>method is used as a pattern for a method the subclasses should implement.</a:t>
            </a:r>
          </a:p>
          <a:p>
            <a:r>
              <a:rPr lang="en-US" altLang="en-US" dirty="0" smtClean="0"/>
              <a:t>A class </a:t>
            </a:r>
            <a:r>
              <a:rPr lang="en-US" altLang="en-US" u="sng" dirty="0" smtClean="0"/>
              <a:t>with even one abstract method</a:t>
            </a:r>
            <a:r>
              <a:rPr lang="en-US" altLang="en-US" dirty="0" smtClean="0"/>
              <a:t> should be declared abstract.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B43D52-1496-4CD6-A64F-ABB81974CFF6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673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Defining an </a:t>
            </a:r>
            <a:r>
              <a:rPr lang="en-US" altLang="en-US" sz="4000" i="1"/>
              <a:t>abstract</a:t>
            </a:r>
            <a:r>
              <a:rPr lang="en-US" altLang="en-US" sz="4000"/>
              <a:t> class</a:t>
            </a:r>
            <a:r>
              <a:rPr lang="en-US" altLang="en-US" smtClean="0"/>
              <a:t> 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mtClean="0"/>
              <a:t>To declare a class as </a:t>
            </a:r>
            <a:r>
              <a:rPr lang="en-US" altLang="en-US" i="1" smtClean="0"/>
              <a:t>abstract</a:t>
            </a:r>
            <a:r>
              <a:rPr lang="en-US" altLang="en-US" smtClean="0"/>
              <a:t>, include the </a:t>
            </a:r>
            <a:r>
              <a:rPr lang="en-US" altLang="en-US" i="1" smtClean="0"/>
              <a:t>abstract</a:t>
            </a:r>
            <a:r>
              <a:rPr lang="en-US" altLang="en-US" smtClean="0"/>
              <a:t> keyword in the class header:</a:t>
            </a:r>
          </a:p>
          <a:p>
            <a:pPr eaLnBrk="1" hangingPunct="1">
              <a:buFontTx/>
              <a:buNone/>
            </a:pPr>
            <a:endParaRPr lang="en-US" altLang="en-US" smtClean="0"/>
          </a:p>
          <a:p>
            <a:pPr eaLnBrk="1" hangingPunct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accessModifier abstract class ClassName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{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 // class body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}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F18EA8F-953F-410F-B213-E9C9260EA1A7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986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Defining an </a:t>
            </a:r>
            <a:r>
              <a:rPr lang="en-US" altLang="en-US" sz="4000" i="1"/>
              <a:t>abstract</a:t>
            </a:r>
            <a:r>
              <a:rPr lang="en-US" altLang="en-US" sz="4000"/>
              <a:t> Method</a:t>
            </a:r>
            <a:r>
              <a:rPr lang="en-US" altLang="en-US" smtClean="0"/>
              <a:t> </a:t>
            </a:r>
          </a:p>
        </p:txBody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lnSpcReduction="10000"/>
          </a:bodyPr>
          <a:lstStyle/>
          <a:p>
            <a:pPr>
              <a:buNone/>
              <a:defRPr/>
            </a:pPr>
            <a:r>
              <a:rPr lang="en-US" dirty="0"/>
              <a:t>To declare a method as abstract, include the </a:t>
            </a:r>
            <a:r>
              <a:rPr lang="en-US" i="1" dirty="0"/>
              <a:t>abstract</a:t>
            </a:r>
            <a:r>
              <a:rPr lang="en-US" dirty="0"/>
              <a:t> keyword in the method header, and end the header with a semicolon:</a:t>
            </a:r>
          </a:p>
          <a:p>
            <a:pPr>
              <a:buNone/>
              <a:defRPr/>
            </a:pPr>
            <a:endParaRPr lang="en-US" dirty="0"/>
          </a:p>
          <a:p>
            <a:pPr>
              <a:buNone/>
              <a:defRPr/>
            </a:pPr>
            <a:r>
              <a:rPr lang="en-US" dirty="0"/>
              <a:t>  </a:t>
            </a:r>
            <a:r>
              <a:rPr lang="en-US" sz="2000" dirty="0" err="1">
                <a:latin typeface="Courier New" pitchFamily="49" charset="0"/>
              </a:rPr>
              <a:t>accessModifier</a:t>
            </a:r>
            <a:r>
              <a:rPr lang="en-US" sz="2000" dirty="0">
                <a:latin typeface="Courier New" pitchFamily="49" charset="0"/>
              </a:rPr>
              <a:t> abstract </a:t>
            </a:r>
            <a:r>
              <a:rPr lang="en-US" sz="2000" dirty="0" err="1">
                <a:latin typeface="Courier New" pitchFamily="49" charset="0"/>
              </a:rPr>
              <a:t>returnType</a:t>
            </a:r>
            <a:r>
              <a:rPr lang="en-US" sz="2000" dirty="0">
                <a:latin typeface="Courier New" pitchFamily="49" charset="0"/>
              </a:rPr>
              <a:t> </a:t>
            </a:r>
          </a:p>
          <a:p>
            <a:pPr>
              <a:buNone/>
              <a:defRPr/>
            </a:pPr>
            <a:r>
              <a:rPr lang="en-US" sz="2000" dirty="0">
                <a:latin typeface="Courier New" pitchFamily="49" charset="0"/>
              </a:rPr>
              <a:t>                 </a:t>
            </a:r>
            <a:r>
              <a:rPr lang="en-US" sz="2000" dirty="0" err="1">
                <a:latin typeface="Courier New" pitchFamily="49" charset="0"/>
              </a:rPr>
              <a:t>methodName</a:t>
            </a:r>
            <a:r>
              <a:rPr lang="en-US" sz="2000" dirty="0">
                <a:latin typeface="Courier New" pitchFamily="49" charset="0"/>
              </a:rPr>
              <a:t>( argument list );</a:t>
            </a:r>
          </a:p>
          <a:p>
            <a:pPr>
              <a:buNone/>
              <a:defRPr/>
            </a:pPr>
            <a:endParaRPr lang="en-US" sz="2000" dirty="0">
              <a:latin typeface="Courier New" pitchFamily="49" charset="0"/>
            </a:endParaRPr>
          </a:p>
          <a:p>
            <a:pPr>
              <a:buNone/>
              <a:defRPr/>
            </a:pPr>
            <a:r>
              <a:rPr lang="en-US" dirty="0"/>
              <a:t>Note: </a:t>
            </a:r>
          </a:p>
          <a:p>
            <a:pPr lvl="1">
              <a:defRPr/>
            </a:pPr>
            <a:r>
              <a:rPr lang="en-US" dirty="0"/>
              <a:t>The semicolon at the end of the header indicates that the method has no code.</a:t>
            </a:r>
          </a:p>
          <a:p>
            <a:pPr lvl="1">
              <a:defRPr/>
            </a:pPr>
            <a:r>
              <a:rPr lang="en-US" dirty="0"/>
              <a:t>We do not use opening and closing curly braces </a:t>
            </a:r>
            <a:br>
              <a:rPr lang="en-US" dirty="0"/>
            </a:br>
            <a:r>
              <a:rPr lang="en-US" sz="2000" dirty="0">
                <a:latin typeface="Courier New" pitchFamily="49" charset="0"/>
              </a:rPr>
              <a:t>{ }.</a:t>
            </a:r>
          </a:p>
          <a:p>
            <a:pPr>
              <a:buNone/>
              <a:defRPr/>
            </a:pPr>
            <a:endParaRPr lang="en-US" sz="2000" dirty="0">
              <a:latin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2149461-D195-4C82-B5A6-B80DA52BE010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86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42" y="434553"/>
            <a:ext cx="5851358" cy="1325563"/>
          </a:xfrm>
        </p:spPr>
        <p:txBody>
          <a:bodyPr/>
          <a:lstStyle/>
          <a:p>
            <a:pPr eaLnBrk="1" hangingPunct="1"/>
            <a:r>
              <a:rPr lang="en-US" altLang="en-US" sz="4000" dirty="0" smtClean="0"/>
              <a:t>A Possible Design of the Figures Database</a:t>
            </a:r>
            <a:endParaRPr lang="en-US" altLang="en-US" sz="4000" dirty="0"/>
          </a:p>
        </p:txBody>
      </p:sp>
      <p:sp>
        <p:nvSpPr>
          <p:cNvPr id="483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9440" y="2248067"/>
            <a:ext cx="3858928" cy="4351338"/>
          </a:xfrm>
        </p:spPr>
        <p:txBody>
          <a:bodyPr rtlCol="0">
            <a:normAutofit fontScale="92500"/>
          </a:bodyPr>
          <a:lstStyle/>
          <a:p>
            <a:pPr>
              <a:buNone/>
              <a:defRPr/>
            </a:pPr>
            <a:r>
              <a:rPr lang="en-US" dirty="0"/>
              <a:t>We can define a Figure</a:t>
            </a:r>
            <a:br>
              <a:rPr lang="en-US" dirty="0"/>
            </a:br>
            <a:r>
              <a:rPr lang="en-US" dirty="0"/>
              <a:t>hierarchy.</a:t>
            </a:r>
          </a:p>
          <a:p>
            <a:pPr>
              <a:defRPr/>
            </a:pPr>
            <a:r>
              <a:rPr lang="en-US" dirty="0"/>
              <a:t>The superclass is </a:t>
            </a:r>
            <a:r>
              <a:rPr lang="en-US" i="1" dirty="0"/>
              <a:t>Figure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which is </a:t>
            </a:r>
            <a:r>
              <a:rPr lang="en-US" i="1" dirty="0"/>
              <a:t>abstract. </a:t>
            </a:r>
            <a:r>
              <a:rPr lang="en-US" dirty="0"/>
              <a:t>(In </a:t>
            </a:r>
            <a:r>
              <a:rPr lang="en-US" dirty="0" smtClean="0"/>
              <a:t>the diagram</a:t>
            </a:r>
            <a:r>
              <a:rPr lang="en-US" dirty="0"/>
              <a:t>, </a:t>
            </a:r>
            <a:r>
              <a:rPr lang="en-US" i="1" dirty="0"/>
              <a:t>Figure</a:t>
            </a:r>
            <a:r>
              <a:rPr lang="en-US" dirty="0"/>
              <a:t> </a:t>
            </a:r>
            <a:r>
              <a:rPr lang="en-US" dirty="0" smtClean="0"/>
              <a:t>is an orange box to </a:t>
            </a:r>
            <a:r>
              <a:rPr lang="en-US" dirty="0"/>
              <a:t>indicate </a:t>
            </a:r>
            <a:br>
              <a:rPr lang="en-US" dirty="0"/>
            </a:br>
            <a:r>
              <a:rPr lang="en-US" dirty="0"/>
              <a:t>that it is </a:t>
            </a:r>
            <a:r>
              <a:rPr lang="en-US" i="1" dirty="0"/>
              <a:t>abstract</a:t>
            </a:r>
            <a:r>
              <a:rPr lang="en-US" dirty="0"/>
              <a:t>.)</a:t>
            </a:r>
          </a:p>
          <a:p>
            <a:pPr>
              <a:defRPr/>
            </a:pPr>
            <a:r>
              <a:rPr lang="en-US" dirty="0"/>
              <a:t>We will derive </a:t>
            </a:r>
            <a:r>
              <a:rPr lang="en-US" dirty="0" smtClean="0"/>
              <a:t>three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subclasses: </a:t>
            </a:r>
            <a:r>
              <a:rPr lang="en-US" i="1" dirty="0" smtClean="0"/>
              <a:t>Circle,</a:t>
            </a:r>
            <a:r>
              <a:rPr lang="en-US" dirty="0" smtClean="0"/>
              <a:t> </a:t>
            </a:r>
            <a:r>
              <a:rPr lang="en-US" i="1" dirty="0" err="1" smtClean="0"/>
              <a:t>EquiTriangle</a:t>
            </a:r>
            <a:r>
              <a:rPr lang="en-US" dirty="0" smtClean="0"/>
              <a:t> and</a:t>
            </a:r>
            <a:r>
              <a:rPr lang="en-US" dirty="0"/>
              <a:t/>
            </a:r>
            <a:br>
              <a:rPr lang="en-US" dirty="0"/>
            </a:br>
            <a:r>
              <a:rPr lang="en-US" i="1" dirty="0" smtClean="0"/>
              <a:t>Square</a:t>
            </a:r>
            <a:endParaRPr lang="en-US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AC2D04D-7BC6-4498-9463-35DA84720F95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10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264871"/>
              </p:ext>
            </p:extLst>
          </p:nvPr>
        </p:nvGraphicFramePr>
        <p:xfrm>
          <a:off x="7381775" y="922270"/>
          <a:ext cx="1491916" cy="67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1916"/>
              </a:tblGrid>
              <a:tr h="2528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Object</a:t>
                      </a:r>
                      <a:endParaRPr lang="en-US" sz="1400" dirty="0"/>
                    </a:p>
                  </a:txBody>
                  <a:tcPr/>
                </a:tc>
              </a:tr>
              <a:tr h="2528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108913"/>
              </p:ext>
            </p:extLst>
          </p:nvPr>
        </p:nvGraphicFramePr>
        <p:xfrm>
          <a:off x="6175811" y="1992728"/>
          <a:ext cx="3892216" cy="1407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9221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Figure</a:t>
                      </a:r>
                      <a:endParaRPr lang="en-US" sz="1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-</a:t>
                      </a:r>
                      <a:r>
                        <a:rPr lang="en-US" sz="1400" dirty="0" smtClean="0"/>
                        <a:t>x :</a:t>
                      </a:r>
                      <a:r>
                        <a:rPr lang="en-US" sz="1400" dirty="0" err="1" smtClean="0"/>
                        <a:t>int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-</a:t>
                      </a:r>
                      <a:r>
                        <a:rPr lang="en-US" sz="1400" dirty="0" smtClean="0"/>
                        <a:t>y :</a:t>
                      </a:r>
                      <a:r>
                        <a:rPr lang="en-US" sz="1400" dirty="0" err="1" smtClean="0"/>
                        <a:t>int</a:t>
                      </a:r>
                      <a:endParaRPr lang="en-US" sz="1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+Constructors, +accessor/</a:t>
                      </a:r>
                      <a:r>
                        <a:rPr lang="en-US" sz="1400" dirty="0" err="1" smtClean="0"/>
                        <a:t>Mutator</a:t>
                      </a:r>
                      <a:r>
                        <a:rPr lang="en-US" sz="1400" dirty="0" smtClean="0"/>
                        <a:t> methods</a:t>
                      </a:r>
                    </a:p>
                    <a:p>
                      <a:r>
                        <a:rPr lang="en-US" sz="1400" dirty="0" smtClean="0"/>
                        <a:t>+distance()</a:t>
                      </a:r>
                      <a:endParaRPr lang="en-US" sz="1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303679"/>
              </p:ext>
            </p:extLst>
          </p:nvPr>
        </p:nvGraphicFramePr>
        <p:xfrm>
          <a:off x="4320941" y="4738625"/>
          <a:ext cx="2291616" cy="1833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61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Square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-</a:t>
                      </a:r>
                      <a:r>
                        <a:rPr lang="en-US" sz="1400" dirty="0" smtClean="0"/>
                        <a:t>length :double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-</a:t>
                      </a:r>
                      <a:r>
                        <a:rPr lang="en-US" sz="1400" dirty="0" err="1" smtClean="0"/>
                        <a:t>noSides</a:t>
                      </a:r>
                      <a:r>
                        <a:rPr lang="en-US" sz="1400" dirty="0" smtClean="0"/>
                        <a:t> :</a:t>
                      </a:r>
                      <a:r>
                        <a:rPr lang="en-US" sz="1400" dirty="0" err="1" smtClean="0"/>
                        <a:t>int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+Constructors</a:t>
                      </a:r>
                    </a:p>
                    <a:p>
                      <a:r>
                        <a:rPr lang="en-US" sz="1400" dirty="0" smtClean="0"/>
                        <a:t>+accessor/</a:t>
                      </a:r>
                      <a:r>
                        <a:rPr lang="en-US" sz="1400" dirty="0" err="1" smtClean="0"/>
                        <a:t>Mutator</a:t>
                      </a:r>
                      <a:r>
                        <a:rPr lang="en-US" sz="1400" dirty="0" smtClean="0"/>
                        <a:t> methods</a:t>
                      </a:r>
                    </a:p>
                    <a:p>
                      <a:r>
                        <a:rPr lang="en-US" sz="1400" dirty="0" smtClean="0"/>
                        <a:t>+area()</a:t>
                      </a:r>
                    </a:p>
                    <a:p>
                      <a:r>
                        <a:rPr lang="en-US" sz="1400" dirty="0" smtClean="0"/>
                        <a:t>+perimeter()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110660"/>
              </p:ext>
            </p:extLst>
          </p:nvPr>
        </p:nvGraphicFramePr>
        <p:xfrm>
          <a:off x="7090209" y="4700120"/>
          <a:ext cx="2248302" cy="1833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4830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EquiTriangle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-length :double</a:t>
                      </a:r>
                    </a:p>
                    <a:p>
                      <a:r>
                        <a:rPr lang="en-US" sz="1400" dirty="0" smtClean="0"/>
                        <a:t>-</a:t>
                      </a:r>
                      <a:r>
                        <a:rPr lang="en-US" sz="1400" dirty="0" err="1" smtClean="0"/>
                        <a:t>noSides</a:t>
                      </a:r>
                      <a:r>
                        <a:rPr lang="en-US" sz="1400" dirty="0" smtClean="0"/>
                        <a:t> :</a:t>
                      </a:r>
                      <a:r>
                        <a:rPr lang="en-US" sz="1400" dirty="0" err="1" smtClean="0"/>
                        <a:t>int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+Constructors</a:t>
                      </a:r>
                    </a:p>
                    <a:p>
                      <a:r>
                        <a:rPr lang="en-US" sz="1400" dirty="0" smtClean="0"/>
                        <a:t>+accessor/</a:t>
                      </a:r>
                      <a:r>
                        <a:rPr lang="en-US" sz="1400" dirty="0" err="1" smtClean="0"/>
                        <a:t>Mutator</a:t>
                      </a:r>
                      <a:r>
                        <a:rPr lang="en-US" sz="1400" dirty="0" smtClean="0"/>
                        <a:t> methods</a:t>
                      </a:r>
                    </a:p>
                    <a:p>
                      <a:r>
                        <a:rPr lang="en-US" sz="1400" dirty="0" smtClean="0"/>
                        <a:t>+area()</a:t>
                      </a:r>
                    </a:p>
                    <a:p>
                      <a:r>
                        <a:rPr lang="en-US" sz="1400" dirty="0" smtClean="0"/>
                        <a:t>+perimeter()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067025"/>
              </p:ext>
            </p:extLst>
          </p:nvPr>
        </p:nvGraphicFramePr>
        <p:xfrm>
          <a:off x="9623658" y="4738625"/>
          <a:ext cx="2270761" cy="1686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076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Circle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-</a:t>
                      </a:r>
                      <a:r>
                        <a:rPr lang="en-US" sz="1400" dirty="0" smtClean="0"/>
                        <a:t>radius :double</a:t>
                      </a:r>
                      <a:endParaRPr lang="en-US" sz="14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+Constructors</a:t>
                      </a:r>
                    </a:p>
                    <a:p>
                      <a:r>
                        <a:rPr lang="en-US" sz="1400" dirty="0" smtClean="0"/>
                        <a:t>+accessor/</a:t>
                      </a:r>
                      <a:r>
                        <a:rPr lang="en-US" sz="1400" dirty="0" err="1" smtClean="0"/>
                        <a:t>Mutator</a:t>
                      </a:r>
                      <a:r>
                        <a:rPr lang="en-US" sz="1400" dirty="0" smtClean="0"/>
                        <a:t> methods</a:t>
                      </a:r>
                    </a:p>
                    <a:p>
                      <a:r>
                        <a:rPr lang="en-US" sz="1400" dirty="0" smtClean="0"/>
                        <a:t>+area()</a:t>
                      </a:r>
                    </a:p>
                    <a:p>
                      <a:r>
                        <a:rPr lang="en-US" sz="1400" dirty="0" smtClean="0"/>
                        <a:t>+perimeter()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0" name="Straight Arrow Connector 19"/>
          <p:cNvCxnSpPr/>
          <p:nvPr/>
        </p:nvCxnSpPr>
        <p:spPr>
          <a:xfrm flipV="1">
            <a:off x="5380522" y="3613248"/>
            <a:ext cx="2454442" cy="1125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9" idx="0"/>
          </p:cNvCxnSpPr>
          <p:nvPr/>
        </p:nvCxnSpPr>
        <p:spPr>
          <a:xfrm flipH="1" flipV="1">
            <a:off x="8205536" y="3632500"/>
            <a:ext cx="8824" cy="1067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8610600" y="3613248"/>
            <a:ext cx="2148438" cy="1125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8138161" y="1607419"/>
            <a:ext cx="8824" cy="385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Line Callout 1 30"/>
          <p:cNvSpPr/>
          <p:nvPr/>
        </p:nvSpPr>
        <p:spPr>
          <a:xfrm>
            <a:off x="10272156" y="581891"/>
            <a:ext cx="1622263" cy="2113807"/>
          </a:xfrm>
          <a:prstGeom prst="borderCallout1">
            <a:avLst>
              <a:gd name="adj1" fmla="val 18750"/>
              <a:gd name="adj2" fmla="val -8333"/>
              <a:gd name="adj3" fmla="val 59763"/>
              <a:gd name="adj4" fmla="val -6907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Figure is an abstract class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smtClean="0"/>
              <a:t>It cannot be instantiated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can be </a:t>
            </a:r>
            <a:r>
              <a:rPr lang="en-US" dirty="0" err="1" smtClean="0"/>
              <a:t>subclassed</a:t>
            </a:r>
            <a:endParaRPr lang="en-US" dirty="0"/>
          </a:p>
        </p:txBody>
      </p:sp>
      <p:sp>
        <p:nvSpPr>
          <p:cNvPr id="15" name="TextBox 5"/>
          <p:cNvSpPr txBox="1">
            <a:spLocks noChangeArrowheads="1"/>
          </p:cNvSpPr>
          <p:nvPr/>
        </p:nvSpPr>
        <p:spPr bwMode="auto">
          <a:xfrm>
            <a:off x="9338511" y="3440261"/>
            <a:ext cx="2777289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Note 1: + indicates </a:t>
            </a:r>
            <a:r>
              <a:rPr lang="en-US" altLang="en-US" dirty="0" smtClean="0"/>
              <a:t>public </a:t>
            </a:r>
          </a:p>
          <a:p>
            <a:pPr eaLnBrk="1" hangingPunct="1"/>
            <a:r>
              <a:rPr lang="en-US" altLang="en-US" dirty="0" smtClean="0"/>
              <a:t>– </a:t>
            </a:r>
            <a:r>
              <a:rPr lang="en-US" altLang="en-US" dirty="0"/>
              <a:t>indicates private</a:t>
            </a:r>
          </a:p>
        </p:txBody>
      </p:sp>
    </p:spTree>
    <p:extLst>
      <p:ext uri="{BB962C8B-B14F-4D97-AF65-F5344CB8AC3E}">
        <p14:creationId xmlns:p14="http://schemas.microsoft.com/office/powerpoint/2010/main" val="299417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Possible Design of the Figures 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the zip file provided on the website and follow </a:t>
            </a:r>
            <a:r>
              <a:rPr lang="en-US" dirty="0" smtClean="0"/>
              <a:t>along</a:t>
            </a:r>
          </a:p>
          <a:p>
            <a:r>
              <a:rPr lang="en-US" dirty="0" smtClean="0"/>
              <a:t>Go through the Figure.java and Figclient.java files</a:t>
            </a:r>
          </a:p>
        </p:txBody>
      </p:sp>
    </p:spTree>
    <p:extLst>
      <p:ext uri="{BB962C8B-B14F-4D97-AF65-F5344CB8AC3E}">
        <p14:creationId xmlns:p14="http://schemas.microsoft.com/office/powerpoint/2010/main" val="2911169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162800" y="1910080"/>
                <a:ext cx="3675246" cy="2748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Equilateral Triangle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X Coordinate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Y Coordinate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Distance from a point</a:t>
                </a:r>
                <a:endParaRPr lang="en-US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Length of a side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 smtClean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No. of sides (s</a:t>
                </a:r>
                <a:r>
                  <a:rPr lang="en-US" dirty="0" smtClean="0"/>
                  <a:t>)=3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Perimeter=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Area=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1910080"/>
                <a:ext cx="3675246" cy="2748894"/>
              </a:xfrm>
              <a:prstGeom prst="rect">
                <a:avLst/>
              </a:prstGeom>
              <a:blipFill rotWithShape="0">
                <a:blip r:embed="rId2"/>
                <a:stretch>
                  <a:fillRect l="-1327" t="-1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there a </a:t>
            </a:r>
            <a:r>
              <a:rPr lang="en-US" dirty="0" smtClean="0"/>
              <a:t>better design?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751584" y="1924368"/>
                <a:ext cx="26670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Square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X Coordinate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Y Coordinate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Distance from a point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Length of a side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 smtClean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No. of sides (s)=4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Perimeter=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Area=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1584" y="1924368"/>
                <a:ext cx="2667000" cy="2308324"/>
              </a:xfrm>
              <a:prstGeom prst="rect">
                <a:avLst/>
              </a:prstGeom>
              <a:blipFill rotWithShape="0">
                <a:blip r:embed="rId3"/>
                <a:stretch>
                  <a:fillRect l="-1826" t="-1587" b="-3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418584" y="4384275"/>
                <a:ext cx="26670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Circle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X Coordinate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Y Coordinate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Distance from a point</a:t>
                </a:r>
                <a:endParaRPr lang="en-US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radius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 smtClean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Area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Perimeter=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584" y="4384275"/>
                <a:ext cx="2667000" cy="2308324"/>
              </a:xfrm>
              <a:prstGeom prst="rect">
                <a:avLst/>
              </a:prstGeom>
              <a:blipFill rotWithShape="0">
                <a:blip r:embed="rId4"/>
                <a:stretch>
                  <a:fillRect l="-2059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048256" y="3142589"/>
            <a:ext cx="2370328" cy="764727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58293" y="3055413"/>
            <a:ext cx="2195845" cy="804318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620126" y="1690688"/>
            <a:ext cx="2542674" cy="831131"/>
            <a:chOff x="4620126" y="1690688"/>
            <a:chExt cx="2542674" cy="831131"/>
          </a:xfrm>
        </p:grpSpPr>
        <p:sp>
          <p:nvSpPr>
            <p:cNvPr id="10" name="Line Callout 1 9"/>
            <p:cNvSpPr/>
            <p:nvPr/>
          </p:nvSpPr>
          <p:spPr>
            <a:xfrm>
              <a:off x="4620126" y="1690688"/>
              <a:ext cx="1799925" cy="831131"/>
            </a:xfrm>
            <a:prstGeom prst="borderCallout1">
              <a:avLst>
                <a:gd name="adj1" fmla="val 18750"/>
                <a:gd name="adj2" fmla="val -8333"/>
                <a:gd name="adj3" fmla="val 53437"/>
                <a:gd name="adj4" fmla="val -82718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Both are regular polygons</a:t>
              </a:r>
              <a:endParaRPr lang="en-US" dirty="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6554804" y="1825415"/>
              <a:ext cx="607996" cy="342232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444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3037" y="5513202"/>
            <a:ext cx="27432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AC2D04D-7BC6-4498-9463-35DA84720F95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113978"/>
              </p:ext>
            </p:extLst>
          </p:nvPr>
        </p:nvGraphicFramePr>
        <p:xfrm>
          <a:off x="5054212" y="79122"/>
          <a:ext cx="1491916" cy="67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1916"/>
              </a:tblGrid>
              <a:tr h="2528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Object</a:t>
                      </a:r>
                      <a:endParaRPr lang="en-US" sz="1400" dirty="0"/>
                    </a:p>
                  </a:txBody>
                  <a:tcPr/>
                </a:tc>
              </a:tr>
              <a:tr h="2528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629909"/>
              </p:ext>
            </p:extLst>
          </p:nvPr>
        </p:nvGraphicFramePr>
        <p:xfrm>
          <a:off x="3848248" y="1149580"/>
          <a:ext cx="3892216" cy="1259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9221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sng" dirty="0" smtClean="0"/>
                        <a:t>Figure</a:t>
                      </a:r>
                      <a:endParaRPr lang="en-US" sz="1400" b="1" u="sng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-x, -y</a:t>
                      </a:r>
                      <a:endParaRPr lang="en-US" sz="1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+Constructors, +accessor/</a:t>
                      </a:r>
                      <a:r>
                        <a:rPr lang="en-US" sz="1400" dirty="0" err="1" smtClean="0"/>
                        <a:t>Mutator</a:t>
                      </a:r>
                      <a:r>
                        <a:rPr lang="en-US" sz="1400" dirty="0" smtClean="0"/>
                        <a:t> methods</a:t>
                      </a:r>
                    </a:p>
                    <a:p>
                      <a:r>
                        <a:rPr lang="en-US" sz="1400" dirty="0" smtClean="0"/>
                        <a:t>+distance()</a:t>
                      </a:r>
                      <a:endParaRPr lang="en-US" sz="1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798652"/>
              </p:ext>
            </p:extLst>
          </p:nvPr>
        </p:nvGraphicFramePr>
        <p:xfrm>
          <a:off x="824871" y="5141727"/>
          <a:ext cx="2291616" cy="147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61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Square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+Constructors</a:t>
                      </a:r>
                    </a:p>
                    <a:p>
                      <a:r>
                        <a:rPr lang="en-US" sz="1400" dirty="0" smtClean="0"/>
                        <a:t>+accessor/</a:t>
                      </a:r>
                      <a:r>
                        <a:rPr lang="en-US" sz="1400" dirty="0" err="1" smtClean="0"/>
                        <a:t>Mutator</a:t>
                      </a:r>
                      <a:r>
                        <a:rPr lang="en-US" sz="1400" dirty="0" smtClean="0"/>
                        <a:t> methods</a:t>
                      </a:r>
                    </a:p>
                    <a:p>
                      <a:r>
                        <a:rPr lang="en-US" sz="1400" dirty="0" smtClean="0"/>
                        <a:t>+area()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551187"/>
              </p:ext>
            </p:extLst>
          </p:nvPr>
        </p:nvGraphicFramePr>
        <p:xfrm>
          <a:off x="4297826" y="5141727"/>
          <a:ext cx="2248302" cy="147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4830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EquiTriangle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+Constructors</a:t>
                      </a:r>
                    </a:p>
                    <a:p>
                      <a:r>
                        <a:rPr lang="en-US" sz="1400" dirty="0" smtClean="0"/>
                        <a:t>+accessor/</a:t>
                      </a:r>
                      <a:r>
                        <a:rPr lang="en-US" sz="1400" dirty="0" err="1" smtClean="0"/>
                        <a:t>Mutator</a:t>
                      </a:r>
                      <a:r>
                        <a:rPr lang="en-US" sz="1400" dirty="0" smtClean="0"/>
                        <a:t> methods</a:t>
                      </a:r>
                    </a:p>
                    <a:p>
                      <a:r>
                        <a:rPr lang="en-US" sz="1400" dirty="0" smtClean="0"/>
                        <a:t>+area()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520264"/>
              </p:ext>
            </p:extLst>
          </p:nvPr>
        </p:nvGraphicFramePr>
        <p:xfrm>
          <a:off x="9540532" y="4812788"/>
          <a:ext cx="2270761" cy="1686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076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Circle</a:t>
                      </a:r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-radius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+Constructors</a:t>
                      </a:r>
                    </a:p>
                    <a:p>
                      <a:r>
                        <a:rPr lang="en-US" sz="1400" dirty="0" smtClean="0"/>
                        <a:t>+accessor/</a:t>
                      </a:r>
                      <a:r>
                        <a:rPr lang="en-US" sz="1400" dirty="0" err="1" smtClean="0"/>
                        <a:t>Mutator</a:t>
                      </a:r>
                      <a:r>
                        <a:rPr lang="en-US" sz="1400" dirty="0" smtClean="0"/>
                        <a:t> methods</a:t>
                      </a:r>
                    </a:p>
                    <a:p>
                      <a:r>
                        <a:rPr lang="en-US" sz="1400" dirty="0" smtClean="0"/>
                        <a:t>+area()</a:t>
                      </a:r>
                    </a:p>
                    <a:p>
                      <a:r>
                        <a:rPr lang="en-US" sz="1400" dirty="0" smtClean="0"/>
                        <a:t>+perimeter()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2" name="Straight Arrow Connector 11"/>
          <p:cNvCxnSpPr/>
          <p:nvPr/>
        </p:nvCxnSpPr>
        <p:spPr>
          <a:xfrm flipH="1" flipV="1">
            <a:off x="7602553" y="2698209"/>
            <a:ext cx="3272589" cy="1995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5810598" y="764271"/>
            <a:ext cx="8824" cy="385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217905"/>
              </p:ext>
            </p:extLst>
          </p:nvPr>
        </p:nvGraphicFramePr>
        <p:xfrm>
          <a:off x="2308684" y="3066172"/>
          <a:ext cx="3892216" cy="1620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9221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sng" dirty="0" smtClean="0"/>
                        <a:t>Polygon</a:t>
                      </a:r>
                      <a:endParaRPr lang="en-US" sz="1400" b="1" u="sng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-</a:t>
                      </a:r>
                      <a:r>
                        <a:rPr lang="en-US" sz="1400" dirty="0" err="1" smtClean="0"/>
                        <a:t>lenght</a:t>
                      </a:r>
                      <a:endParaRPr lang="en-US" sz="1400" dirty="0" smtClean="0"/>
                    </a:p>
                    <a:p>
                      <a:r>
                        <a:rPr lang="en-US" sz="1400" dirty="0" smtClean="0"/>
                        <a:t>-</a:t>
                      </a:r>
                      <a:r>
                        <a:rPr lang="en-US" sz="1400" dirty="0" err="1" smtClean="0"/>
                        <a:t>noSides</a:t>
                      </a:r>
                      <a:endParaRPr lang="en-US" sz="1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+Constructors, +accessor/</a:t>
                      </a:r>
                      <a:r>
                        <a:rPr lang="en-US" sz="1400" dirty="0" err="1" smtClean="0"/>
                        <a:t>Mutator</a:t>
                      </a:r>
                      <a:r>
                        <a:rPr lang="en-US" sz="1400" dirty="0" smtClean="0"/>
                        <a:t> methods</a:t>
                      </a:r>
                    </a:p>
                    <a:p>
                      <a:r>
                        <a:rPr lang="en-US" sz="1400" dirty="0" smtClean="0"/>
                        <a:t>+distance()</a:t>
                      </a:r>
                    </a:p>
                    <a:p>
                      <a:r>
                        <a:rPr lang="en-US" sz="1400" dirty="0" smtClean="0"/>
                        <a:t>+perimeter()</a:t>
                      </a:r>
                      <a:endParaRPr lang="en-US" sz="14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7" name="Straight Arrow Connector 16"/>
          <p:cNvCxnSpPr>
            <a:endCxn id="6" idx="2"/>
          </p:cNvCxnSpPr>
          <p:nvPr/>
        </p:nvCxnSpPr>
        <p:spPr>
          <a:xfrm flipV="1">
            <a:off x="4073236" y="2409420"/>
            <a:ext cx="1721120" cy="656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5" idx="2"/>
          </p:cNvCxnSpPr>
          <p:nvPr/>
        </p:nvCxnSpPr>
        <p:spPr>
          <a:xfrm flipV="1">
            <a:off x="1947553" y="4686692"/>
            <a:ext cx="2307239" cy="455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4524499" y="4686692"/>
            <a:ext cx="897478" cy="455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Line Callout 1 21"/>
          <p:cNvSpPr/>
          <p:nvPr/>
        </p:nvSpPr>
        <p:spPr>
          <a:xfrm>
            <a:off x="9357756" y="1149580"/>
            <a:ext cx="2351314" cy="1916592"/>
          </a:xfrm>
          <a:prstGeom prst="borderCallout1">
            <a:avLst>
              <a:gd name="adj1" fmla="val 18750"/>
              <a:gd name="adj2" fmla="val -8333"/>
              <a:gd name="adj3" fmla="val 127371"/>
              <a:gd name="adj4" fmla="val -13075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Polygon is an abstract class that inherits from another abstract class Figure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53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there a </a:t>
            </a:r>
            <a:r>
              <a:rPr lang="en-US" dirty="0"/>
              <a:t>better design?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 back to the in-class exercise and implement the Polygon abstract class.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645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More on </a:t>
            </a:r>
            <a:r>
              <a:rPr lang="en-US" altLang="en-US" sz="4000" i="1"/>
              <a:t>abstract</a:t>
            </a:r>
            <a:r>
              <a:rPr lang="en-US" altLang="en-US" sz="4000"/>
              <a:t> Classes</a:t>
            </a:r>
          </a:p>
        </p:txBody>
      </p:sp>
      <p:sp>
        <p:nvSpPr>
          <p:cNvPr id="480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 smtClean="0"/>
              <a:t>An </a:t>
            </a:r>
            <a:r>
              <a:rPr lang="en-US" i="1" dirty="0"/>
              <a:t>abstract</a:t>
            </a:r>
            <a:r>
              <a:rPr lang="en-US" dirty="0"/>
              <a:t> class cannot be used to instantiate objects (because the class is not complete). </a:t>
            </a:r>
          </a:p>
          <a:p>
            <a:pPr>
              <a:defRPr/>
            </a:pPr>
            <a:r>
              <a:rPr lang="en-US" dirty="0"/>
              <a:t>An </a:t>
            </a:r>
            <a:r>
              <a:rPr lang="en-US" i="1" dirty="0"/>
              <a:t>abstract</a:t>
            </a:r>
            <a:r>
              <a:rPr lang="en-US" dirty="0"/>
              <a:t> class can be extended.</a:t>
            </a:r>
          </a:p>
          <a:p>
            <a:pPr lvl="1">
              <a:defRPr/>
            </a:pPr>
            <a:r>
              <a:rPr lang="en-US" dirty="0"/>
              <a:t> subclasses can complete the implementation and objects of those subclasses can be </a:t>
            </a:r>
            <a:r>
              <a:rPr lang="en-US" dirty="0" smtClean="0"/>
              <a:t>instantiated</a:t>
            </a:r>
          </a:p>
          <a:p>
            <a:pPr>
              <a:defRPr/>
            </a:pPr>
            <a:r>
              <a:rPr lang="en-US" dirty="0"/>
              <a:t>An object </a:t>
            </a:r>
            <a:r>
              <a:rPr lang="en-US" u="sng" dirty="0"/>
              <a:t>reference</a:t>
            </a:r>
            <a:r>
              <a:rPr lang="en-US" dirty="0"/>
              <a:t> to an </a:t>
            </a:r>
            <a:r>
              <a:rPr lang="en-US" i="1" dirty="0"/>
              <a:t>abstract</a:t>
            </a:r>
            <a:r>
              <a:rPr lang="en-US" dirty="0"/>
              <a:t> class can be declared. (</a:t>
            </a:r>
            <a:r>
              <a:rPr lang="en-US" u="sng" dirty="0"/>
              <a:t>Notice the word reference and not instantiation</a:t>
            </a:r>
            <a:r>
              <a:rPr lang="en-US" dirty="0"/>
              <a:t>)</a:t>
            </a:r>
          </a:p>
          <a:p>
            <a:pPr lvl="1">
              <a:defRPr/>
            </a:pPr>
            <a:r>
              <a:rPr lang="en-US" dirty="0"/>
              <a:t>We use this capability in polymorphism, which will be discussed later.</a:t>
            </a:r>
          </a:p>
          <a:p>
            <a:pPr>
              <a:defRPr/>
            </a:pPr>
            <a:endParaRPr lang="en-US" dirty="0"/>
          </a:p>
          <a:p>
            <a:pPr lvl="1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B0D6BB5-C5E6-4064-8BCD-079101C377B9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15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22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Subclasses of </a:t>
            </a:r>
            <a:r>
              <a:rPr lang="en-US" altLang="en-US" sz="4000" i="1"/>
              <a:t>abstract</a:t>
            </a:r>
            <a:r>
              <a:rPr lang="en-US" altLang="en-US" sz="4000"/>
              <a:t> Classes</a:t>
            </a:r>
          </a:p>
        </p:txBody>
      </p:sp>
      <p:sp>
        <p:nvSpPr>
          <p:cNvPr id="485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lnSpcReduction="10000"/>
          </a:bodyPr>
          <a:lstStyle/>
          <a:p>
            <a:pPr>
              <a:defRPr/>
            </a:pPr>
            <a:r>
              <a:rPr lang="en-US" dirty="0"/>
              <a:t>A subclass of an abstract class </a:t>
            </a:r>
            <a:r>
              <a:rPr lang="en-US" u="sng" dirty="0"/>
              <a:t>can implement all, some, or none of the </a:t>
            </a:r>
            <a:r>
              <a:rPr lang="en-US" i="1" u="sng" dirty="0"/>
              <a:t>abstract </a:t>
            </a:r>
            <a:r>
              <a:rPr lang="en-US" u="sng" dirty="0"/>
              <a:t>methods.</a:t>
            </a:r>
          </a:p>
          <a:p>
            <a:pPr>
              <a:defRPr/>
            </a:pPr>
            <a:r>
              <a:rPr lang="en-US" dirty="0"/>
              <a:t>If the subclass does not implement all of the </a:t>
            </a:r>
            <a:r>
              <a:rPr lang="en-US" i="1" dirty="0"/>
              <a:t>abstract</a:t>
            </a:r>
            <a:r>
              <a:rPr lang="en-US" dirty="0"/>
              <a:t> methods, it must also be declared as </a:t>
            </a:r>
            <a:r>
              <a:rPr lang="en-US" i="1" dirty="0"/>
              <a:t>abstract</a:t>
            </a:r>
            <a:r>
              <a:rPr lang="en-US" dirty="0"/>
              <a:t>.</a:t>
            </a:r>
          </a:p>
          <a:p>
            <a:pPr>
              <a:defRPr/>
            </a:pPr>
            <a:r>
              <a:rPr lang="en-US" dirty="0"/>
              <a:t>Our </a:t>
            </a:r>
            <a:r>
              <a:rPr lang="en-US" i="1" dirty="0"/>
              <a:t>Circle</a:t>
            </a:r>
            <a:r>
              <a:rPr lang="en-US" dirty="0"/>
              <a:t> subclass adds a </a:t>
            </a:r>
            <a:r>
              <a:rPr lang="en-US" i="1" dirty="0"/>
              <a:t>radius</a:t>
            </a:r>
            <a:r>
              <a:rPr lang="en-US" dirty="0"/>
              <a:t> instance variable and implements the </a:t>
            </a:r>
            <a:r>
              <a:rPr lang="en-US" i="1" dirty="0"/>
              <a:t>draw</a:t>
            </a:r>
            <a:r>
              <a:rPr lang="en-US" dirty="0"/>
              <a:t> method.</a:t>
            </a:r>
          </a:p>
          <a:p>
            <a:pPr>
              <a:defRPr/>
            </a:pPr>
            <a:r>
              <a:rPr lang="en-US" dirty="0"/>
              <a:t>Our </a:t>
            </a:r>
            <a:r>
              <a:rPr lang="en-US" i="1" dirty="0"/>
              <a:t>Square</a:t>
            </a:r>
            <a:r>
              <a:rPr lang="en-US" dirty="0"/>
              <a:t> subclass adds a </a:t>
            </a:r>
            <a:r>
              <a:rPr lang="en-US" i="1" dirty="0"/>
              <a:t>length</a:t>
            </a:r>
            <a:r>
              <a:rPr lang="en-US" dirty="0"/>
              <a:t> instance variable and implements the </a:t>
            </a:r>
            <a:r>
              <a:rPr lang="en-US" i="1" dirty="0"/>
              <a:t>draw</a:t>
            </a:r>
            <a:r>
              <a:rPr lang="en-US" dirty="0"/>
              <a:t> method.</a:t>
            </a:r>
          </a:p>
          <a:p>
            <a:pPr>
              <a:buNone/>
              <a:defRPr/>
            </a:pPr>
            <a:endParaRPr lang="en-US" sz="2400" i="1" dirty="0">
              <a:solidFill>
                <a:schemeClr val="tx2"/>
              </a:solidFill>
            </a:endParaRPr>
          </a:p>
          <a:p>
            <a:pPr>
              <a:buNone/>
              <a:defRPr/>
            </a:pPr>
            <a:r>
              <a:rPr lang="en-US" sz="2400" i="1" dirty="0">
                <a:solidFill>
                  <a:schemeClr val="tx2"/>
                </a:solidFill>
              </a:rPr>
              <a:t>See Examples 10.15, 10.16, 10.17, &amp; 10.18 in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8412EA7-3A0C-4394-8CBF-2D6FC5D9FBAC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16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644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758952" y="533400"/>
            <a:ext cx="9299448" cy="9906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4000" dirty="0"/>
              <a:t>Restrictions for </a:t>
            </a:r>
            <a:r>
              <a:rPr lang="en-US" sz="4000" dirty="0" smtClean="0"/>
              <a:t>Defining </a:t>
            </a:r>
            <a:r>
              <a:rPr lang="en-US" sz="4000" i="1" dirty="0" smtClean="0"/>
              <a:t>abstract </a:t>
            </a:r>
            <a:r>
              <a:rPr lang="en-US" sz="4000" dirty="0"/>
              <a:t>Classes</a:t>
            </a:r>
            <a:r>
              <a:rPr lang="en-US" dirty="0"/>
              <a:t>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944" y="1749552"/>
            <a:ext cx="10277856" cy="41148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Classes must be declared </a:t>
            </a:r>
            <a:r>
              <a:rPr lang="en-US" altLang="en-US" i="1" dirty="0" smtClean="0"/>
              <a:t>abstract</a:t>
            </a:r>
            <a:r>
              <a:rPr lang="en-US" altLang="en-US" dirty="0" smtClean="0"/>
              <a:t> if the class contains any </a:t>
            </a:r>
            <a:r>
              <a:rPr lang="en-US" altLang="en-US" i="1" dirty="0" smtClean="0"/>
              <a:t>abstract</a:t>
            </a:r>
            <a:r>
              <a:rPr lang="en-US" altLang="en-US" dirty="0" smtClean="0"/>
              <a:t> methods</a:t>
            </a:r>
          </a:p>
          <a:p>
            <a:pPr eaLnBrk="1" hangingPunct="1"/>
            <a:r>
              <a:rPr lang="en-US" altLang="en-US" i="1" dirty="0" smtClean="0"/>
              <a:t>abstract </a:t>
            </a:r>
            <a:r>
              <a:rPr lang="en-US" altLang="en-US" dirty="0" smtClean="0"/>
              <a:t>classes can be extended </a:t>
            </a:r>
          </a:p>
          <a:p>
            <a:pPr eaLnBrk="1" hangingPunct="1"/>
            <a:r>
              <a:rPr lang="en-US" altLang="en-US" dirty="0" smtClean="0">
                <a:cs typeface="Times New Roman" panose="02020603050405020304" pitchFamily="18" charset="0"/>
              </a:rPr>
              <a:t>An object reference to an </a:t>
            </a:r>
            <a:r>
              <a:rPr lang="en-US" altLang="en-US" i="1" dirty="0" smtClean="0">
                <a:cs typeface="Times New Roman" panose="02020603050405020304" pitchFamily="18" charset="0"/>
              </a:rPr>
              <a:t>abstract</a:t>
            </a:r>
            <a:r>
              <a:rPr lang="en-US" altLang="en-US" dirty="0" smtClean="0">
                <a:cs typeface="Times New Roman" panose="02020603050405020304" pitchFamily="18" charset="0"/>
              </a:rPr>
              <a:t> class can be declared</a:t>
            </a:r>
          </a:p>
          <a:p>
            <a:pPr eaLnBrk="1" hangingPunct="1"/>
            <a:r>
              <a:rPr lang="en-US" altLang="en-US" i="1" dirty="0" smtClean="0">
                <a:cs typeface="Times New Roman" panose="02020603050405020304" pitchFamily="18" charset="0"/>
              </a:rPr>
              <a:t>abstract</a:t>
            </a:r>
            <a:r>
              <a:rPr lang="en-US" altLang="en-US" dirty="0" smtClean="0">
                <a:cs typeface="Times New Roman" panose="02020603050405020304" pitchFamily="18" charset="0"/>
              </a:rPr>
              <a:t> classes cannot be used to instantiate objects</a:t>
            </a:r>
          </a:p>
          <a:p>
            <a:pPr eaLnBrk="1" hangingPunct="1">
              <a:buFontTx/>
              <a:buNone/>
            </a:pPr>
            <a:endParaRPr lang="en-US" altLang="en-US" dirty="0" smtClean="0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228827D-FBBD-4286-A783-3B1B8F07AEEB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676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>
          <a:xfrm>
            <a:off x="713232" y="609600"/>
            <a:ext cx="10543032" cy="9906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4000" dirty="0"/>
              <a:t>Restrictions for </a:t>
            </a:r>
            <a:r>
              <a:rPr lang="en-US" sz="4000" dirty="0" smtClean="0"/>
              <a:t>Defining </a:t>
            </a:r>
            <a:r>
              <a:rPr lang="en-US" sz="4000" i="1" dirty="0" smtClean="0"/>
              <a:t>abstract </a:t>
            </a:r>
            <a:r>
              <a:rPr lang="en-US" sz="4000" dirty="0"/>
              <a:t>Methods</a:t>
            </a:r>
          </a:p>
        </p:txBody>
      </p:sp>
      <p:sp>
        <p:nvSpPr>
          <p:cNvPr id="487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endParaRPr lang="en-US" i="1"/>
          </a:p>
          <a:p>
            <a:pPr>
              <a:defRPr/>
            </a:pPr>
            <a:r>
              <a:rPr lang="en-US" i="1"/>
              <a:t>abstract</a:t>
            </a:r>
            <a:r>
              <a:rPr lang="en-US"/>
              <a:t> methods can be declared only within an </a:t>
            </a:r>
            <a:r>
              <a:rPr lang="en-US" i="1"/>
              <a:t>abstract</a:t>
            </a:r>
            <a:r>
              <a:rPr lang="en-US"/>
              <a:t> class</a:t>
            </a:r>
          </a:p>
          <a:p>
            <a:pPr>
              <a:defRPr/>
            </a:pPr>
            <a:r>
              <a:rPr lang="en-US"/>
              <a:t>An </a:t>
            </a:r>
            <a:r>
              <a:rPr lang="en-US" i="1"/>
              <a:t>abstract</a:t>
            </a:r>
            <a:r>
              <a:rPr lang="en-US"/>
              <a:t> method must consist of a method header followed by a semicolon</a:t>
            </a:r>
          </a:p>
          <a:p>
            <a:pPr>
              <a:defRPr/>
            </a:pPr>
            <a:r>
              <a:rPr lang="en-US" i="1"/>
              <a:t>abstract</a:t>
            </a:r>
            <a:r>
              <a:rPr lang="en-US"/>
              <a:t> methods cannot be called</a:t>
            </a:r>
          </a:p>
          <a:p>
            <a:pPr>
              <a:defRPr/>
            </a:pPr>
            <a:r>
              <a:rPr lang="en-US" i="1"/>
              <a:t>abstract</a:t>
            </a:r>
            <a:r>
              <a:rPr lang="en-US"/>
              <a:t> methods cannot be declared as </a:t>
            </a:r>
            <a:r>
              <a:rPr lang="en-US" i="1"/>
              <a:t>private</a:t>
            </a:r>
            <a:r>
              <a:rPr lang="en-US"/>
              <a:t> or </a:t>
            </a:r>
            <a:r>
              <a:rPr lang="en-US" i="1"/>
              <a:t>static</a:t>
            </a:r>
            <a:r>
              <a:rPr lang="en-US"/>
              <a:t> </a:t>
            </a:r>
          </a:p>
          <a:p>
            <a:pPr>
              <a:defRPr/>
            </a:pPr>
            <a:r>
              <a:rPr lang="en-US"/>
              <a:t>A constructor cannot be declared </a:t>
            </a:r>
            <a:r>
              <a:rPr lang="en-US" i="1"/>
              <a:t>abstract</a:t>
            </a:r>
            <a:endParaRPr lang="en-US"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B8B20C6-CB6C-40F0-97A2-91B0AAD8FBBF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77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1035</Words>
  <Application>Microsoft Office PowerPoint</Application>
  <PresentationFormat>Widescreen</PresentationFormat>
  <Paragraphs>216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Courier New</vt:lpstr>
      <vt:lpstr>Times New Roman</vt:lpstr>
      <vt:lpstr>Office Theme</vt:lpstr>
      <vt:lpstr>CS 116 Object Oriented Programming II</vt:lpstr>
      <vt:lpstr>Topics</vt:lpstr>
      <vt:lpstr>Database of Figures</vt:lpstr>
      <vt:lpstr>Database of Figures Registry</vt:lpstr>
      <vt:lpstr>Database of Figures Registry</vt:lpstr>
      <vt:lpstr>Database of Figures Registry</vt:lpstr>
      <vt:lpstr>abstract Classes and Methods</vt:lpstr>
      <vt:lpstr>Defining an abstract class </vt:lpstr>
      <vt:lpstr>Defining an abstract Method </vt:lpstr>
      <vt:lpstr>A Possible Design of the Figures Database</vt:lpstr>
      <vt:lpstr>A Possible Design of the Figures Database</vt:lpstr>
      <vt:lpstr>Is there a better design?</vt:lpstr>
      <vt:lpstr>PowerPoint Presentation</vt:lpstr>
      <vt:lpstr>Is there a better design?</vt:lpstr>
      <vt:lpstr>More on abstract Classes</vt:lpstr>
      <vt:lpstr>Subclasses of abstract Classes</vt:lpstr>
      <vt:lpstr>Restrictions for Defining abstract Classes </vt:lpstr>
      <vt:lpstr>Restrictions for Defining abstract Methods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korah</dc:creator>
  <cp:lastModifiedBy>john korah</cp:lastModifiedBy>
  <cp:revision>36</cp:revision>
  <dcterms:created xsi:type="dcterms:W3CDTF">2016-03-01T16:49:43Z</dcterms:created>
  <dcterms:modified xsi:type="dcterms:W3CDTF">2016-03-02T18:39:34Z</dcterms:modified>
</cp:coreProperties>
</file>