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8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96" r:id="rId19"/>
    <p:sldId id="297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98" r:id="rId28"/>
    <p:sldId id="279" r:id="rId29"/>
    <p:sldId id="280" r:id="rId30"/>
    <p:sldId id="299" r:id="rId31"/>
    <p:sldId id="300" r:id="rId32"/>
    <p:sldId id="281" r:id="rId33"/>
    <p:sldId id="282" r:id="rId34"/>
    <p:sldId id="283" r:id="rId35"/>
    <p:sldId id="284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8EAA8-2D93-472A-9D93-68A82B80D439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CD307-65FD-481B-8C7A-F1D6E26CC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4955040-4385-4DC0-8E5C-397B372B4BF7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832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2BA8D2-A000-4A9F-B5CF-D2DAA050E307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835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36A47F-4CAE-4079-B74A-552262123DE3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733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1F9AE2-9D9D-4F2E-B043-C6D9933DEAA7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515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CDEC20B-4257-4174-9108-FE5AB9373B23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25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D992328-30B9-487C-BE25-D20298EB1EE8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303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7C8101-3F2D-44FC-B3C7-23F81E7058B1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281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0F7961-F0E6-493F-83F5-B43F8541897B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897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0E43847-F0AD-4E28-9F6D-D9C723AFAB26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884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9BD60F-3375-412A-BC9C-B51D997D7103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03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45DA3E-A736-4ECB-8F52-EE1EE5A33E87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093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ABA046-2ADB-4CE2-8460-283B1DA7AF8B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359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5E3ADF-8ACF-410B-82E0-4D804C2812BE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270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3321E0-5A0F-440D-842B-7EF223649C99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226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159A7F-39AA-4E0B-AA4A-39505AB78549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905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5E3ADF-8ACF-410B-82E0-4D804C2812BE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5387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CA2503D-E71E-4597-B08D-6623321CE3C6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40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C5AC4F-0084-4710-9F4F-1C4F11CB6C7E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8960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886BB3-CD6A-4CB4-8DF7-5F9C6198950D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2527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7731C1-5E48-405D-990F-D8B22C938CDF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6169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4A893D-A0BC-4153-876A-4ED282234577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544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F9A6A44-AEF0-4A63-8A99-5D17C5759518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986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226F3F-6729-4C4D-9F6C-F6F653B015E8}" type="slidenum">
              <a:rPr lang="en-US" altLang="en-US"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460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29AD270-E7BD-4B4C-9EA5-FB0EE0C37C0E}" type="slidenum">
              <a:rPr lang="en-US" altLang="en-US"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5019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32D0FA6-9B3C-44B0-8B26-FA5B4F5061D8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114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C6C09A-E200-4FC4-9E6F-C0D0618E90A1}" type="slidenum">
              <a:rPr lang="en-US" altLang="en-US">
                <a:latin typeface="Calibri" panose="020F0502020204030204" pitchFamily="34" charset="0"/>
              </a:rPr>
              <a:pPr eaLnBrk="1" hangingPunct="1"/>
              <a:t>32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5916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EE20101-C3BD-4434-9413-2A5B5BB11160}" type="slidenum">
              <a:rPr lang="en-US" altLang="en-US">
                <a:latin typeface="Calibri" panose="020F0502020204030204" pitchFamily="34" charset="0"/>
              </a:rPr>
              <a:pPr eaLnBrk="1" hangingPunct="1"/>
              <a:t>33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9908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91D363-FF7E-4257-807F-9335DBEFE876}" type="slidenum">
              <a:rPr lang="en-US" altLang="en-US">
                <a:latin typeface="Calibri" panose="020F0502020204030204" pitchFamily="34" charset="0"/>
              </a:rPr>
              <a:pPr eaLnBrk="1" hangingPunct="1"/>
              <a:t>34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350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219745-281F-4366-8C23-4FE82A19723E}" type="slidenum">
              <a:rPr lang="en-US" altLang="en-US">
                <a:latin typeface="Calibri" panose="020F0502020204030204" pitchFamily="34" charset="0"/>
              </a:rPr>
              <a:pPr eaLnBrk="1" hangingPunct="1"/>
              <a:t>35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586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B9182F-38BA-49A2-BDF1-CC8639B07AAA}" type="slidenum">
              <a:rPr lang="en-US" altLang="en-US">
                <a:latin typeface="Calibri" panose="020F0502020204030204" pitchFamily="34" charset="0"/>
              </a:rPr>
              <a:pPr eaLnBrk="1" hangingPunct="1"/>
              <a:t>36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102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AB1DF2-5AB5-44F3-A731-5DAD26F911E6}" type="slidenum">
              <a:rPr lang="en-US" altLang="en-US">
                <a:latin typeface="Calibri" panose="020F0502020204030204" pitchFamily="34" charset="0"/>
              </a:rPr>
              <a:pPr eaLnBrk="1" hangingPunct="1"/>
              <a:t>37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200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8707AB-4A7C-41B3-B966-4DFF8A8DD05D}" type="slidenum">
              <a:rPr lang="en-US" altLang="en-US">
                <a:latin typeface="Calibri" panose="020F0502020204030204" pitchFamily="34" charset="0"/>
              </a:rPr>
              <a:pPr eaLnBrk="1" hangingPunct="1"/>
              <a:t>38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9969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685BE48-E519-4EF7-8A54-92D814D2F96F}" type="slidenum">
              <a:rPr lang="en-US" altLang="en-US">
                <a:latin typeface="Calibri" panose="020F0502020204030204" pitchFamily="34" charset="0"/>
              </a:rPr>
              <a:pPr eaLnBrk="1" hangingPunct="1"/>
              <a:t>39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4358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8D37E8-FBE0-4157-931E-0A653FDF5684}" type="slidenum">
              <a:rPr lang="en-US" altLang="en-US"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5323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94FA00-778E-46B0-8E96-8C21C4973339}" type="slidenum">
              <a:rPr lang="en-US" altLang="en-US">
                <a:latin typeface="Calibri" panose="020F0502020204030204" pitchFamily="34" charset="0"/>
              </a:rPr>
              <a:pPr eaLnBrk="1" hangingPunct="1"/>
              <a:t>41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2167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B89834-ABBF-4BD2-BDBE-8D4816C6BA63}" type="slidenum">
              <a:rPr lang="en-US" altLang="en-US"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4344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A4D13D-C9DF-4777-BBFD-33E3D3D2D16E}" type="slidenum">
              <a:rPr lang="en-US" altLang="en-US">
                <a:latin typeface="Calibri" panose="020F0502020204030204" pitchFamily="34" charset="0"/>
              </a:rPr>
              <a:pPr eaLnBrk="1" hangingPunct="1"/>
              <a:t>43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7816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E43867-4B35-4A92-A1C0-87C13D0873C2}" type="slidenum">
              <a:rPr lang="en-US" altLang="en-US">
                <a:latin typeface="Calibri" panose="020F0502020204030204" pitchFamily="34" charset="0"/>
              </a:rPr>
              <a:pPr eaLnBrk="1" hangingPunct="1"/>
              <a:t>44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5968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2FD359-74B3-4436-A6D8-1544D6B1B356}" type="slidenum">
              <a:rPr lang="en-US" altLang="en-US"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412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7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5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0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37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6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86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51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5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6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0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38608-707D-4BB2-B4FA-FFFFA25BDE5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CCEA3-EE32-4863-92D6-EEEC287B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5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Java6.0Documentation\docs\api\java\util\Vector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Java6.0Documentation\docs\api\java\util\Vector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 116: Object Oriented Programming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6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Vectors</a:t>
            </a:r>
          </a:p>
          <a:p>
            <a:r>
              <a:rPr lang="en-US" dirty="0" smtClean="0"/>
              <a:t>Multidimensional Arrays</a:t>
            </a:r>
          </a:p>
          <a:p>
            <a:r>
              <a:rPr lang="en-US" dirty="0" err="1" smtClean="0"/>
              <a:t>ArrayList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27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Vectors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Using vectors could be better than using arrays in some cases:</a:t>
            </a:r>
          </a:p>
          <a:p>
            <a:pPr lvl="1" eaLnBrk="1" hangingPunct="1"/>
            <a:r>
              <a:rPr lang="en-US" altLang="en-US"/>
              <a:t>Vectors can adjust their size dynamically. Ideal for cases where we don’t know the size of thedata involved.</a:t>
            </a:r>
          </a:p>
          <a:p>
            <a:pPr eaLnBrk="1" hangingPunct="1"/>
            <a:r>
              <a:rPr lang="en-US" altLang="en-US" sz="2400"/>
              <a:t>Vector class is part of the java.util package.</a:t>
            </a:r>
          </a:p>
          <a:p>
            <a:pPr eaLnBrk="1" hangingPunct="1"/>
            <a:r>
              <a:rPr lang="en-US" altLang="en-US" sz="2400" b="1" u="sng"/>
              <a:t>Vectors accept only Object data types</a:t>
            </a:r>
            <a:r>
              <a:rPr lang="en-US" altLang="en-US" sz="2400"/>
              <a:t>. </a:t>
            </a:r>
            <a:r>
              <a:rPr lang="en-US" altLang="en-US" sz="2400" b="1"/>
              <a:t>You can not insert primitive data types. </a:t>
            </a:r>
          </a:p>
          <a:p>
            <a:pPr lvl="1" eaLnBrk="1" hangingPunct="1"/>
            <a:r>
              <a:rPr lang="en-US" altLang="en-US" sz="2000"/>
              <a:t>When reading the object from the vector you have to type casted back to the Class that the object belongs to.</a:t>
            </a:r>
          </a:p>
          <a:p>
            <a:pPr eaLnBrk="1" hangingPunct="1"/>
            <a:r>
              <a:rPr lang="en-US" altLang="en-US" sz="2400"/>
              <a:t>Vectors are easier to sort, search ,remove elements, or add elements  than arrays .</a:t>
            </a:r>
          </a:p>
          <a:p>
            <a:pPr lvl="1" eaLnBrk="1" hangingPunct="1"/>
            <a:r>
              <a:rPr lang="en-US" altLang="en-US" sz="1600"/>
              <a:t>The same vector object can object multiple object types (i.e. Auto, Student, Person objects).  This is something that arrays can 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C0A90C-DDE3-43EE-A276-B168E7321B9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44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Vectors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/>
              <a:t>Vector v=new Vector();</a:t>
            </a:r>
          </a:p>
          <a:p>
            <a:pPr lvl="1" eaLnBrk="1" hangingPunct="1"/>
            <a:r>
              <a:rPr lang="en-US" altLang="en-US" sz="1600" u="sng" dirty="0"/>
              <a:t>Constructs a vector of default size 10</a:t>
            </a:r>
            <a:r>
              <a:rPr lang="en-US" altLang="en-US" sz="1600" dirty="0"/>
              <a:t>. Size will be incremented as needed. Notice that the class has other constructors also.</a:t>
            </a:r>
          </a:p>
          <a:p>
            <a:pPr eaLnBrk="1" hangingPunct="1"/>
            <a:r>
              <a:rPr lang="en-US" altLang="en-US" sz="2000" dirty="0"/>
              <a:t>Auto car1=new Auto();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/>
              <a:t>v.addElement</a:t>
            </a:r>
            <a:r>
              <a:rPr lang="en-US" altLang="en-US" sz="2000" dirty="0"/>
              <a:t>(car1) 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/>
              <a:t>     adds the object car1 to the end of the vector and increases its size by 1.</a:t>
            </a:r>
          </a:p>
          <a:p>
            <a:pPr eaLnBrk="1" hangingPunct="1"/>
            <a:r>
              <a:rPr lang="en-US" altLang="en-US" sz="2000" dirty="0"/>
              <a:t>Object </a:t>
            </a:r>
            <a:r>
              <a:rPr lang="en-US" altLang="en-US" sz="2000" dirty="0" err="1"/>
              <a:t>mycarobj</a:t>
            </a:r>
            <a:r>
              <a:rPr lang="en-US" altLang="en-US" sz="2000" dirty="0"/>
              <a:t>=</a:t>
            </a:r>
            <a:r>
              <a:rPr lang="en-US" altLang="en-US" sz="2000" dirty="0" err="1"/>
              <a:t>v.elementAt</a:t>
            </a:r>
            <a:r>
              <a:rPr lang="en-US" altLang="en-US" sz="2000" dirty="0"/>
              <a:t>(</a:t>
            </a:r>
            <a:r>
              <a:rPr lang="en-US" altLang="en-US" sz="2000" dirty="0" err="1"/>
              <a:t>i</a:t>
            </a:r>
            <a:r>
              <a:rPr lang="en-US" altLang="en-US" sz="2000" dirty="0"/>
              <a:t>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/>
              <a:t>      Auto </a:t>
            </a:r>
            <a:r>
              <a:rPr lang="en-US" altLang="en-US" sz="2000" dirty="0" err="1"/>
              <a:t>mycar</a:t>
            </a:r>
            <a:r>
              <a:rPr lang="en-US" altLang="en-US" sz="2000" dirty="0"/>
              <a:t>=(Auto)</a:t>
            </a:r>
            <a:r>
              <a:rPr lang="en-US" altLang="en-US" sz="2000" dirty="0" err="1"/>
              <a:t>mycarobj</a:t>
            </a:r>
            <a:r>
              <a:rPr lang="en-US" altLang="en-US" sz="2000" dirty="0"/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/>
              <a:t>  returns the object stored at index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. Notice that it is a two step process:</a:t>
            </a:r>
          </a:p>
          <a:p>
            <a:pPr lvl="1" eaLnBrk="1" hangingPunct="1"/>
            <a:r>
              <a:rPr lang="en-US" altLang="en-US" sz="1600" dirty="0"/>
              <a:t>First we retrieve the object as a generalized Object type.</a:t>
            </a:r>
          </a:p>
          <a:p>
            <a:pPr lvl="1" eaLnBrk="1" hangingPunct="1"/>
            <a:r>
              <a:rPr lang="en-US" altLang="en-US" sz="1600" dirty="0"/>
              <a:t>Then we type casted to the specific object type (we have to know what the object type 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32562DA-CBEB-4E35-8C3B-D9EE4FB0F5EC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30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Vectors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v.remove(i);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/>
              <a:t>	removes the element at index  i.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/>
              <a:t>     adjusts the size of the vector.</a:t>
            </a:r>
          </a:p>
          <a:p>
            <a:pPr eaLnBrk="1" hangingPunct="1"/>
            <a:r>
              <a:rPr lang="en-US" altLang="en-US" sz="2400"/>
              <a:t>v.set(int i, Object obj);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/>
              <a:t>     replaces the object stored originally at index  i with the new object obj .</a:t>
            </a:r>
          </a:p>
          <a:p>
            <a:pPr eaLnBrk="1" hangingPunct="1"/>
            <a:r>
              <a:rPr lang="en-US" altLang="en-US" sz="2400"/>
              <a:t>v.add(int i, Object obj)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/>
              <a:t>     sets the object obj at index  i. Pushes the existing  object at index I ,and everything else after it , one position down in the vector. It increases the size of the vector by 1.</a:t>
            </a:r>
          </a:p>
          <a:p>
            <a:pPr eaLnBrk="1" hangingPunct="1"/>
            <a:endParaRPr lang="en-US" altLang="en-US" sz="2400"/>
          </a:p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9C5D83-76DC-4361-BCB0-FC71B45DCCF8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30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Vectors-Example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038519" y="1619053"/>
            <a:ext cx="8229600" cy="5029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import </a:t>
            </a:r>
            <a:r>
              <a:rPr lang="en-US" altLang="en-US" sz="1600" dirty="0" err="1"/>
              <a:t>java.util</a:t>
            </a:r>
            <a:r>
              <a:rPr lang="en-US" altLang="en-US" sz="1600" dirty="0"/>
              <a:t>.*;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public class </a:t>
            </a:r>
            <a:r>
              <a:rPr lang="en-US" altLang="en-US" sz="1600" dirty="0" err="1"/>
              <a:t>UseVectors</a:t>
            </a:r>
            <a:r>
              <a:rPr lang="en-US" altLang="en-US" sz="1600" dirty="0"/>
              <a:t>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{	public static void main(String[] </a:t>
            </a:r>
            <a:r>
              <a:rPr lang="en-US" altLang="en-US" sz="1600" dirty="0" err="1"/>
              <a:t>args</a:t>
            </a:r>
            <a:r>
              <a:rPr lang="en-US" altLang="en-US" sz="1600" dirty="0"/>
              <a:t>)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Vector v=new Vector();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</a:t>
            </a:r>
            <a:r>
              <a:rPr lang="en-US" altLang="en-US" sz="1600" dirty="0" err="1"/>
              <a:t>VehicleA</a:t>
            </a:r>
            <a:r>
              <a:rPr lang="en-US" altLang="en-US" sz="1600" dirty="0"/>
              <a:t> car1=new </a:t>
            </a:r>
            <a:r>
              <a:rPr lang="en-US" altLang="en-US" sz="1600" dirty="0" err="1"/>
              <a:t>VehicleA</a:t>
            </a:r>
            <a:r>
              <a:rPr lang="en-US" altLang="en-US" sz="1600" dirty="0"/>
              <a:t>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</a:t>
            </a:r>
            <a:r>
              <a:rPr lang="en-US" altLang="en-US" sz="1600" dirty="0" err="1"/>
              <a:t>VehicleA</a:t>
            </a:r>
            <a:r>
              <a:rPr lang="en-US" altLang="en-US" sz="1600" dirty="0"/>
              <a:t> car2=new </a:t>
            </a:r>
            <a:r>
              <a:rPr lang="en-US" altLang="en-US" sz="1600" dirty="0" err="1"/>
              <a:t>VehicleA</a:t>
            </a:r>
            <a:r>
              <a:rPr lang="en-US" altLang="en-US" sz="1600" dirty="0"/>
              <a:t>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</a:t>
            </a:r>
            <a:r>
              <a:rPr lang="en-US" altLang="en-US" sz="1600" dirty="0" err="1"/>
              <a:t>v.addElement</a:t>
            </a:r>
            <a:r>
              <a:rPr lang="en-US" altLang="en-US" sz="1600" dirty="0"/>
              <a:t>(car1);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</a:t>
            </a:r>
            <a:r>
              <a:rPr lang="en-US" altLang="en-US" sz="1600" dirty="0" err="1"/>
              <a:t>v.addElement</a:t>
            </a:r>
            <a:r>
              <a:rPr lang="en-US" altLang="en-US" sz="1600" dirty="0"/>
              <a:t>(car2);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Object o1=</a:t>
            </a:r>
            <a:r>
              <a:rPr lang="en-US" altLang="en-US" sz="1600" dirty="0" err="1"/>
              <a:t>v.elementAt</a:t>
            </a:r>
            <a:r>
              <a:rPr lang="en-US" altLang="en-US" sz="1600" dirty="0"/>
              <a:t>(0);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</a:t>
            </a:r>
            <a:r>
              <a:rPr lang="en-US" altLang="en-US" sz="1600" dirty="0" err="1"/>
              <a:t>VehicleA</a:t>
            </a:r>
            <a:r>
              <a:rPr lang="en-US" altLang="en-US" sz="1600" dirty="0"/>
              <a:t> veh1=(</a:t>
            </a:r>
            <a:r>
              <a:rPr lang="en-US" altLang="en-US" sz="1600" dirty="0" err="1"/>
              <a:t>VehicleA</a:t>
            </a:r>
            <a:r>
              <a:rPr lang="en-US" altLang="en-US" sz="1600" dirty="0"/>
              <a:t>)o1;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veh1.setDistance(5.0);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</a:t>
            </a:r>
            <a:r>
              <a:rPr lang="en-US" altLang="en-US" sz="1600" dirty="0" err="1"/>
              <a:t>System.out.println</a:t>
            </a:r>
            <a:r>
              <a:rPr lang="en-US" altLang="en-US" sz="1600" dirty="0"/>
              <a:t>(veh1.toString());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//place it back in the same index after updating its attribute distance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	</a:t>
            </a:r>
            <a:r>
              <a:rPr lang="en-US" altLang="en-US" sz="1600" dirty="0" err="1"/>
              <a:t>v.set</a:t>
            </a:r>
            <a:r>
              <a:rPr lang="en-US" altLang="en-US" sz="1600" dirty="0"/>
              <a:t>(o, veh1);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600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A279B7-8EA7-47F6-9219-3D9CC2484BB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30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E90F4E-6263-4460-8914-E0E2F195026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302470" y="1363272"/>
          <a:ext cx="7924800" cy="3657086"/>
        </p:xfrm>
        <a:graphic>
          <a:graphicData uri="http://schemas.openxmlformats.org/drawingml/2006/table">
            <a:tbl>
              <a:tblPr/>
              <a:tblGrid>
                <a:gridCol w="7924800"/>
              </a:tblGrid>
              <a:tr h="215515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Constructor Summary</a:t>
                      </a:r>
                      <a:endParaRPr lang="en-US" sz="1800" dirty="0"/>
                    </a:p>
                  </a:txBody>
                  <a:tcPr marL="48964" marR="48964" marT="24480" marB="2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FF"/>
                    </a:solidFill>
                  </a:tcPr>
                </a:tc>
              </a:tr>
              <a:tr h="620130">
                <a:tc>
                  <a:txBody>
                    <a:bodyPr/>
                    <a:lstStyle/>
                    <a:p>
                      <a:r>
                        <a:rPr lang="en-US" sz="1800" b="1" dirty="0">
                          <a:hlinkClick r:id="rId3"/>
                        </a:rPr>
                        <a:t>Vector</a:t>
                      </a:r>
                      <a:r>
                        <a:rPr lang="en-US" sz="1800" dirty="0"/>
                        <a:t>()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          Constructs an empty vector so that its internal data array has size 10 and its standard capacity increment is zero.</a:t>
                      </a:r>
                    </a:p>
                  </a:txBody>
                  <a:tcPr marL="48964" marR="48964" marT="24480" marB="2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804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48964" marR="48964" marT="24480" marB="2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0130">
                <a:tc>
                  <a:txBody>
                    <a:bodyPr/>
                    <a:lstStyle/>
                    <a:p>
                      <a:r>
                        <a:rPr lang="en-US" sz="1800" b="1" dirty="0">
                          <a:hlinkClick r:id="rId3"/>
                        </a:rPr>
                        <a:t>Vector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 </a:t>
                      </a:r>
                      <a:r>
                        <a:rPr lang="en-US" sz="1800" dirty="0" err="1"/>
                        <a:t>initialCapacity</a:t>
                      </a:r>
                      <a:r>
                        <a:rPr lang="en-US" sz="1800" dirty="0"/>
                        <a:t>)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          Constructs an empty vector with the specified initial capacity and with its capacity increment equal to zero.</a:t>
                      </a:r>
                    </a:p>
                  </a:txBody>
                  <a:tcPr marL="48964" marR="48964" marT="24480" marB="2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0130">
                <a:tc>
                  <a:txBody>
                    <a:bodyPr/>
                    <a:lstStyle/>
                    <a:p>
                      <a:r>
                        <a:rPr lang="en-US" sz="1800" b="1" dirty="0">
                          <a:hlinkClick r:id="rId3"/>
                        </a:rPr>
                        <a:t>Vector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 </a:t>
                      </a:r>
                      <a:r>
                        <a:rPr lang="en-US" sz="1800" dirty="0" err="1"/>
                        <a:t>initialCapacity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 </a:t>
                      </a:r>
                      <a:r>
                        <a:rPr lang="en-US" sz="1800" dirty="0" err="1"/>
                        <a:t>capacityIncrement</a:t>
                      </a:r>
                      <a:r>
                        <a:rPr lang="en-US" sz="1800" dirty="0"/>
                        <a:t>)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          Constructs an empty vector with the specified initial capacity and capacity increment.</a:t>
                      </a:r>
                    </a:p>
                  </a:txBody>
                  <a:tcPr marL="48964" marR="48964" marT="24480" marB="2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83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09959D-C297-490F-B735-26B3E1D8A33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514600" y="457200"/>
          <a:ext cx="7239000" cy="5788026"/>
        </p:xfrm>
        <a:graphic>
          <a:graphicData uri="http://schemas.openxmlformats.org/drawingml/2006/table">
            <a:tbl>
              <a:tblPr/>
              <a:tblGrid>
                <a:gridCol w="1600203"/>
                <a:gridCol w="5638797"/>
              </a:tblGrid>
              <a:tr h="289031">
                <a:tc gridSpan="2">
                  <a:txBody>
                    <a:bodyPr/>
                    <a:lstStyle/>
                    <a:p>
                      <a:pPr algn="l"/>
                      <a:r>
                        <a:rPr lang="en-US" sz="1600" b="1" dirty="0" smtClean="0"/>
                        <a:t>Some of the available Methods</a:t>
                      </a:r>
                      <a:r>
                        <a:rPr lang="en-US" sz="1600" b="1" baseline="0" dirty="0" smtClean="0"/>
                        <a:t> (see API for complete listing)</a:t>
                      </a:r>
                      <a:endParaRPr lang="en-US" sz="1600" dirty="0"/>
                    </a:p>
                  </a:txBody>
                  <a:tcPr marL="45156" marR="45156" marT="22581" marB="22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11553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 </a:t>
                      </a:r>
                      <a:r>
                        <a:rPr lang="en-US" sz="1600" dirty="0" err="1"/>
                        <a:t>boolean</a:t>
                      </a:r>
                      <a:endParaRPr lang="en-US" sz="1600" dirty="0"/>
                    </a:p>
                  </a:txBody>
                  <a:tcPr marL="45156" marR="45156" marT="22581" marB="225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hlinkClick r:id="rId3"/>
                        </a:rPr>
                        <a:t>add</a:t>
                      </a:r>
                      <a:r>
                        <a:rPr lang="en-US" sz="1600" dirty="0"/>
                        <a:t>(</a:t>
                      </a:r>
                      <a:r>
                        <a:rPr lang="en-US" sz="1600" dirty="0">
                          <a:hlinkClick r:id="rId3" tooltip="type parameter in Vector"/>
                        </a:rPr>
                        <a:t>E</a:t>
                      </a:r>
                      <a:r>
                        <a:rPr lang="en-US" sz="1600" dirty="0"/>
                        <a:t> </a:t>
                      </a:r>
                      <a:r>
                        <a:rPr lang="en-US" sz="1600" dirty="0" err="1"/>
                        <a:t>e</a:t>
                      </a:r>
                      <a:r>
                        <a:rPr lang="en-US" sz="1600" dirty="0"/>
                        <a:t>)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          Appends the specified element to the end of this Vector.</a:t>
                      </a:r>
                    </a:p>
                  </a:txBody>
                  <a:tcPr marL="45156" marR="45156" marT="22581" marB="22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11553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 void</a:t>
                      </a:r>
                    </a:p>
                  </a:txBody>
                  <a:tcPr marL="45156" marR="45156" marT="22581" marB="225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hlinkClick r:id="rId3"/>
                        </a:rPr>
                        <a:t>add</a:t>
                      </a: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int</a:t>
                      </a:r>
                      <a:r>
                        <a:rPr lang="en-US" sz="1600" dirty="0"/>
                        <a:t> index, </a:t>
                      </a:r>
                      <a:r>
                        <a:rPr lang="en-US" sz="1600" dirty="0">
                          <a:hlinkClick r:id="rId3" tooltip="type parameter in Vector"/>
                        </a:rPr>
                        <a:t>E</a:t>
                      </a:r>
                      <a:r>
                        <a:rPr lang="en-US" sz="1600" dirty="0"/>
                        <a:t> element)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          Inserts the specified element at the specified position in this Vector.</a:t>
                      </a:r>
                    </a:p>
                  </a:txBody>
                  <a:tcPr marL="45156" marR="45156" marT="22581" marB="22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34890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void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hlinkClick r:id="rId3"/>
                        </a:rPr>
                        <a:t>clear</a:t>
                      </a:r>
                      <a:r>
                        <a:rPr lang="en-US" sz="1600" dirty="0"/>
                        <a:t>()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          Removes all of the elements from this Vector.</a:t>
                      </a:r>
                    </a:p>
                  </a:txBody>
                  <a:tcPr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2518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>
                          <a:hlinkClick r:id="rId3" tooltip="type parameter in Vector"/>
                        </a:rPr>
                        <a:t>E</a:t>
                      </a:r>
                      <a:r>
                        <a:rPr lang="en-US" sz="1600" dirty="0" smtClean="0"/>
                        <a:t> (where E is the  specific Object type stored)</a:t>
                      </a:r>
                      <a:endParaRPr lang="en-US" sz="1600" dirty="0"/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hlinkClick r:id="rId3"/>
                        </a:rPr>
                        <a:t>elementAt</a:t>
                      </a: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int</a:t>
                      </a:r>
                      <a:r>
                        <a:rPr lang="en-US" sz="1600" dirty="0"/>
                        <a:t> index)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          Returns the component at the specified index.</a:t>
                      </a:r>
                    </a:p>
                  </a:txBody>
                  <a:tcPr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11553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 void</a:t>
                      </a:r>
                    </a:p>
                  </a:txBody>
                  <a:tcPr marL="45156" marR="45156" marT="22581" marB="2258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hlinkClick r:id="rId3"/>
                        </a:rPr>
                        <a:t>addElement</a:t>
                      </a:r>
                      <a:r>
                        <a:rPr lang="en-US" sz="1600" dirty="0"/>
                        <a:t>(</a:t>
                      </a:r>
                      <a:r>
                        <a:rPr lang="en-US" sz="1600" dirty="0">
                          <a:hlinkClick r:id="rId3" tooltip="type parameter in Vector"/>
                        </a:rPr>
                        <a:t>E</a:t>
                      </a:r>
                      <a:r>
                        <a:rPr lang="en-US" sz="1600" dirty="0"/>
                        <a:t> </a:t>
                      </a:r>
                      <a:r>
                        <a:rPr lang="en-US" sz="1600" dirty="0" err="1"/>
                        <a:t>obj</a:t>
                      </a:r>
                      <a:r>
                        <a:rPr lang="en-US" sz="1600" dirty="0"/>
                        <a:t>)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          Adds the specified component to the end of this vector, increasing its size by one</a:t>
                      </a:r>
                    </a:p>
                  </a:txBody>
                  <a:tcPr marL="45156" marR="45156" marT="22581" marB="22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66928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hlinkClick r:id="rId3" tooltip="type parameter in Vector"/>
                        </a:rPr>
                        <a:t>E</a:t>
                      </a:r>
                      <a:r>
                        <a:rPr lang="en-US" sz="1600" dirty="0" smtClean="0"/>
                        <a:t> (where E is the  specific Object type stored)</a:t>
                      </a:r>
                    </a:p>
                    <a:p>
                      <a:pPr algn="r"/>
                      <a:r>
                        <a:rPr lang="en-US" sz="1600" dirty="0"/>
                        <a:t> 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hlinkClick r:id="rId3"/>
                        </a:rPr>
                        <a:t>set</a:t>
                      </a: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int</a:t>
                      </a:r>
                      <a:r>
                        <a:rPr lang="en-US" sz="1600" dirty="0"/>
                        <a:t> index, </a:t>
                      </a:r>
                      <a:r>
                        <a:rPr lang="en-US" sz="1600" dirty="0">
                          <a:hlinkClick r:id="rId3" tooltip="type parameter in Vector"/>
                        </a:rPr>
                        <a:t>E</a:t>
                      </a:r>
                      <a:r>
                        <a:rPr lang="en-US" sz="1600" dirty="0"/>
                        <a:t> element)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          Replaces the element at the specified position in this Vector with the specified element.</a:t>
                      </a:r>
                    </a:p>
                  </a:txBody>
                  <a:tcPr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93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Multidimensional Arrays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Two-Dimensional Arrays</a:t>
            </a:r>
          </a:p>
          <a:p>
            <a:pPr eaLnBrk="1" hangingPunct="1"/>
            <a:r>
              <a:rPr lang="en-US" altLang="en-US" sz="2000"/>
              <a:t>Allows organization of data in rows and columns in a table-like representation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Example:</a:t>
            </a:r>
          </a:p>
          <a:p>
            <a:pPr lvl="1" eaLnBrk="1" hangingPunct="1">
              <a:buFontTx/>
              <a:buNone/>
            </a:pPr>
            <a:r>
              <a:rPr lang="en-US" altLang="en-US" sz="2000"/>
              <a:t>Daily temperatures can be arranged as 52 weeks with 7 days each.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E890102-2F5E-42B3-A35F-F8425827DE9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2533" name="Picture 4" descr="TempTab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3581400"/>
            <a:ext cx="6811963" cy="244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04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Declaring Multidimensional Arrays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2000" dirty="0"/>
              <a:t>Declaring a two-dimensional array: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datatype [][] </a:t>
            </a:r>
            <a:r>
              <a:rPr lang="en-US" altLang="en-US" sz="2000" dirty="0" err="1">
                <a:latin typeface="Courier New" panose="02070309020205020404" pitchFamily="49" charset="0"/>
              </a:rPr>
              <a:t>arrayName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</a:t>
            </a:r>
            <a:r>
              <a:rPr lang="en-US" altLang="en-US" sz="2000" dirty="0"/>
              <a:t>or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datatype [][] arrayName1, arrayName2, …;</a:t>
            </a:r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r>
              <a:rPr lang="en-US" altLang="en-US" sz="2000" dirty="0"/>
              <a:t>Declaring a three-dimensional array:</a:t>
            </a:r>
          </a:p>
          <a:p>
            <a:pPr eaLnBrk="1" hangingPunct="1">
              <a:buFontTx/>
              <a:buNone/>
            </a:pPr>
            <a:r>
              <a:rPr lang="en-US" altLang="en-US" sz="2000" dirty="0"/>
              <a:t>       </a:t>
            </a:r>
            <a:r>
              <a:rPr lang="en-US" altLang="en-US" sz="2000" dirty="0">
                <a:latin typeface="Courier New" panose="02070309020205020404" pitchFamily="49" charset="0"/>
              </a:rPr>
              <a:t>datatype [][][] </a:t>
            </a:r>
            <a:r>
              <a:rPr lang="en-US" altLang="en-US" sz="2000" dirty="0" err="1">
                <a:latin typeface="Courier New" panose="02070309020205020404" pitchFamily="49" charset="0"/>
              </a:rPr>
              <a:t>arrayName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</a:t>
            </a:r>
            <a:r>
              <a:rPr lang="en-US" altLang="en-US" sz="2000" dirty="0"/>
              <a:t>or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datatype [][][] arrayName1, arrayName2, …;</a:t>
            </a:r>
          </a:p>
          <a:p>
            <a:r>
              <a:rPr lang="en-US" altLang="en-US" sz="2000" dirty="0"/>
              <a:t>Examples:</a:t>
            </a:r>
          </a:p>
          <a:p>
            <a:pPr eaLnBrk="1" hangingPunct="1">
              <a:buFontTx/>
              <a:buNone/>
            </a:pPr>
            <a:r>
              <a:rPr lang="en-US" altLang="en-US" sz="2000" dirty="0"/>
              <a:t>   </a:t>
            </a:r>
            <a:r>
              <a:rPr lang="en-US" altLang="en-US" sz="2000" dirty="0">
                <a:latin typeface="Courier New" panose="02070309020205020404" pitchFamily="49" charset="0"/>
              </a:rPr>
              <a:t>double [][] </a:t>
            </a:r>
            <a:r>
              <a:rPr lang="en-US" altLang="en-US" sz="2000" dirty="0" err="1">
                <a:latin typeface="Courier New" panose="02070309020205020404" pitchFamily="49" charset="0"/>
              </a:rPr>
              <a:t>dailyTemps</a:t>
            </a:r>
            <a:r>
              <a:rPr lang="en-US" altLang="en-US" sz="2000" dirty="0">
                <a:latin typeface="Courier New" panose="02070309020205020404" pitchFamily="49" charset="0"/>
              </a:rPr>
              <a:t>, </a:t>
            </a:r>
            <a:r>
              <a:rPr lang="en-US" altLang="en-US" sz="2000" dirty="0" err="1">
                <a:latin typeface="Courier New" panose="02070309020205020404" pitchFamily="49" charset="0"/>
              </a:rPr>
              <a:t>weeklyTemps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Auto [][][] cars;</a:t>
            </a:r>
          </a:p>
          <a:p>
            <a:pPr eaLnBrk="1" hangingPunct="1"/>
            <a:endParaRPr lang="en-US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68C101-92B3-49D6-A638-63D3BEFC631E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Line Callout 1 1"/>
          <p:cNvSpPr/>
          <p:nvPr/>
        </p:nvSpPr>
        <p:spPr>
          <a:xfrm>
            <a:off x="5605272" y="2039112"/>
            <a:ext cx="3273552" cy="557784"/>
          </a:xfrm>
          <a:prstGeom prst="borderCallout1">
            <a:avLst>
              <a:gd name="adj1" fmla="val 18750"/>
              <a:gd name="adj2" fmla="val -8333"/>
              <a:gd name="adj3" fmla="val 43647"/>
              <a:gd name="adj4" fmla="val -732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Two empty braces indicates it is a 2 Dim array</a:t>
            </a:r>
            <a:endParaRPr lang="en-US" dirty="0"/>
          </a:p>
        </p:txBody>
      </p:sp>
      <p:sp>
        <p:nvSpPr>
          <p:cNvPr id="3" name="Line Callout 1 2"/>
          <p:cNvSpPr/>
          <p:nvPr/>
        </p:nvSpPr>
        <p:spPr>
          <a:xfrm>
            <a:off x="7607808" y="4039457"/>
            <a:ext cx="2121408" cy="459391"/>
          </a:xfrm>
          <a:prstGeom prst="borderCallout1">
            <a:avLst>
              <a:gd name="adj1" fmla="val 18750"/>
              <a:gd name="adj2" fmla="val -8333"/>
              <a:gd name="adj3" fmla="val 397211"/>
              <a:gd name="adj4" fmla="val -22541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Array of objects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908804" y="5867230"/>
            <a:ext cx="7283196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We are not done! Need to instantiate the array!!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0547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Instantiating Multidimensional Arrays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Instantiating a two-dimensional array: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</a:rPr>
              <a:t>arrayName</a:t>
            </a:r>
            <a:r>
              <a:rPr lang="en-US" altLang="en-US" sz="2000" dirty="0">
                <a:latin typeface="Courier New" panose="02070309020205020404" pitchFamily="49" charset="0"/>
              </a:rPr>
              <a:t> = new datatype [exp1][exp2];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 </a:t>
            </a:r>
            <a:r>
              <a:rPr lang="en-US" altLang="en-US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where exp1 and exp2 are expressions </a:t>
            </a:r>
            <a:r>
              <a:rPr lang="en-US" altLang="en-US" sz="2000" dirty="0" smtClean="0">
                <a:latin typeface="Courier New" panose="02070309020205020404" pitchFamily="49" charset="0"/>
                <a:cs typeface="Times New Roman" panose="02020603050405020304" pitchFamily="18" charset="0"/>
              </a:rPr>
              <a:t>that </a:t>
            </a:r>
            <a:r>
              <a:rPr lang="en-US" altLang="en-US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evaluate to </a:t>
            </a:r>
            <a:r>
              <a:rPr lang="en-US" altLang="en-US" sz="2000" dirty="0" smtClean="0">
                <a:latin typeface="Courier New" panose="02070309020205020404" pitchFamily="49" charset="0"/>
                <a:cs typeface="Times New Roman" panose="02020603050405020304" pitchFamily="18" charset="0"/>
              </a:rPr>
              <a:t>integers </a:t>
            </a:r>
            <a:r>
              <a:rPr lang="en-US" altLang="en-US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and </a:t>
            </a:r>
            <a:r>
              <a:rPr lang="en-US" altLang="en-US" sz="2000" dirty="0" smtClean="0">
                <a:latin typeface="Courier New" panose="02070309020205020404" pitchFamily="49" charset="0"/>
                <a:cs typeface="Times New Roman" panose="02020603050405020304" pitchFamily="18" charset="0"/>
              </a:rPr>
              <a:t>specify, respectively</a:t>
            </a:r>
            <a:r>
              <a:rPr lang="en-US" altLang="en-US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, the number of rows </a:t>
            </a:r>
            <a:br>
              <a:rPr lang="en-US" altLang="en-US" sz="2000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     and the number of columns in the array.</a:t>
            </a:r>
          </a:p>
          <a:p>
            <a:pPr eaLnBrk="1" hangingPunct="1">
              <a:buFontTx/>
              <a:buNone/>
            </a:pPr>
            <a:endParaRPr lang="en-US" altLang="en-US" sz="2000" dirty="0"/>
          </a:p>
          <a:p>
            <a:pPr eaLnBrk="1" hangingPunct="1">
              <a:buFontTx/>
              <a:buNone/>
            </a:pPr>
            <a:r>
              <a:rPr lang="en-US" altLang="en-US" sz="2000" dirty="0"/>
              <a:t>Example: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dailyTemps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new double [52][7]; 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i="1" dirty="0" err="1">
                <a:cs typeface="Courier New" panose="02070309020205020404" pitchFamily="49" charset="0"/>
              </a:rPr>
              <a:t>dailyTemps</a:t>
            </a:r>
            <a:r>
              <a:rPr lang="en-US" altLang="en-US" sz="2000" dirty="0">
                <a:cs typeface="Courier New" panose="02070309020205020404" pitchFamily="49" charset="0"/>
              </a:rPr>
              <a:t> has 52 rows and 7 columns, for a total of 364 elements.</a:t>
            </a:r>
            <a:endParaRPr lang="en-US" altLang="en-US" sz="2000" dirty="0"/>
          </a:p>
          <a:p>
            <a:pPr eaLnBrk="1" hangingPunct="1"/>
            <a:endParaRPr lang="en-US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93A1A8A-C499-4B1C-AC11-9E093F74ADB2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Line Callout 1 1"/>
          <p:cNvSpPr/>
          <p:nvPr/>
        </p:nvSpPr>
        <p:spPr>
          <a:xfrm>
            <a:off x="8449056" y="4023360"/>
            <a:ext cx="3090672" cy="740664"/>
          </a:xfrm>
          <a:prstGeom prst="borderCallout1">
            <a:avLst>
              <a:gd name="adj1" fmla="val 18750"/>
              <a:gd name="adj2" fmla="val -8333"/>
              <a:gd name="adj3" fmla="val 60648"/>
              <a:gd name="adj4" fmla="val -7133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 this way to instantiate only when all rows have the same no. of columns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69080" y="5867230"/>
            <a:ext cx="7671816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Rows in an array can have different no. of columns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046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Assigning Initial Values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datatype [][] arrayName = 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{ { value00, value01, … }, 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{ value10, value11, …},  … };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where </a:t>
            </a:r>
            <a:r>
              <a:rPr lang="en-US" altLang="en-US" sz="1800" i="1">
                <a:latin typeface="Courier New" panose="02070309020205020404" pitchFamily="49" charset="0"/>
                <a:cs typeface="Courier New" panose="02070309020205020404" pitchFamily="49" charset="0"/>
              </a:rPr>
              <a:t>valueMN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is an expression that</a:t>
            </a:r>
            <a:b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evaluates to the data type of the array </a:t>
            </a:r>
            <a:b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and is the value to assign to the element </a:t>
            </a:r>
            <a:b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at row </a:t>
            </a:r>
            <a:r>
              <a:rPr lang="en-US" altLang="en-US" sz="1800" i="1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and column </a:t>
            </a:r>
            <a:r>
              <a:rPr lang="en-US" altLang="en-US" sz="1800" i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lvl="1" eaLnBrk="1" hangingPunct="1"/>
            <a:r>
              <a:rPr lang="en-US" altLang="en-US" sz="1800">
                <a:cs typeface="Times New Roman" panose="02020603050405020304" pitchFamily="18" charset="0"/>
              </a:rPr>
              <a:t>The number of sublists is the number of rows in the array.  </a:t>
            </a:r>
          </a:p>
          <a:p>
            <a:pPr lvl="1" eaLnBrk="1" hangingPunct="1"/>
            <a:r>
              <a:rPr lang="en-US" altLang="en-US" sz="1800">
                <a:cs typeface="Times New Roman" panose="02020603050405020304" pitchFamily="18" charset="0"/>
              </a:rPr>
              <a:t>The number of values in each sublist determines the number of columns in that row. 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Thus, a two-dimensional array can have a different number of columns in each row. </a:t>
            </a:r>
            <a:endParaRPr lang="en-US" altLang="en-US" sz="1800"/>
          </a:p>
          <a:p>
            <a:pPr eaLnBrk="1" hangingPunct="1"/>
            <a:r>
              <a:rPr lang="en-US" altLang="en-US" sz="1800"/>
              <a:t>Note that each {…… } separated by coma represents one row’s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365BF7-02D2-41E0-ABD2-9142C5549B8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57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Assigning Initial Values Example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2438400" y="1676401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For example, this statement: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     </a:t>
            </a:r>
            <a:r>
              <a:rPr lang="en-US" altLang="en-US" sz="200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int [][] numbersList1 = { { 0, 5, 10 }, </a:t>
            </a:r>
            <a:endParaRPr lang="en-US" altLang="en-US" sz="20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{ 0, 3, 6, 9 } }; 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F2BFCF-08BB-4C92-BB1B-A099F164ADA0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6629" name="Picture 4" descr="numbersLis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1" y="3124201"/>
            <a:ext cx="6403975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ine Callout 1 1"/>
          <p:cNvSpPr/>
          <p:nvPr/>
        </p:nvSpPr>
        <p:spPr>
          <a:xfrm>
            <a:off x="8842248" y="3026664"/>
            <a:ext cx="2688336" cy="685800"/>
          </a:xfrm>
          <a:prstGeom prst="borderCallout1">
            <a:avLst>
              <a:gd name="adj1" fmla="val 18750"/>
              <a:gd name="adj2" fmla="val -8333"/>
              <a:gd name="adj3" fmla="val 85833"/>
              <a:gd name="adj4" fmla="val -10125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Actually an array of arrays!</a:t>
            </a:r>
            <a:endParaRPr lang="en-US" dirty="0"/>
          </a:p>
        </p:txBody>
      </p:sp>
      <p:sp>
        <p:nvSpPr>
          <p:cNvPr id="7" name="Line Callout 1 6"/>
          <p:cNvSpPr/>
          <p:nvPr/>
        </p:nvSpPr>
        <p:spPr>
          <a:xfrm>
            <a:off x="4407408" y="6073776"/>
            <a:ext cx="3517392" cy="685800"/>
          </a:xfrm>
          <a:prstGeom prst="borderCallout1">
            <a:avLst>
              <a:gd name="adj1" fmla="val 18750"/>
              <a:gd name="adj2" fmla="val -8333"/>
              <a:gd name="adj3" fmla="val -218167"/>
              <a:gd name="adj4" fmla="val 378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Each reference points to another single dimensional array</a:t>
            </a:r>
            <a:endParaRPr lang="en-US" dirty="0"/>
          </a:p>
        </p:txBody>
      </p:sp>
      <p:sp>
        <p:nvSpPr>
          <p:cNvPr id="8" name="Line Callout 1 7"/>
          <p:cNvSpPr/>
          <p:nvPr/>
        </p:nvSpPr>
        <p:spPr>
          <a:xfrm>
            <a:off x="600456" y="5670550"/>
            <a:ext cx="3029712" cy="685800"/>
          </a:xfrm>
          <a:prstGeom prst="borderCallout1">
            <a:avLst>
              <a:gd name="adj1" fmla="val 18750"/>
              <a:gd name="adj2" fmla="val -8333"/>
              <a:gd name="adj3" fmla="val -142167"/>
              <a:gd name="adj4" fmla="val 1290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Reference to 1D array</a:t>
            </a:r>
            <a:endParaRPr lang="en-US" dirty="0"/>
          </a:p>
        </p:txBody>
      </p:sp>
      <p:sp>
        <p:nvSpPr>
          <p:cNvPr id="9" name="Line Callout 1 8"/>
          <p:cNvSpPr/>
          <p:nvPr/>
        </p:nvSpPr>
        <p:spPr>
          <a:xfrm>
            <a:off x="8522208" y="6004469"/>
            <a:ext cx="3517392" cy="685800"/>
          </a:xfrm>
          <a:prstGeom prst="borderCallout1">
            <a:avLst>
              <a:gd name="adj1" fmla="val 18750"/>
              <a:gd name="adj2" fmla="val -8333"/>
              <a:gd name="adj3" fmla="val -229395"/>
              <a:gd name="adj4" fmla="val -1747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Each reference points to the actual value or object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38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An Array of Arrays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 smtClean="0">
                <a:cs typeface="Times New Roman" panose="02020603050405020304" pitchFamily="18" charset="0"/>
              </a:rPr>
              <a:t>As the preceding figure illustrates, a two-dimensional array is </a:t>
            </a:r>
            <a:r>
              <a:rPr lang="en-US" altLang="en-US" u="sng" dirty="0" smtClean="0">
                <a:cs typeface="Times New Roman" panose="02020603050405020304" pitchFamily="18" charset="0"/>
              </a:rPr>
              <a:t>an array of arrays</a:t>
            </a:r>
            <a:r>
              <a:rPr lang="en-US" altLang="en-US" dirty="0" smtClean="0">
                <a:cs typeface="Times New Roman" panose="02020603050405020304" pitchFamily="18" charset="0"/>
              </a:rPr>
              <a:t>. </a:t>
            </a:r>
          </a:p>
          <a:p>
            <a:pPr lvl="1" eaLnBrk="1" hangingPunct="1"/>
            <a:r>
              <a:rPr lang="en-US" altLang="en-US" dirty="0" smtClean="0">
                <a:cs typeface="Times New Roman" panose="02020603050405020304" pitchFamily="18" charset="0"/>
              </a:rPr>
              <a:t>The first dimension of a two-dimensional array is an array of array references, with each reference pointing to a single-dimensional array. </a:t>
            </a:r>
          </a:p>
          <a:p>
            <a:pPr lvl="1" eaLnBrk="1" hangingPunct="1"/>
            <a:r>
              <a:rPr lang="en-US" altLang="en-US" dirty="0" smtClean="0">
                <a:cs typeface="Times New Roman" panose="02020603050405020304" pitchFamily="18" charset="0"/>
              </a:rPr>
              <a:t>Thus, a two-dimensional array is comprised of an array of rows, where each row is a single-dimensional array. </a:t>
            </a:r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AFD88C-3C83-4AC4-94BF-EBB171D45290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39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Instantiating Arrays with </a:t>
            </a:r>
            <a:r>
              <a:rPr lang="en-US" altLang="en-US" dirty="0" smtClean="0"/>
              <a:t>Different </a:t>
            </a:r>
            <a:r>
              <a:rPr lang="en-US" altLang="en-US" dirty="0" smtClean="0"/>
              <a:t>Length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None/>
              <a:defRPr/>
            </a:pPr>
            <a:r>
              <a:rPr lang="en-US" sz="2000" dirty="0">
                <a:cs typeface="Times New Roman" pitchFamily="18" charset="0"/>
              </a:rPr>
              <a:t>To instantiate a two-dimensional array </a:t>
            </a:r>
            <a:r>
              <a:rPr lang="en-US" sz="2000" b="1" u="sng" dirty="0">
                <a:cs typeface="Times New Roman" pitchFamily="18" charset="0"/>
              </a:rPr>
              <a:t>whose rows have a different number of columns</a:t>
            </a:r>
            <a:r>
              <a:rPr lang="en-US" sz="2000" dirty="0">
                <a:cs typeface="Times New Roman" pitchFamily="18" charset="0"/>
              </a:rPr>
              <a:t>:</a:t>
            </a:r>
            <a:endParaRPr lang="en-US" sz="2000" dirty="0">
              <a:solidFill>
                <a:srgbClr val="0000FF"/>
              </a:solidFill>
              <a:cs typeface="Times New Roman" pitchFamily="18" charset="0"/>
            </a:endParaRPr>
          </a:p>
          <a:p>
            <a:pPr marL="533400" indent="-533400">
              <a:buNone/>
              <a:defRPr/>
            </a:pPr>
            <a:r>
              <a:rPr lang="en-US" sz="2000" dirty="0">
                <a:cs typeface="Times New Roman" pitchFamily="18" charset="0"/>
              </a:rPr>
              <a:t>     1. instantiate the two-dimensional array</a:t>
            </a:r>
          </a:p>
          <a:p>
            <a:pPr marL="533400" indent="-533400">
              <a:buNone/>
              <a:defRPr/>
            </a:pPr>
            <a:r>
              <a:rPr lang="en-US" sz="2000" dirty="0">
                <a:cs typeface="Times New Roman" pitchFamily="18" charset="0"/>
              </a:rPr>
              <a:t>     2. instantiate each row as a single-dimensional array  </a:t>
            </a:r>
            <a:endParaRPr lang="en-US" sz="2000" dirty="0">
              <a:solidFill>
                <a:srgbClr val="0000FF"/>
              </a:solidFill>
              <a:cs typeface="Times New Roman" pitchFamily="18" charset="0"/>
            </a:endParaRPr>
          </a:p>
          <a:p>
            <a:pPr marL="533400" indent="-533400">
              <a:buNone/>
              <a:defRPr/>
            </a:pPr>
            <a:r>
              <a:rPr lang="en-US" sz="2000" dirty="0">
                <a:cs typeface="Times New Roman" pitchFamily="18" charset="0"/>
              </a:rPr>
              <a:t> 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//instantiate the array with 3 rows</a:t>
            </a:r>
            <a:endParaRPr lang="en-US" sz="2000" dirty="0">
              <a:latin typeface="Courier New" pitchFamily="49" charset="0"/>
              <a:cs typeface="Times New Roman" pitchFamily="18" charset="0"/>
            </a:endParaRP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char [][] grades = new char [3][];</a:t>
            </a:r>
            <a:endParaRPr lang="en-US" sz="2000" dirty="0">
              <a:latin typeface="Courier New" pitchFamily="49" charset="0"/>
              <a:cs typeface="Times New Roman" pitchFamily="18" charset="0"/>
            </a:endParaRP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// instantiate each row                   </a:t>
            </a:r>
            <a:endParaRPr lang="en-US" sz="2000" dirty="0">
              <a:latin typeface="Courier New" pitchFamily="49" charset="0"/>
              <a:cs typeface="Times New Roman" pitchFamily="18" charset="0"/>
            </a:endParaRP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grades[0] = new char [23];  // instantiate row 0</a:t>
            </a: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grades[1] = new char [16];  // instantiate row 1</a:t>
            </a: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grades[2] = new char [12];  // instantiate row 2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46288B-7F67-4849-A775-0942A621C56E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74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Accessing Array Elements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Elements of a two-dimensional array are accessed using this syntax: 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	    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arrayName[exp1][exp2]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 i="1">
                <a:cs typeface="Times New Roman" panose="02020603050405020304" pitchFamily="18" charset="0"/>
              </a:rPr>
              <a:t>exp1</a:t>
            </a:r>
            <a:r>
              <a:rPr lang="en-US" altLang="en-US" sz="1800">
                <a:cs typeface="Times New Roman" panose="02020603050405020304" pitchFamily="18" charset="0"/>
              </a:rPr>
              <a:t> is the element's </a:t>
            </a:r>
            <a:r>
              <a:rPr lang="en-US" altLang="en-US" sz="1800">
                <a:solidFill>
                  <a:schemeClr val="tx2"/>
                </a:solidFill>
                <a:cs typeface="Times New Roman" panose="02020603050405020304" pitchFamily="18" charset="0"/>
              </a:rPr>
              <a:t>row index</a:t>
            </a:r>
            <a:endParaRPr lang="en-US" altLang="en-US" sz="1800"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en-US" sz="1800">
                <a:cs typeface="Times New Roman" panose="02020603050405020304" pitchFamily="18" charset="0"/>
              </a:rPr>
              <a:t>row index of</a:t>
            </a:r>
            <a:r>
              <a:rPr lang="en-US" altLang="en-US" sz="1800" b="1">
                <a:cs typeface="Times New Roman" panose="02020603050405020304" pitchFamily="18" charset="0"/>
              </a:rPr>
              <a:t> </a:t>
            </a:r>
            <a:r>
              <a:rPr lang="en-US" altLang="en-US" sz="1800">
                <a:cs typeface="Times New Roman" panose="02020603050405020304" pitchFamily="18" charset="0"/>
              </a:rPr>
              <a:t>first row: 0 </a:t>
            </a:r>
          </a:p>
          <a:p>
            <a:pPr lvl="2" eaLnBrk="1" hangingPunct="1"/>
            <a:r>
              <a:rPr lang="en-US" altLang="en-US" sz="1800">
                <a:cs typeface="Times New Roman" panose="02020603050405020304" pitchFamily="18" charset="0"/>
              </a:rPr>
              <a:t>row index of last row: number of rows - 1 </a:t>
            </a:r>
          </a:p>
          <a:p>
            <a:pPr lvl="1" eaLnBrk="1" hangingPunct="1"/>
            <a:r>
              <a:rPr lang="en-US" altLang="en-US" sz="1800" i="1">
                <a:cs typeface="Times New Roman" panose="02020603050405020304" pitchFamily="18" charset="0"/>
              </a:rPr>
              <a:t>exp2</a:t>
            </a:r>
            <a:r>
              <a:rPr lang="en-US" altLang="en-US" sz="1800">
                <a:cs typeface="Times New Roman" panose="02020603050405020304" pitchFamily="18" charset="0"/>
              </a:rPr>
              <a:t> is the element's </a:t>
            </a:r>
            <a:r>
              <a:rPr lang="en-US" altLang="en-US" sz="1800">
                <a:solidFill>
                  <a:schemeClr val="tx2"/>
                </a:solidFill>
                <a:cs typeface="Times New Roman" panose="02020603050405020304" pitchFamily="18" charset="0"/>
              </a:rPr>
              <a:t>column index</a:t>
            </a:r>
            <a:r>
              <a:rPr lang="en-US" altLang="en-US" sz="1800">
                <a:cs typeface="Times New Roman" panose="02020603050405020304" pitchFamily="18" charset="0"/>
              </a:rPr>
              <a:t> </a:t>
            </a:r>
          </a:p>
          <a:p>
            <a:pPr lvl="2" eaLnBrk="1" hangingPunct="1"/>
            <a:r>
              <a:rPr lang="en-US" altLang="en-US" sz="1800">
                <a:cs typeface="Times New Roman" panose="02020603050405020304" pitchFamily="18" charset="0"/>
              </a:rPr>
              <a:t>column index of first column: 0 </a:t>
            </a:r>
          </a:p>
          <a:p>
            <a:pPr lvl="2" eaLnBrk="1" hangingPunct="1"/>
            <a:r>
              <a:rPr lang="en-US" altLang="en-US" sz="1800">
                <a:cs typeface="Times New Roman" panose="02020603050405020304" pitchFamily="18" charset="0"/>
              </a:rPr>
              <a:t>column index of last column: number of columns in that row - 1</a:t>
            </a:r>
            <a:endParaRPr lang="en-US" altLang="en-US" sz="1800"/>
          </a:p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906B40-6CE8-44E1-9A67-38940657A4C0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97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Length of the Array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The number of rows in a two-dimensional array is: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         </a:t>
            </a:r>
            <a:r>
              <a:rPr lang="en-US" altLang="en-US" sz="2400">
                <a:latin typeface="Courier New" panose="02070309020205020404" pitchFamily="49" charset="0"/>
              </a:rPr>
              <a:t>arrayName.length</a:t>
            </a:r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mtClean="0"/>
              <a:t>The number of columns in row </a:t>
            </a:r>
            <a:r>
              <a:rPr lang="en-US" altLang="en-US" i="1" smtClean="0"/>
              <a:t>n</a:t>
            </a:r>
            <a:r>
              <a:rPr lang="en-US" altLang="en-US" smtClean="0"/>
              <a:t> in a two-dimensional array is: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         </a:t>
            </a:r>
            <a:r>
              <a:rPr lang="en-US" altLang="en-US" sz="2400">
                <a:latin typeface="Courier New" panose="02070309020205020404" pitchFamily="49" charset="0"/>
              </a:rPr>
              <a:t>arrayName[n].length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347FB9-C0F5-4E8C-B58D-6148C6507BF4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69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Instantiating Arrays with </a:t>
            </a:r>
            <a:r>
              <a:rPr lang="en-US" altLang="en-US" dirty="0" smtClean="0"/>
              <a:t>Different </a:t>
            </a:r>
            <a:r>
              <a:rPr lang="en-US" altLang="en-US" dirty="0" smtClean="0"/>
              <a:t>Length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928" y="2005012"/>
            <a:ext cx="10515600" cy="4351338"/>
          </a:xfrm>
        </p:spPr>
        <p:txBody>
          <a:bodyPr/>
          <a:lstStyle/>
          <a:p>
            <a:pPr marL="533400" indent="-533400">
              <a:buNone/>
              <a:defRPr/>
            </a:pPr>
            <a:r>
              <a:rPr lang="en-US" sz="2000" dirty="0">
                <a:cs typeface="Times New Roman" pitchFamily="18" charset="0"/>
              </a:rPr>
              <a:t> 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//instantiate the array with 3 rows</a:t>
            </a:r>
            <a:endParaRPr lang="en-US" sz="2000" dirty="0">
              <a:latin typeface="Courier New" pitchFamily="49" charset="0"/>
              <a:cs typeface="Times New Roman" pitchFamily="18" charset="0"/>
            </a:endParaRP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char [][] grades = new char [3][];</a:t>
            </a:r>
            <a:endParaRPr lang="en-US" sz="2000" dirty="0">
              <a:latin typeface="Courier New" pitchFamily="49" charset="0"/>
              <a:cs typeface="Times New Roman" pitchFamily="18" charset="0"/>
            </a:endParaRP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// instantiate each row                   </a:t>
            </a:r>
            <a:endParaRPr lang="en-US" sz="2000" dirty="0">
              <a:latin typeface="Courier New" pitchFamily="49" charset="0"/>
              <a:cs typeface="Times New Roman" pitchFamily="18" charset="0"/>
            </a:endParaRP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grades[0] = new char [23];  // instantiate row 0</a:t>
            </a: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grades[1] = new char [16];  // instantiate row 1</a:t>
            </a: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grades[2] = new char [12];  // instantiate row 2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46288B-7F67-4849-A775-0942A621C56E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Line Callout 1 1"/>
          <p:cNvSpPr/>
          <p:nvPr/>
        </p:nvSpPr>
        <p:spPr>
          <a:xfrm>
            <a:off x="8458200" y="2005012"/>
            <a:ext cx="3154680" cy="884492"/>
          </a:xfrm>
          <a:prstGeom prst="borderCallout1">
            <a:avLst>
              <a:gd name="adj1" fmla="val 18750"/>
              <a:gd name="adj2" fmla="val -8333"/>
              <a:gd name="adj3" fmla="val 60025"/>
              <a:gd name="adj4" fmla="val -8638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</a:t>
            </a:r>
            <a:r>
              <a:rPr lang="en-US" dirty="0" err="1" smtClean="0"/>
              <a:t>rades.length</a:t>
            </a:r>
            <a:r>
              <a:rPr lang="en-US" dirty="0" smtClean="0"/>
              <a:t> gives you the number of rows</a:t>
            </a:r>
            <a:endParaRPr lang="en-US" dirty="0"/>
          </a:p>
        </p:txBody>
      </p:sp>
      <p:sp>
        <p:nvSpPr>
          <p:cNvPr id="6" name="Line Callout 1 5"/>
          <p:cNvSpPr/>
          <p:nvPr/>
        </p:nvSpPr>
        <p:spPr>
          <a:xfrm>
            <a:off x="8866632" y="3529012"/>
            <a:ext cx="3154680" cy="884492"/>
          </a:xfrm>
          <a:prstGeom prst="borderCallout1">
            <a:avLst>
              <a:gd name="adj1" fmla="val 18750"/>
              <a:gd name="adj2" fmla="val -8333"/>
              <a:gd name="adj3" fmla="val -9241"/>
              <a:gd name="adj4" fmla="val -14262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r>
              <a:rPr lang="en-US" dirty="0" smtClean="0"/>
              <a:t>rades[0].length gives you the number of cols in row 0 (23 in this example)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50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 Dimensional Arrays of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2161"/>
            <a:ext cx="10515600" cy="4351338"/>
          </a:xfrm>
        </p:spPr>
        <p:txBody>
          <a:bodyPr/>
          <a:lstStyle/>
          <a:p>
            <a:r>
              <a:rPr lang="en-US" dirty="0" smtClean="0"/>
              <a:t>After instantiating the 2 Dim arrays, we need to instantiate the objects for each position in the array</a:t>
            </a:r>
          </a:p>
          <a:p>
            <a:pPr lvl="1"/>
            <a:r>
              <a:rPr lang="en-US" dirty="0" smtClean="0"/>
              <a:t>Only when are dealing with array of objects not for primitive data types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55904" y="2796349"/>
            <a:ext cx="10515600" cy="37598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dirty="0" smtClean="0"/>
              <a:t>To instantiate all array objects, we use a nested </a:t>
            </a:r>
            <a:r>
              <a:rPr lang="en-US" i="1" dirty="0" smtClean="0"/>
              <a:t>for </a:t>
            </a:r>
            <a:r>
              <a:rPr lang="en-US" dirty="0" smtClean="0"/>
              <a:t>loop: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Auto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[][]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cars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= new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Auto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[3][];</a:t>
            </a:r>
            <a:endParaRPr lang="en-US" sz="2000" dirty="0">
              <a:latin typeface="Courier New" pitchFamily="49" charset="0"/>
              <a:cs typeface="Times New Roman" pitchFamily="18" charset="0"/>
            </a:endParaRPr>
          </a:p>
          <a:p>
            <a:pPr marL="533400" indent="-533400"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cars[0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] = new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Auto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[23];  // instantiate row 0</a:t>
            </a: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cars[1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] = new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Auto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[16];  // instantiate row 1</a:t>
            </a:r>
          </a:p>
          <a:p>
            <a:pPr marL="533400" indent="-533400"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cars[2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] = new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Auto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[12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];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// instantiate row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2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for (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arrayName.length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++ ){</a:t>
            </a:r>
            <a:endParaRPr lang="en-US" sz="2000" dirty="0" smtClean="0"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    for ( </a:t>
            </a:r>
            <a:r>
              <a:rPr lang="en-US" sz="2000" dirty="0" err="1" smtClean="0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 j = 0; j &lt; </a:t>
            </a:r>
            <a:r>
              <a:rPr lang="en-US" sz="2000" dirty="0" err="1" smtClean="0">
                <a:latin typeface="Courier New" pitchFamily="49" charset="0"/>
                <a:cs typeface="Times New Roman" pitchFamily="18" charset="0"/>
              </a:rPr>
              <a:t>arrayName</a:t>
            </a: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sz="2000" dirty="0" err="1" smtClean="0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].length; </a:t>
            </a:r>
            <a:r>
              <a:rPr lang="en-US" sz="2000" dirty="0" err="1" smtClean="0">
                <a:latin typeface="Courier New" pitchFamily="49" charset="0"/>
                <a:cs typeface="Times New Roman" pitchFamily="18" charset="0"/>
              </a:rPr>
              <a:t>j++</a:t>
            </a: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 ){</a:t>
            </a:r>
            <a:r>
              <a:rPr lang="en-US" sz="2000" dirty="0" smtClean="0">
                <a:latin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    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 cars[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][j] = new Auto();</a:t>
            </a:r>
            <a:endParaRPr lang="en-US" sz="2000" dirty="0" smtClean="0"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4920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9248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Accessing Two-Dimensional </a:t>
            </a:r>
            <a:br>
              <a:rPr lang="en-US" altLang="en-US" sz="4000"/>
            </a:br>
            <a:r>
              <a:rPr lang="en-US" altLang="en-US" sz="4000"/>
              <a:t>Array Elements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</a:t>
            </a:r>
          </a:p>
        </p:txBody>
      </p:sp>
      <p:graphicFrame>
        <p:nvGraphicFramePr>
          <p:cNvPr id="423967" name="Group 31"/>
          <p:cNvGraphicFramePr>
            <a:graphicFrameLocks noGrp="1"/>
          </p:cNvGraphicFramePr>
          <p:nvPr/>
        </p:nvGraphicFramePr>
        <p:xfrm>
          <a:off x="1981200" y="1828801"/>
          <a:ext cx="8153400" cy="4670426"/>
        </p:xfrm>
        <a:graphic>
          <a:graphicData uri="http://schemas.openxmlformats.org/drawingml/2006/table">
            <a:tbl>
              <a:tblPr/>
              <a:tblGrid>
                <a:gridCol w="2286000"/>
                <a:gridCol w="5867400"/>
              </a:tblGrid>
              <a:tr h="581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Array element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Syntax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5795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Row 0, column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arrayName[0][j]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Row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column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arrayName[i][j]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Last row, column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arrayName[arrayName.length – 1][j]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669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Last row, last column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arrayName[arrayName.length – 1]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[arrayName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   [arrayName.length -1].length – 1]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5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Number of rows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arrayName.length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Number of columns in row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arrayName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[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].length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ACB187-E799-4213-BC46-48DB5578AE9D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13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Output all the elements of a two-dimensional array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 rtlCol="0"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en-US" dirty="0" smtClean="0"/>
              <a:t>To process all array elements in row order, we use a nested </a:t>
            </a:r>
            <a:r>
              <a:rPr lang="en-US" i="1" dirty="0" smtClean="0"/>
              <a:t>for </a:t>
            </a:r>
            <a:r>
              <a:rPr lang="en-US" dirty="0" smtClean="0"/>
              <a:t>loop: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for (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arrayName.length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++ )</a:t>
            </a:r>
            <a:endParaRPr lang="en-US" sz="2000" dirty="0" smtClean="0"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{</a:t>
            </a:r>
            <a:endParaRPr lang="en-US" sz="2000" dirty="0" smtClean="0"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None/>
              <a:defRPr/>
            </a:pP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    for ( </a:t>
            </a:r>
            <a:r>
              <a:rPr lang="en-US" sz="2000" dirty="0" err="1" smtClean="0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 j = 0; j &lt; </a:t>
            </a:r>
            <a:r>
              <a:rPr lang="en-US" sz="2000" dirty="0" err="1" smtClean="0">
                <a:latin typeface="Courier New" pitchFamily="49" charset="0"/>
                <a:cs typeface="Times New Roman" pitchFamily="18" charset="0"/>
              </a:rPr>
              <a:t>arrayName</a:t>
            </a: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sz="2000" dirty="0" err="1" smtClean="0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].length; </a:t>
            </a:r>
            <a:r>
              <a:rPr lang="en-US" sz="2000" dirty="0" err="1" smtClean="0">
                <a:latin typeface="Courier New" pitchFamily="49" charset="0"/>
                <a:cs typeface="Times New Roman" pitchFamily="18" charset="0"/>
              </a:rPr>
              <a:t>j++</a:t>
            </a: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 )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    {</a:t>
            </a:r>
            <a:r>
              <a:rPr lang="en-US" sz="2000" dirty="0" smtClean="0">
                <a:latin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   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// process element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arrayName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][j]</a:t>
            </a:r>
            <a:endParaRPr lang="en-US" sz="2000" dirty="0" smtClean="0"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 smtClean="0">
                <a:cs typeface="Times New Roman" pitchFamily="18" charset="0"/>
              </a:rPr>
              <a:t>The outer loop processes the rows.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 smtClean="0">
                <a:cs typeface="Times New Roman" pitchFamily="18" charset="0"/>
              </a:rPr>
              <a:t>The inner loop processes the columns within each row.</a:t>
            </a:r>
          </a:p>
          <a:p>
            <a:pPr>
              <a:lnSpc>
                <a:spcPct val="80000"/>
              </a:lnSpc>
              <a:buNone/>
              <a:defRPr/>
            </a:pPr>
            <a:endParaRPr lang="en-US" i="1" dirty="0" smtClean="0">
              <a:solidFill>
                <a:schemeClr val="tx2"/>
              </a:solidFill>
            </a:endParaRPr>
          </a:p>
          <a:p>
            <a:pPr>
              <a:lnSpc>
                <a:spcPct val="80000"/>
              </a:lnSpc>
              <a:buNone/>
              <a:defRPr/>
            </a:pPr>
            <a:r>
              <a:rPr lang="en-US" i="1" dirty="0" smtClean="0">
                <a:solidFill>
                  <a:schemeClr val="tx2"/>
                </a:solidFill>
              </a:rPr>
              <a:t>See Example 9.3 OutputFamilyCellBills.java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DFCA4A-ED20-4961-BFC8-DA44A6DEEDB2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Line Callout 1 4"/>
          <p:cNvSpPr/>
          <p:nvPr/>
        </p:nvSpPr>
        <p:spPr>
          <a:xfrm>
            <a:off x="8610600" y="2359152"/>
            <a:ext cx="3419856" cy="859536"/>
          </a:xfrm>
          <a:prstGeom prst="borderCallout1">
            <a:avLst>
              <a:gd name="adj1" fmla="val 18750"/>
              <a:gd name="adj2" fmla="val -8333"/>
              <a:gd name="adj3" fmla="val 63563"/>
              <a:gd name="adj4" fmla="val -5743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 using length attribute of the array, we take care of rows with different columns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51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Processing a Given 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010" y="1371601"/>
            <a:ext cx="9503790" cy="4754563"/>
          </a:xfrm>
        </p:spPr>
        <p:txBody>
          <a:bodyPr rtlCol="0">
            <a:normAutofit fontScale="70000" lnSpcReduction="20000"/>
          </a:bodyPr>
          <a:lstStyle/>
          <a:p>
            <a:pPr>
              <a:defRPr/>
            </a:pPr>
            <a:r>
              <a:rPr lang="en-US" dirty="0" smtClean="0"/>
              <a:t>Suppose we had an array where the rows represent months of the year and columns represent the various categories of expenditures (i.e. </a:t>
            </a:r>
            <a:r>
              <a:rPr lang="en-US" dirty="0" err="1" smtClean="0"/>
              <a:t>CarExpenses</a:t>
            </a:r>
            <a:r>
              <a:rPr lang="en-US" dirty="0" smtClean="0"/>
              <a:t>, </a:t>
            </a:r>
            <a:r>
              <a:rPr lang="en-US" dirty="0" err="1" smtClean="0"/>
              <a:t>FoodExpenses</a:t>
            </a:r>
            <a:r>
              <a:rPr lang="en-US" dirty="0" smtClean="0"/>
              <a:t>,  </a:t>
            </a:r>
            <a:r>
              <a:rPr lang="en-US" dirty="0" err="1" smtClean="0"/>
              <a:t>RestaurantExpenses</a:t>
            </a:r>
            <a:r>
              <a:rPr lang="en-US" dirty="0" smtClean="0"/>
              <a:t>, </a:t>
            </a:r>
            <a:r>
              <a:rPr lang="en-US" dirty="0" smtClean="0"/>
              <a:t>etc.)  </a:t>
            </a:r>
          </a:p>
          <a:p>
            <a:pPr>
              <a:defRPr/>
            </a:pPr>
            <a:r>
              <a:rPr lang="en-US" dirty="0" smtClean="0"/>
              <a:t>If we want a listing of the expenses for a particular month then we need to process one row only (the row that represents the month).</a:t>
            </a:r>
          </a:p>
          <a:p>
            <a:pPr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To process just row </a:t>
            </a:r>
            <a:r>
              <a:rPr lang="en-US" i="1" dirty="0" err="1" smtClean="0">
                <a:solidFill>
                  <a:srgbClr val="FF0000"/>
                </a:solidFill>
              </a:rPr>
              <a:t>i</a:t>
            </a:r>
            <a:r>
              <a:rPr lang="en-US" i="1" dirty="0" smtClean="0"/>
              <a:t>,</a:t>
            </a:r>
            <a:r>
              <a:rPr lang="en-US" dirty="0" smtClean="0"/>
              <a:t> we use this standard form: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Times New Roman" pitchFamily="18" charset="0"/>
              </a:rPr>
              <a:t>  for ( </a:t>
            </a:r>
            <a:r>
              <a:rPr lang="en-US" sz="2400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400" dirty="0">
                <a:latin typeface="Courier New" pitchFamily="49" charset="0"/>
                <a:cs typeface="Times New Roman" pitchFamily="18" charset="0"/>
              </a:rPr>
              <a:t> j = 0; j &lt;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Times New Roman" pitchFamily="18" charset="0"/>
              </a:rPr>
              <a:t>arrayName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Times New Roman" pitchFamily="18" charset="0"/>
              </a:rPr>
              <a:t>].length</a:t>
            </a:r>
            <a:r>
              <a:rPr lang="en-US" sz="2400" dirty="0">
                <a:latin typeface="Courier New" pitchFamily="49" charset="0"/>
                <a:cs typeface="Times New Roman" pitchFamily="18" charset="0"/>
              </a:rPr>
              <a:t>; j++ )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{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 // process element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arrayName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][j]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  <a:defRPr/>
            </a:pPr>
            <a:endParaRPr lang="en-US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Notice that we iterate through the elements of the row column by column where a column is identified by j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Also notice that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arrayName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].length returns the size of the array that represents that particular row (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ith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row).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F74F52-900F-4928-9D72-3CB4072D8237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Processing a Given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>
              <a:defRPr/>
            </a:pPr>
            <a:r>
              <a:rPr lang="en-US" dirty="0" smtClean="0">
                <a:cs typeface="Times New Roman" pitchFamily="18" charset="0"/>
              </a:rPr>
              <a:t>If we want to list all the expenditures for the whole year for a particular type of an expenditure (i.e. </a:t>
            </a:r>
            <a:r>
              <a:rPr lang="en-US" dirty="0" err="1" smtClean="0">
                <a:cs typeface="Times New Roman" pitchFamily="18" charset="0"/>
              </a:rPr>
              <a:t>FoodExpenses</a:t>
            </a:r>
            <a:r>
              <a:rPr lang="en-US" dirty="0" smtClean="0">
                <a:cs typeface="Times New Roman" pitchFamily="18" charset="0"/>
              </a:rPr>
              <a:t>) then we need to process just one column.</a:t>
            </a:r>
          </a:p>
          <a:p>
            <a:pPr>
              <a:defRPr/>
            </a:pPr>
            <a:r>
              <a:rPr lang="en-US" dirty="0" smtClean="0"/>
              <a:t>To process just column </a:t>
            </a:r>
            <a:r>
              <a:rPr lang="en-US" i="1" dirty="0" smtClean="0">
                <a:solidFill>
                  <a:srgbClr val="FF0000"/>
                </a:solidFill>
              </a:rPr>
              <a:t>j</a:t>
            </a:r>
            <a:r>
              <a:rPr lang="en-US" i="1" dirty="0" smtClean="0"/>
              <a:t>,</a:t>
            </a:r>
            <a:r>
              <a:rPr lang="en-US" dirty="0" smtClean="0"/>
              <a:t> we use this standard form: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Times New Roman" pitchFamily="18" charset="0"/>
              </a:rPr>
              <a:t>  for ( </a:t>
            </a:r>
            <a:r>
              <a:rPr lang="en-US" sz="2400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4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latin typeface="Courier New" pitchFamily="49" charset="0"/>
                <a:cs typeface="Times New Roman" pitchFamily="18" charset="0"/>
              </a:rPr>
              <a:t> = 0; </a:t>
            </a:r>
            <a:r>
              <a:rPr lang="en-US" sz="2400" dirty="0" err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latin typeface="Courier New" pitchFamily="49" charset="0"/>
                <a:cs typeface="Times New Roman" pitchFamily="18" charset="0"/>
              </a:rPr>
              <a:t> &lt;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Times New Roman" pitchFamily="18" charset="0"/>
              </a:rPr>
              <a:t>arrayName.length</a:t>
            </a:r>
            <a:r>
              <a:rPr lang="en-US" sz="2400" dirty="0">
                <a:latin typeface="Courier New" pitchFamily="49" charset="0"/>
                <a:cs typeface="Times New Roman" pitchFamily="18" charset="0"/>
              </a:rPr>
              <a:t>; </a:t>
            </a:r>
            <a:r>
              <a:rPr lang="en-US" sz="2400" dirty="0" err="1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latin typeface="Courier New" pitchFamily="49" charset="0"/>
                <a:cs typeface="Times New Roman" pitchFamily="18" charset="0"/>
              </a:rPr>
              <a:t>++ )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{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solidFill>
                  <a:srgbClr val="00808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code to process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element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arrayName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][j]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  <a:defRPr/>
            </a:pPr>
            <a:r>
              <a:rPr lang="en-US" dirty="0">
                <a:solidFill>
                  <a:srgbClr val="FF0000"/>
                </a:solidFill>
                <a:cs typeface="Times New Roman" pitchFamily="18" charset="0"/>
              </a:rPr>
              <a:t>Note: Because rows have variable lengths, we must verify that the current row has a column </a:t>
            </a:r>
            <a:r>
              <a:rPr lang="en-US" i="1" dirty="0">
                <a:solidFill>
                  <a:srgbClr val="FF0000"/>
                </a:solidFill>
                <a:cs typeface="Times New Roman" pitchFamily="18" charset="0"/>
              </a:rPr>
              <a:t>j</a:t>
            </a:r>
            <a:r>
              <a:rPr lang="en-US" dirty="0">
                <a:solidFill>
                  <a:srgbClr val="FF0000"/>
                </a:solidFill>
                <a:cs typeface="Times New Roman" pitchFamily="18" charset="0"/>
              </a:rPr>
              <a:t> before attempting to process the element.</a:t>
            </a:r>
          </a:p>
          <a:p>
            <a:pPr>
              <a:buNone/>
              <a:defRPr/>
            </a:pPr>
            <a:r>
              <a:rPr lang="en-US" dirty="0">
                <a:solidFill>
                  <a:srgbClr val="FF0000"/>
                </a:solidFill>
                <a:cs typeface="Times New Roman" pitchFamily="18" charset="0"/>
              </a:rPr>
              <a:t>Also notice that </a:t>
            </a:r>
            <a:r>
              <a:rPr lang="en-US" dirty="0" err="1">
                <a:solidFill>
                  <a:srgbClr val="FF0000"/>
                </a:solidFill>
                <a:cs typeface="Times New Roman" pitchFamily="18" charset="0"/>
              </a:rPr>
              <a:t>arrayName.length</a:t>
            </a:r>
            <a:r>
              <a:rPr lang="en-US" dirty="0">
                <a:solidFill>
                  <a:srgbClr val="FF0000"/>
                </a:solidFill>
                <a:cs typeface="Times New Roman" pitchFamily="18" charset="0"/>
              </a:rPr>
              <a:t> returns the number of rows of the array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AD08F7-5A04-42E3-A88A-73FFFBADE2FE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4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Arrays where not all columns have the same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>
              <a:defRPr/>
            </a:pPr>
            <a:r>
              <a:rPr lang="en-US" dirty="0" smtClean="0">
                <a:cs typeface="Times New Roman" pitchFamily="18" charset="0"/>
              </a:rPr>
              <a:t>Suppose we want to store test grades for three courses. Each course has a different number of tests, so each row has a different number of columns:</a:t>
            </a:r>
          </a:p>
          <a:p>
            <a:pPr>
              <a:buNone/>
              <a:defRPr/>
            </a:pPr>
            <a:r>
              <a:rPr lang="en-US" dirty="0" smtClean="0">
                <a:cs typeface="Times New Roman" pitchFamily="18" charset="0"/>
              </a:rPr>
              <a:t>  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[][] grades = { { 89, 75 }, 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                  { 84, 76, 92, 96 }, 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                  { 80, 88, 95 }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>
              <a:buNone/>
              <a:defRPr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 smtClean="0">
                <a:cs typeface="Times New Roman" pitchFamily="18" charset="0"/>
              </a:rPr>
              <a:t>First, we need to find the number of columns in the largest row. We use that in our loop condition. </a:t>
            </a:r>
          </a:p>
          <a:p>
            <a:pPr>
              <a:defRPr/>
            </a:pPr>
            <a:r>
              <a:rPr lang="en-US" dirty="0" smtClean="0">
                <a:cs typeface="Times New Roman" pitchFamily="18" charset="0"/>
              </a:rPr>
              <a:t>Then, before attempting to process the array element, we check whether the given column exists in the current row. 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98E19D3-DC54-4404-AECC-5A140936C96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7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Arrays where not all rows have the same number of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>
              <a:buNone/>
              <a:defRPr/>
            </a:pPr>
            <a:r>
              <a:rPr lang="en-US" dirty="0" smtClean="0">
                <a:cs typeface="Times New Roman" pitchFamily="18" charset="0"/>
              </a:rPr>
              <a:t>Suppose that we have stored the maximum number of columns in </a:t>
            </a:r>
            <a:r>
              <a:rPr lang="en-US" i="1" dirty="0" err="1" smtClean="0">
                <a:cs typeface="Times New Roman" pitchFamily="18" charset="0"/>
              </a:rPr>
              <a:t>maxNumberOfColumns</a:t>
            </a:r>
            <a:r>
              <a:rPr lang="en-US" dirty="0" smtClean="0">
                <a:cs typeface="Times New Roman" pitchFamily="18" charset="0"/>
              </a:rPr>
              <a:t>; the general pattern for processing elements one column at a time is:</a:t>
            </a:r>
            <a:r>
              <a:rPr lang="en-US" dirty="0">
                <a:cs typeface="Times New Roman" pitchFamily="18" charset="0"/>
              </a:rPr>
              <a:t> 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for (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j = 0; j &lt;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maxNumberOfColumns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 j++ )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{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for (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arrayName.length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++ )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  {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  // does column j exist in this row?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    if ( j &lt;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arrayName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].length )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    {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	   // process element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arrayName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][j]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    }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}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Notice that this is different than slide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“Processing a Given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Column”.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Here we scan through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very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column, and process each column one by one.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86ADA4-7550-4AED-A86E-9103B0075D8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81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Arrays where not all rows have the same number of columns</a:t>
            </a:r>
          </a:p>
        </p:txBody>
      </p:sp>
      <p:pic>
        <p:nvPicPr>
          <p:cNvPr id="37891" name="Picture 4" descr="numbersList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05201" y="1676400"/>
            <a:ext cx="4829175" cy="2266950"/>
          </a:xfrm>
          <a:noFill/>
        </p:spPr>
      </p:pic>
      <p:sp>
        <p:nvSpPr>
          <p:cNvPr id="37892" name="TextBox 4"/>
          <p:cNvSpPr txBox="1">
            <a:spLocks noChangeArrowheads="1"/>
          </p:cNvSpPr>
          <p:nvPr/>
        </p:nvSpPr>
        <p:spPr bwMode="auto">
          <a:xfrm>
            <a:off x="1574276" y="4267201"/>
            <a:ext cx="7322074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</a:rPr>
              <a:t>Therefore first we scan column 0 to get values 0, 0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</a:rPr>
              <a:t>Next column 1 to get 5, 3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</a:rPr>
              <a:t>Next column 2 to get 10,6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</a:rPr>
              <a:t>Next column 4 but this column does not </a:t>
            </a:r>
            <a:r>
              <a:rPr lang="en-US" altLang="en-US" dirty="0" err="1">
                <a:latin typeface="Calibri" panose="020F0502020204030204" pitchFamily="34" charset="0"/>
              </a:rPr>
              <a:t>hav</a:t>
            </a:r>
            <a:r>
              <a:rPr lang="en-US" altLang="en-US" dirty="0">
                <a:latin typeface="Calibri" panose="020F0502020204030204" pitchFamily="34" charset="0"/>
              </a:rPr>
              <a:t> e </a:t>
            </a: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row 0 therefore only row 1 has the value 9.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</a:rPr>
              <a:t>In other words array[0].length returns  3 and when j=4  </a:t>
            </a: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  if(j&lt;</a:t>
            </a:r>
            <a:r>
              <a:rPr lang="en-US" altLang="en-US" dirty="0" err="1">
                <a:latin typeface="Calibri" panose="020F0502020204030204" pitchFamily="34" charset="0"/>
              </a:rPr>
              <a:t>aarray</a:t>
            </a:r>
            <a:r>
              <a:rPr lang="en-US" altLang="en-US" dirty="0">
                <a:latin typeface="Calibri" panose="020F0502020204030204" pitchFamily="34" charset="0"/>
              </a:rPr>
              <a:t>[</a:t>
            </a:r>
            <a:r>
              <a:rPr lang="en-US" altLang="en-US" dirty="0" err="1">
                <a:latin typeface="Calibri" panose="020F0502020204030204" pitchFamily="34" charset="0"/>
              </a:rPr>
              <a:t>i</a:t>
            </a:r>
            <a:r>
              <a:rPr lang="en-US" altLang="en-US" dirty="0">
                <a:latin typeface="Calibri" panose="020F0502020204030204" pitchFamily="34" charset="0"/>
              </a:rPr>
              <a:t>].length) returns false.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ADBB14-97AA-4F6A-AF98-298545095567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87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MultDimPrac.zip from the course website</a:t>
            </a:r>
          </a:p>
          <a:p>
            <a:r>
              <a:rPr lang="en-US" dirty="0" smtClean="0"/>
              <a:t>Modify the “twoDimPrac.java”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23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Multidimensional Arrays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>
                <a:cs typeface="Times New Roman" panose="02020603050405020304" pitchFamily="18" charset="0"/>
              </a:rPr>
              <a:t>If we want to keep track of sales on a per-year, per-week, and per-day basis, we could use a three-dimensional array: 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1</a:t>
            </a:r>
            <a:r>
              <a:rPr lang="en-US" altLang="en-US" baseline="30000" smtClean="0">
                <a:cs typeface="Times New Roman" panose="02020603050405020304" pitchFamily="18" charset="0"/>
              </a:rPr>
              <a:t>st</a:t>
            </a:r>
            <a:r>
              <a:rPr lang="en-US" altLang="en-US" smtClean="0">
                <a:cs typeface="Times New Roman" panose="02020603050405020304" pitchFamily="18" charset="0"/>
              </a:rPr>
              <a:t> dimension:  year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2</a:t>
            </a:r>
            <a:r>
              <a:rPr lang="en-US" altLang="en-US" baseline="30000" smtClean="0">
                <a:cs typeface="Times New Roman" panose="02020603050405020304" pitchFamily="18" charset="0"/>
              </a:rPr>
              <a:t>nd</a:t>
            </a:r>
            <a:r>
              <a:rPr lang="en-US" altLang="en-US" smtClean="0">
                <a:cs typeface="Times New Roman" panose="02020603050405020304" pitchFamily="18" charset="0"/>
              </a:rPr>
              <a:t> dimension:  week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3</a:t>
            </a:r>
            <a:r>
              <a:rPr lang="en-US" altLang="en-US" baseline="30000" smtClean="0">
                <a:cs typeface="Times New Roman" panose="02020603050405020304" pitchFamily="18" charset="0"/>
              </a:rPr>
              <a:t>rd</a:t>
            </a:r>
            <a:r>
              <a:rPr lang="en-US" altLang="en-US" smtClean="0">
                <a:cs typeface="Times New Roman" panose="02020603050405020304" pitchFamily="18" charset="0"/>
              </a:rPr>
              <a:t> dimension:  day of the week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9EB6A7-5909-4FF4-B167-C4867498F8EA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26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55000" lnSpcReduction="20000"/>
          </a:bodyPr>
          <a:lstStyle/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// declare a three-dimensional array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double [][][] sales;</a:t>
            </a:r>
          </a:p>
          <a:p>
            <a:pPr>
              <a:buNone/>
              <a:defRPr/>
            </a:pPr>
            <a:endParaRPr lang="en-US" dirty="0" smtClean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// instantiate the array for 10 years, 52 weeks,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//  and 7 days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sales = new double [10][52][7];</a:t>
            </a:r>
          </a:p>
          <a:p>
            <a:pPr>
              <a:buNone/>
              <a:defRPr/>
            </a:pPr>
            <a:endParaRPr lang="en-US" dirty="0" smtClean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// set the value of the first element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sales[0][0][0] = 638.50;</a:t>
            </a:r>
          </a:p>
          <a:p>
            <a:pPr>
              <a:buNone/>
              <a:defRPr/>
            </a:pPr>
            <a:endParaRPr lang="en-US" dirty="0" smtClean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// set the value for year 4, week 22, day 3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sales [4][22][3] = 928.20;</a:t>
            </a:r>
          </a:p>
          <a:p>
            <a:pPr>
              <a:buNone/>
              <a:defRPr/>
            </a:pPr>
            <a:endParaRPr lang="en-US" dirty="0" smtClean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// set the last value in the array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sales [9][51][6] = 1234.90;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4B2E016-A701-4A29-B432-DD0A58721B52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24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Instantiating a 3-Dim Array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37857"/>
              </p:ext>
            </p:extLst>
          </p:nvPr>
        </p:nvGraphicFramePr>
        <p:xfrm>
          <a:off x="1821688" y="3737186"/>
          <a:ext cx="72034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34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[0]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[1]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[2]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[3]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625139"/>
              </p:ext>
            </p:extLst>
          </p:nvPr>
        </p:nvGraphicFramePr>
        <p:xfrm>
          <a:off x="4122976" y="3201024"/>
          <a:ext cx="2402947" cy="377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905"/>
                <a:gridCol w="779646"/>
                <a:gridCol w="760396"/>
              </a:tblGrid>
              <a:tr h="377614">
                <a:tc>
                  <a:txBody>
                    <a:bodyPr/>
                    <a:lstStyle/>
                    <a:p>
                      <a:r>
                        <a:rPr lang="en-US" dirty="0" smtClean="0"/>
                        <a:t>[0][0]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[0][1]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[0][2]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8499"/>
              </p:ext>
            </p:extLst>
          </p:nvPr>
        </p:nvGraphicFramePr>
        <p:xfrm>
          <a:off x="4122979" y="4006938"/>
          <a:ext cx="3172968" cy="377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905"/>
                <a:gridCol w="779646"/>
                <a:gridCol w="760396"/>
                <a:gridCol w="770021"/>
              </a:tblGrid>
              <a:tr h="377614">
                <a:tc>
                  <a:txBody>
                    <a:bodyPr/>
                    <a:lstStyle/>
                    <a:p>
                      <a:r>
                        <a:rPr lang="en-US" dirty="0" smtClean="0"/>
                        <a:t>[1][0]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[1][1]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[1][2]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[0][3]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100314"/>
              </p:ext>
            </p:extLst>
          </p:nvPr>
        </p:nvGraphicFramePr>
        <p:xfrm>
          <a:off x="4122978" y="4842931"/>
          <a:ext cx="2402947" cy="3999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905"/>
                <a:gridCol w="779646"/>
                <a:gridCol w="760396"/>
              </a:tblGrid>
              <a:tr h="399939">
                <a:tc>
                  <a:txBody>
                    <a:bodyPr/>
                    <a:lstStyle/>
                    <a:p>
                      <a:r>
                        <a:rPr lang="en-US" dirty="0" smtClean="0"/>
                        <a:t>[2][0]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[2][1]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[2][2]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930262"/>
              </p:ext>
            </p:extLst>
          </p:nvPr>
        </p:nvGraphicFramePr>
        <p:xfrm>
          <a:off x="4122976" y="5648845"/>
          <a:ext cx="4197097" cy="377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905"/>
                <a:gridCol w="779646"/>
                <a:gridCol w="760396"/>
                <a:gridCol w="770021"/>
                <a:gridCol w="1024129"/>
              </a:tblGrid>
              <a:tr h="377614">
                <a:tc>
                  <a:txBody>
                    <a:bodyPr/>
                    <a:lstStyle/>
                    <a:p>
                      <a:r>
                        <a:rPr lang="en-US" dirty="0" smtClean="0"/>
                        <a:t>[3][0]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[3][1]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[3][2]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[3][3]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[3][4]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Elbow Connector 9"/>
          <p:cNvCxnSpPr>
            <a:endCxn id="5" idx="1"/>
          </p:cNvCxnSpPr>
          <p:nvPr/>
        </p:nvCxnSpPr>
        <p:spPr>
          <a:xfrm flipV="1">
            <a:off x="2542032" y="3389831"/>
            <a:ext cx="1580944" cy="6171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endCxn id="6" idx="1"/>
          </p:cNvCxnSpPr>
          <p:nvPr/>
        </p:nvCxnSpPr>
        <p:spPr>
          <a:xfrm flipV="1">
            <a:off x="2542032" y="4195745"/>
            <a:ext cx="1580947" cy="1094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endCxn id="7" idx="1"/>
          </p:cNvCxnSpPr>
          <p:nvPr/>
        </p:nvCxnSpPr>
        <p:spPr>
          <a:xfrm>
            <a:off x="2542031" y="4731907"/>
            <a:ext cx="1580947" cy="3109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780288"/>
              </p:ext>
            </p:extLst>
          </p:nvPr>
        </p:nvGraphicFramePr>
        <p:xfrm>
          <a:off x="5709464" y="1542263"/>
          <a:ext cx="4262309" cy="377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6347"/>
                <a:gridCol w="972151"/>
                <a:gridCol w="1058779"/>
                <a:gridCol w="1155032"/>
              </a:tblGrid>
              <a:tr h="377614">
                <a:tc>
                  <a:txBody>
                    <a:bodyPr/>
                    <a:lstStyle/>
                    <a:p>
                      <a:r>
                        <a:rPr lang="en-US" dirty="0" smtClean="0"/>
                        <a:t>[0][0][0]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[0][0][1]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[0][0][2]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[0][0][3]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7" name="Elbow Connector 16"/>
          <p:cNvCxnSpPr>
            <a:endCxn id="8" idx="1"/>
          </p:cNvCxnSpPr>
          <p:nvPr/>
        </p:nvCxnSpPr>
        <p:spPr>
          <a:xfrm>
            <a:off x="2542031" y="5001659"/>
            <a:ext cx="1580945" cy="8359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914636"/>
              </p:ext>
            </p:extLst>
          </p:nvPr>
        </p:nvGraphicFramePr>
        <p:xfrm>
          <a:off x="6824390" y="1994029"/>
          <a:ext cx="3107277" cy="377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6347"/>
                <a:gridCol w="972151"/>
                <a:gridCol w="1058779"/>
              </a:tblGrid>
              <a:tr h="377614">
                <a:tc>
                  <a:txBody>
                    <a:bodyPr/>
                    <a:lstStyle/>
                    <a:p>
                      <a:r>
                        <a:rPr lang="en-US" dirty="0" smtClean="0"/>
                        <a:t>[0][1][0]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[0][1][1]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[0][1][2]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569562"/>
              </p:ext>
            </p:extLst>
          </p:nvPr>
        </p:nvGraphicFramePr>
        <p:xfrm>
          <a:off x="7612058" y="2521447"/>
          <a:ext cx="1076347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6347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[0][2][0]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2" name="Elbow Connector 21"/>
          <p:cNvCxnSpPr>
            <a:endCxn id="15" idx="1"/>
          </p:cNvCxnSpPr>
          <p:nvPr/>
        </p:nvCxnSpPr>
        <p:spPr>
          <a:xfrm rot="5400000" flipH="1" flipV="1">
            <a:off x="4372066" y="1863627"/>
            <a:ext cx="1469954" cy="12048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endCxn id="19" idx="1"/>
          </p:cNvCxnSpPr>
          <p:nvPr/>
        </p:nvCxnSpPr>
        <p:spPr>
          <a:xfrm flipV="1">
            <a:off x="5399773" y="2182836"/>
            <a:ext cx="1424617" cy="1018187"/>
          </a:xfrm>
          <a:prstGeom prst="bentConnector3">
            <a:avLst>
              <a:gd name="adj1" fmla="val 6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endCxn id="20" idx="1"/>
          </p:cNvCxnSpPr>
          <p:nvPr/>
        </p:nvCxnSpPr>
        <p:spPr>
          <a:xfrm flipV="1">
            <a:off x="6112081" y="2704327"/>
            <a:ext cx="1499977" cy="4966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ine Callout 1 27"/>
          <p:cNvSpPr/>
          <p:nvPr/>
        </p:nvSpPr>
        <p:spPr>
          <a:xfrm>
            <a:off x="914400" y="5648845"/>
            <a:ext cx="2069432" cy="723079"/>
          </a:xfrm>
          <a:prstGeom prst="borderCallout1">
            <a:avLst>
              <a:gd name="adj1" fmla="val 18750"/>
              <a:gd name="adj2" fmla="val -8333"/>
              <a:gd name="adj3" fmla="val -136425"/>
              <a:gd name="adj4" fmla="val 4213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References to 1D arrays</a:t>
            </a:r>
            <a:endParaRPr lang="en-US" dirty="0"/>
          </a:p>
        </p:txBody>
      </p:sp>
      <p:sp>
        <p:nvSpPr>
          <p:cNvPr id="29" name="Line Callout 1 28"/>
          <p:cNvSpPr/>
          <p:nvPr/>
        </p:nvSpPr>
        <p:spPr>
          <a:xfrm>
            <a:off x="8584130" y="4640119"/>
            <a:ext cx="2069432" cy="723079"/>
          </a:xfrm>
          <a:prstGeom prst="borderCallout1">
            <a:avLst>
              <a:gd name="adj1" fmla="val 18750"/>
              <a:gd name="adj2" fmla="val -8333"/>
              <a:gd name="adj3" fmla="val -37920"/>
              <a:gd name="adj4" fmla="val -7275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References to 1D arrays</a:t>
            </a:r>
            <a:endParaRPr lang="en-US" dirty="0"/>
          </a:p>
        </p:txBody>
      </p:sp>
      <p:sp>
        <p:nvSpPr>
          <p:cNvPr id="30" name="Line Callout 1 29"/>
          <p:cNvSpPr/>
          <p:nvPr/>
        </p:nvSpPr>
        <p:spPr>
          <a:xfrm>
            <a:off x="8584130" y="3144341"/>
            <a:ext cx="3270985" cy="723079"/>
          </a:xfrm>
          <a:prstGeom prst="borderCallout1">
            <a:avLst>
              <a:gd name="adj1" fmla="val 18750"/>
              <a:gd name="adj2" fmla="val -8333"/>
              <a:gd name="adj3" fmla="val -37920"/>
              <a:gd name="adj4" fmla="val -1772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References to actual data (primitive data types or objects)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4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the “threeDimPrac.java” in </a:t>
            </a:r>
            <a:r>
              <a:rPr lang="en-US" dirty="0"/>
              <a:t>MultDimPrac.zip from the course website</a:t>
            </a:r>
          </a:p>
        </p:txBody>
      </p:sp>
    </p:spTree>
    <p:extLst>
      <p:ext uri="{BB962C8B-B14F-4D97-AF65-F5344CB8AC3E}">
        <p14:creationId xmlns:p14="http://schemas.microsoft.com/office/powerpoint/2010/main" val="123290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Code to Print the </a:t>
            </a:r>
            <a:r>
              <a:rPr lang="en-US" altLang="en-US" i="1" smtClean="0"/>
              <a:t>sales</a:t>
            </a:r>
            <a:r>
              <a:rPr lang="en-US" altLang="en-US" smtClean="0"/>
              <a:t>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55000" lnSpcReduction="20000"/>
          </a:bodyPr>
          <a:lstStyle/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for (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sales.length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++ )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{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for (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j = 0; j &lt; sales[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].length; j++ )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{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    for (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k = 0; k &lt; sales[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][j].length; k++ )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    {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      // print the element at sales[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][j][k]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  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sales[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][j][k] + "\t" );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    }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    // skip a line after each week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);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}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// skip a line after each month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);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}</a:t>
            </a:r>
            <a:endParaRPr lang="en-US" dirty="0" smtClean="0"/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CC90EF-919A-4F9D-91BB-647ED9FDDBD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18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General Pattern for Processing a Three-Dimensional Array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for ( int i = 0; i &lt; arrayName.length; i++ )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for ( int j = 0; j &lt; arrayName[i].length; j++ )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for ( int k = 0; k &lt;arrayName[i][j].length; k++ )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{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     // process the element 			arrayName[i][j][k]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B48298-C4E6-419B-B0B6-E6BE109051E2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48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Four-Dimensional Array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>
                <a:cs typeface="Times New Roman" panose="02020603050405020304" pitchFamily="18" charset="0"/>
              </a:rPr>
              <a:t>If we want to keep track of sales on </a:t>
            </a:r>
            <a:r>
              <a:rPr lang="en-US" altLang="en-US" b="1" smtClean="0">
                <a:cs typeface="Times New Roman" panose="02020603050405020304" pitchFamily="18" charset="0"/>
              </a:rPr>
              <a:t>a per-state, </a:t>
            </a:r>
            <a:r>
              <a:rPr lang="en-US" altLang="en-US" smtClean="0">
                <a:cs typeface="Times New Roman" panose="02020603050405020304" pitchFamily="18" charset="0"/>
              </a:rPr>
              <a:t>per-year, per-week, and per-day basis, we could use a four-dimensional array: 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1</a:t>
            </a:r>
            <a:r>
              <a:rPr lang="en-US" altLang="en-US" baseline="30000" smtClean="0">
                <a:cs typeface="Times New Roman" panose="02020603050405020304" pitchFamily="18" charset="0"/>
              </a:rPr>
              <a:t>st</a:t>
            </a:r>
            <a:r>
              <a:rPr lang="en-US" altLang="en-US" smtClean="0">
                <a:cs typeface="Times New Roman" panose="02020603050405020304" pitchFamily="18" charset="0"/>
              </a:rPr>
              <a:t> dimension:  state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2</a:t>
            </a:r>
            <a:r>
              <a:rPr lang="en-US" altLang="en-US" baseline="30000" smtClean="0">
                <a:cs typeface="Times New Roman" panose="02020603050405020304" pitchFamily="18" charset="0"/>
              </a:rPr>
              <a:t>nd</a:t>
            </a:r>
            <a:r>
              <a:rPr lang="en-US" altLang="en-US" smtClean="0">
                <a:cs typeface="Times New Roman" panose="02020603050405020304" pitchFamily="18" charset="0"/>
              </a:rPr>
              <a:t> dimension:  year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3</a:t>
            </a:r>
            <a:r>
              <a:rPr lang="en-US" altLang="en-US" baseline="30000" smtClean="0">
                <a:cs typeface="Times New Roman" panose="02020603050405020304" pitchFamily="18" charset="0"/>
              </a:rPr>
              <a:t>rd</a:t>
            </a:r>
            <a:r>
              <a:rPr lang="en-US" altLang="en-US" smtClean="0">
                <a:cs typeface="Times New Roman" panose="02020603050405020304" pitchFamily="18" charset="0"/>
              </a:rPr>
              <a:t> dimension:  week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4</a:t>
            </a:r>
            <a:r>
              <a:rPr lang="en-US" altLang="en-US" baseline="30000" smtClean="0">
                <a:cs typeface="Times New Roman" panose="02020603050405020304" pitchFamily="18" charset="0"/>
              </a:rPr>
              <a:t>th</a:t>
            </a:r>
            <a:r>
              <a:rPr lang="en-US" altLang="en-US" smtClean="0">
                <a:cs typeface="Times New Roman" panose="02020603050405020304" pitchFamily="18" charset="0"/>
              </a:rPr>
              <a:t> dimension:  day of the week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09739D-0DA6-4725-921A-8159E551F55A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58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General Pattern for Processing a </a:t>
            </a:r>
            <a:br>
              <a:rPr lang="en-US" dirty="0" smtClean="0"/>
            </a:br>
            <a:r>
              <a:rPr lang="en-US" dirty="0" smtClean="0"/>
              <a:t>Four-Dimensional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for ( </a:t>
            </a:r>
            <a:r>
              <a:rPr lang="en-US" dirty="0" err="1" smtClean="0">
                <a:latin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 = 0; </a:t>
            </a:r>
            <a:r>
              <a:rPr lang="en-US" dirty="0" err="1" smtClean="0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 &lt; </a:t>
            </a:r>
            <a:r>
              <a:rPr lang="en-US" dirty="0" err="1" smtClean="0">
                <a:latin typeface="Courier New" pitchFamily="49" charset="0"/>
              </a:rPr>
              <a:t>arrayName.length</a:t>
            </a:r>
            <a:r>
              <a:rPr lang="en-US" dirty="0" smtClean="0">
                <a:latin typeface="Courier New" pitchFamily="49" charset="0"/>
              </a:rPr>
              <a:t>; </a:t>
            </a:r>
            <a:r>
              <a:rPr lang="en-US" dirty="0" err="1" smtClean="0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++ )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{ 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for ( </a:t>
            </a:r>
            <a:r>
              <a:rPr lang="en-US" dirty="0" err="1" smtClean="0">
                <a:latin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</a:rPr>
              <a:t> j = 0; j &lt; </a:t>
            </a:r>
            <a:r>
              <a:rPr lang="en-US" dirty="0" err="1" smtClean="0">
                <a:latin typeface="Courier New" pitchFamily="49" charset="0"/>
              </a:rPr>
              <a:t>arrayName</a:t>
            </a:r>
            <a:r>
              <a:rPr lang="en-US" dirty="0" smtClean="0">
                <a:latin typeface="Courier New" pitchFamily="49" charset="0"/>
              </a:rPr>
              <a:t>[</a:t>
            </a:r>
            <a:r>
              <a:rPr lang="en-US" dirty="0" err="1" smtClean="0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].length; j++ )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{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for ( </a:t>
            </a:r>
            <a:r>
              <a:rPr lang="en-US" dirty="0" err="1" smtClean="0">
                <a:latin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</a:rPr>
              <a:t> k = 0; k &lt; </a:t>
            </a:r>
            <a:r>
              <a:rPr lang="en-US" dirty="0" err="1" smtClean="0">
                <a:latin typeface="Courier New" pitchFamily="49" charset="0"/>
              </a:rPr>
              <a:t>arrayName</a:t>
            </a:r>
            <a:r>
              <a:rPr lang="en-US" dirty="0" smtClean="0">
                <a:latin typeface="Courier New" pitchFamily="49" charset="0"/>
              </a:rPr>
              <a:t>[</a:t>
            </a:r>
            <a:r>
              <a:rPr lang="en-US" dirty="0" err="1" smtClean="0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][j].length; k++ )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{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 for ( </a:t>
            </a:r>
            <a:r>
              <a:rPr lang="en-US" dirty="0" err="1" smtClean="0">
                <a:latin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</a:rPr>
              <a:t> l = 0; l &lt; </a:t>
            </a:r>
            <a:r>
              <a:rPr lang="en-US" dirty="0" err="1" smtClean="0">
                <a:latin typeface="Courier New" pitchFamily="49" charset="0"/>
              </a:rPr>
              <a:t>arrayName</a:t>
            </a:r>
            <a:r>
              <a:rPr lang="en-US" dirty="0" smtClean="0">
                <a:latin typeface="Courier New" pitchFamily="49" charset="0"/>
              </a:rPr>
              <a:t>[</a:t>
            </a:r>
            <a:r>
              <a:rPr lang="en-US" dirty="0" err="1" smtClean="0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][j][k].length; l++ )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 {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   // process element </a:t>
            </a:r>
            <a:r>
              <a:rPr lang="en-US" dirty="0" err="1" smtClean="0">
                <a:latin typeface="Courier New" pitchFamily="49" charset="0"/>
              </a:rPr>
              <a:t>arrayName</a:t>
            </a:r>
            <a:r>
              <a:rPr lang="en-US" dirty="0" smtClean="0">
                <a:latin typeface="Courier New" pitchFamily="49" charset="0"/>
              </a:rPr>
              <a:t>[</a:t>
            </a:r>
            <a:r>
              <a:rPr lang="en-US" dirty="0" err="1" smtClean="0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][j][k][l]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 }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}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}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}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DEDE81-07D4-40BD-AD71-45D57924DAEB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69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i="1" smtClean="0"/>
              <a:t>ArrayList</a:t>
            </a:r>
            <a:r>
              <a:rPr lang="en-US" altLang="en-US" smtClean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buNone/>
              <a:defRPr/>
            </a:pPr>
            <a:r>
              <a:rPr lang="en-US" dirty="0" smtClean="0"/>
              <a:t>Arrays have a fixed size once they have been instantiated. </a:t>
            </a:r>
          </a:p>
          <a:p>
            <a:pPr>
              <a:buNone/>
              <a:defRPr/>
            </a:pPr>
            <a:r>
              <a:rPr lang="en-US" dirty="0" smtClean="0"/>
              <a:t>What if we don't know how many elements we will need? For example, if we are</a:t>
            </a:r>
          </a:p>
          <a:p>
            <a:pPr lvl="2">
              <a:defRPr/>
            </a:pPr>
            <a:r>
              <a:rPr lang="en-US" dirty="0" smtClean="0"/>
              <a:t>reading values from a file</a:t>
            </a:r>
          </a:p>
          <a:p>
            <a:pPr lvl="2">
              <a:defRPr/>
            </a:pPr>
            <a:r>
              <a:rPr lang="en-US" dirty="0" smtClean="0"/>
              <a:t>returning search results</a:t>
            </a:r>
          </a:p>
          <a:p>
            <a:pPr>
              <a:buNone/>
              <a:defRPr/>
            </a:pPr>
            <a:r>
              <a:rPr lang="en-US" dirty="0" smtClean="0"/>
              <a:t>We could create a very large array, but then we waste space for all unused elements.</a:t>
            </a:r>
          </a:p>
          <a:p>
            <a:pPr>
              <a:buNone/>
              <a:defRPr/>
            </a:pPr>
            <a:r>
              <a:rPr lang="en-US" dirty="0" smtClean="0"/>
              <a:t>A better idea is to use an </a:t>
            </a:r>
            <a:r>
              <a:rPr lang="en-US" i="1" dirty="0" err="1" smtClean="0"/>
              <a:t>ArrayList</a:t>
            </a:r>
            <a:r>
              <a:rPr lang="en-US" dirty="0" smtClean="0"/>
              <a:t>, which stores elements of object references and automatically expands its size, as needed.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E398A5-3676-4D5F-9B9F-6CC8752FA887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047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i="1" smtClean="0"/>
              <a:t>ArrayList</a:t>
            </a:r>
            <a:r>
              <a:rPr lang="en-US" altLang="en-US" smtClean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The </a:t>
            </a:r>
            <a:r>
              <a:rPr lang="en-US" i="1" dirty="0" err="1" smtClean="0"/>
              <a:t>ArrayList</a:t>
            </a:r>
            <a:r>
              <a:rPr lang="en-US" dirty="0" smtClean="0"/>
              <a:t> class is in the package: </a:t>
            </a:r>
            <a:r>
              <a:rPr lang="en-US" i="1" dirty="0" err="1" smtClean="0"/>
              <a:t>java.util</a:t>
            </a:r>
            <a:endParaRPr lang="en-US" i="1" dirty="0" smtClean="0"/>
          </a:p>
          <a:p>
            <a:pPr>
              <a:defRPr/>
            </a:pPr>
            <a:r>
              <a:rPr lang="en-US" dirty="0" smtClean="0"/>
              <a:t>All </a:t>
            </a:r>
            <a:r>
              <a:rPr lang="en-US" i="1" dirty="0" err="1" smtClean="0"/>
              <a:t>ArrayList</a:t>
            </a:r>
            <a:r>
              <a:rPr lang="en-US" i="1" dirty="0" smtClean="0"/>
              <a:t> </a:t>
            </a:r>
            <a:r>
              <a:rPr lang="en-US" dirty="0" smtClean="0"/>
              <a:t>elements are object references, so</a:t>
            </a:r>
            <a:r>
              <a:rPr lang="en-US" i="1" dirty="0" smtClean="0"/>
              <a:t> </a:t>
            </a:r>
            <a:r>
              <a:rPr lang="en-US" dirty="0" smtClean="0"/>
              <a:t>we could have an </a:t>
            </a:r>
            <a:r>
              <a:rPr lang="en-US" i="1" dirty="0" err="1" smtClean="0"/>
              <a:t>ArrayList</a:t>
            </a:r>
            <a:r>
              <a:rPr lang="en-US" i="1" dirty="0" smtClean="0"/>
              <a:t> </a:t>
            </a:r>
            <a:r>
              <a:rPr lang="en-US" dirty="0" smtClean="0"/>
              <a:t>of </a:t>
            </a:r>
            <a:r>
              <a:rPr lang="en-US" i="1" dirty="0" smtClean="0"/>
              <a:t>Auto </a:t>
            </a:r>
            <a:r>
              <a:rPr lang="en-US" dirty="0" smtClean="0"/>
              <a:t>objects, </a:t>
            </a:r>
            <a:r>
              <a:rPr lang="en-US" i="1" dirty="0" smtClean="0"/>
              <a:t>Book </a:t>
            </a:r>
            <a:r>
              <a:rPr lang="en-US" dirty="0" smtClean="0"/>
              <a:t>objects, </a:t>
            </a:r>
            <a:r>
              <a:rPr lang="en-US" i="1" dirty="0" smtClean="0"/>
              <a:t>Strings</a:t>
            </a:r>
            <a:r>
              <a:rPr lang="en-US" dirty="0" smtClean="0"/>
              <a:t>, etc. </a:t>
            </a:r>
          </a:p>
          <a:p>
            <a:pPr>
              <a:defRPr/>
            </a:pPr>
            <a:r>
              <a:rPr lang="en-US" dirty="0" smtClean="0"/>
              <a:t>To store primitive types in an </a:t>
            </a:r>
            <a:r>
              <a:rPr lang="en-US" i="1" dirty="0" err="1" smtClean="0"/>
              <a:t>ArrayList</a:t>
            </a:r>
            <a:r>
              <a:rPr lang="en-US" dirty="0" smtClean="0"/>
              <a:t>, use the wrapper classes (</a:t>
            </a:r>
            <a:r>
              <a:rPr lang="en-US" i="1" dirty="0" smtClean="0"/>
              <a:t>Integer, Double, Character, Boolean</a:t>
            </a:r>
            <a:r>
              <a:rPr lang="en-US" dirty="0" smtClean="0"/>
              <a:t>, etc.)</a:t>
            </a:r>
          </a:p>
          <a:p>
            <a:pPr>
              <a:defRPr/>
            </a:pPr>
            <a:r>
              <a:rPr lang="en-US" dirty="0" smtClean="0"/>
              <a:t>The </a:t>
            </a:r>
            <a:r>
              <a:rPr lang="en-US" i="1" dirty="0" err="1" smtClean="0"/>
              <a:t>ArrayList</a:t>
            </a:r>
            <a:r>
              <a:rPr lang="en-US" i="1" dirty="0" smtClean="0"/>
              <a:t> </a:t>
            </a:r>
            <a:r>
              <a:rPr lang="en-US" dirty="0" smtClean="0"/>
              <a:t>is a </a:t>
            </a:r>
            <a:r>
              <a:rPr lang="en-US" dirty="0" smtClean="0">
                <a:solidFill>
                  <a:schemeClr val="tx2"/>
                </a:solidFill>
              </a:rPr>
              <a:t>generic class</a:t>
            </a:r>
            <a:r>
              <a:rPr lang="en-US" dirty="0" smtClean="0"/>
              <a:t>. The </a:t>
            </a:r>
            <a:r>
              <a:rPr lang="en-US" i="1" dirty="0" err="1" smtClean="0"/>
              <a:t>ArrayList</a:t>
            </a:r>
            <a:r>
              <a:rPr lang="en-US" i="1" dirty="0" smtClean="0"/>
              <a:t> </a:t>
            </a:r>
            <a:r>
              <a:rPr lang="en-US" dirty="0" smtClean="0"/>
              <a:t>class has been written so that it can store object references of any type specified by the client.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1BC47B-93B9-4D57-9F61-B9D1B74192D1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86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Declaring an </a:t>
            </a:r>
            <a:r>
              <a:rPr lang="en-US" altLang="en-US" i="1" smtClean="0"/>
              <a:t>ArrayList 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Use this syntax:</a:t>
            </a:r>
            <a:endParaRPr lang="en-US" dirty="0" smtClean="0">
              <a:latin typeface="Courier New" pitchFamily="49" charset="0"/>
            </a:endParaRPr>
          </a:p>
          <a:p>
            <a:pPr lvl="1">
              <a:buNone/>
              <a:defRPr/>
            </a:pPr>
            <a:r>
              <a:rPr lang="en-US" dirty="0" err="1">
                <a:latin typeface="Courier New" pitchFamily="49" charset="0"/>
              </a:rPr>
              <a:t>ArrayList</a:t>
            </a:r>
            <a:r>
              <a:rPr lang="en-US" dirty="0">
                <a:latin typeface="Courier New" pitchFamily="49" charset="0"/>
              </a:rPr>
              <a:t>&lt;</a:t>
            </a:r>
            <a:r>
              <a:rPr lang="en-US" u="sng" dirty="0">
                <a:latin typeface="Courier New" pitchFamily="49" charset="0"/>
              </a:rPr>
              <a:t>E</a:t>
            </a:r>
            <a:r>
              <a:rPr lang="en-US" dirty="0">
                <a:latin typeface="Courier New" pitchFamily="49" charset="0"/>
              </a:rPr>
              <a:t>&gt; </a:t>
            </a:r>
            <a:r>
              <a:rPr lang="en-US" dirty="0" err="1">
                <a:latin typeface="Courier New" pitchFamily="49" charset="0"/>
              </a:rPr>
              <a:t>arrayListName</a:t>
            </a:r>
            <a:r>
              <a:rPr lang="en-US" dirty="0">
                <a:latin typeface="Courier New" pitchFamily="49" charset="0"/>
              </a:rPr>
              <a:t>;</a:t>
            </a:r>
          </a:p>
          <a:p>
            <a:pPr lvl="1">
              <a:buNone/>
              <a:defRPr/>
            </a:pPr>
            <a:r>
              <a:rPr lang="en-US" dirty="0" smtClean="0"/>
              <a:t>   </a:t>
            </a:r>
            <a:r>
              <a:rPr lang="en-US" i="1" u="sng" dirty="0" smtClean="0"/>
              <a:t>E</a:t>
            </a:r>
            <a:r>
              <a:rPr lang="en-US" dirty="0" smtClean="0"/>
              <a:t> is a class name that specifies the type of object references that will be stored in the </a:t>
            </a:r>
            <a:r>
              <a:rPr lang="en-US" i="1" dirty="0" err="1" smtClean="0"/>
              <a:t>ArrayList</a:t>
            </a:r>
            <a:r>
              <a:rPr lang="en-US" i="1" dirty="0" smtClean="0"/>
              <a:t>.</a:t>
            </a:r>
          </a:p>
          <a:p>
            <a:pPr>
              <a:defRPr/>
            </a:pPr>
            <a:r>
              <a:rPr lang="en-US" dirty="0" smtClean="0"/>
              <a:t>Example: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</a:t>
            </a:r>
            <a:r>
              <a:rPr lang="en-US" dirty="0" err="1" smtClean="0">
                <a:latin typeface="Courier New" pitchFamily="49" charset="0"/>
              </a:rPr>
              <a:t>ArrayList</a:t>
            </a:r>
            <a:r>
              <a:rPr lang="en-US" dirty="0" smtClean="0">
                <a:latin typeface="Courier New" pitchFamily="49" charset="0"/>
              </a:rPr>
              <a:t>&lt;String&gt; </a:t>
            </a:r>
            <a:r>
              <a:rPr lang="en-US" dirty="0" err="1" smtClean="0">
                <a:latin typeface="Courier New" pitchFamily="49" charset="0"/>
              </a:rPr>
              <a:t>listOfStrings</a:t>
            </a:r>
            <a:r>
              <a:rPr lang="en-US" dirty="0" smtClean="0">
                <a:latin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</a:t>
            </a:r>
            <a:r>
              <a:rPr lang="en-US" dirty="0" err="1" smtClean="0">
                <a:latin typeface="Courier New" pitchFamily="49" charset="0"/>
              </a:rPr>
              <a:t>ArrayList</a:t>
            </a:r>
            <a:r>
              <a:rPr lang="en-US" dirty="0" smtClean="0">
                <a:latin typeface="Courier New" pitchFamily="49" charset="0"/>
              </a:rPr>
              <a:t>&lt;Auto&gt; </a:t>
            </a:r>
            <a:r>
              <a:rPr lang="en-US" dirty="0" err="1" smtClean="0">
                <a:latin typeface="Courier New" pitchFamily="49" charset="0"/>
              </a:rPr>
              <a:t>listOfCars</a:t>
            </a:r>
            <a:r>
              <a:rPr lang="en-US" dirty="0" smtClean="0">
                <a:latin typeface="Courier New" pitchFamily="49" charset="0"/>
              </a:rPr>
              <a:t>;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</a:t>
            </a:r>
            <a:r>
              <a:rPr lang="en-US" dirty="0" err="1" smtClean="0">
                <a:latin typeface="Courier New" pitchFamily="49" charset="0"/>
              </a:rPr>
              <a:t>ArrayList</a:t>
            </a:r>
            <a:r>
              <a:rPr lang="en-US" dirty="0" smtClean="0">
                <a:latin typeface="Courier New" pitchFamily="49" charset="0"/>
              </a:rPr>
              <a:t>&lt;Integer&gt; </a:t>
            </a:r>
            <a:r>
              <a:rPr lang="en-US" dirty="0" err="1" smtClean="0">
                <a:latin typeface="Courier New" pitchFamily="49" charset="0"/>
              </a:rPr>
              <a:t>listOfInts</a:t>
            </a:r>
            <a:r>
              <a:rPr lang="en-US" dirty="0" smtClean="0">
                <a:latin typeface="Courier New" pitchFamily="49" charset="0"/>
              </a:rPr>
              <a:t>;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0518A7-3614-4288-8AC8-7464666C60E2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040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i="1"/>
              <a:t>ArrayList</a:t>
            </a:r>
            <a:r>
              <a:rPr lang="en-US" altLang="en-US" sz="4000"/>
              <a:t> Constructors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>
              <a:buNone/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z="900"/>
          </a:p>
          <a:p>
            <a:pPr>
              <a:defRPr/>
            </a:pPr>
            <a:r>
              <a:rPr lang="en-US" smtClean="0"/>
              <a:t>The </a:t>
            </a:r>
            <a:r>
              <a:rPr lang="en-US" smtClean="0">
                <a:solidFill>
                  <a:schemeClr val="tx2"/>
                </a:solidFill>
              </a:rPr>
              <a:t>capacity</a:t>
            </a:r>
            <a:r>
              <a:rPr lang="en-US" smtClean="0"/>
              <a:t> of an </a:t>
            </a:r>
            <a:r>
              <a:rPr lang="en-US" i="1" smtClean="0"/>
              <a:t>ArrayList</a:t>
            </a:r>
            <a:r>
              <a:rPr lang="en-US" smtClean="0"/>
              <a:t> is the total number of elements allocated to the list.</a:t>
            </a:r>
          </a:p>
          <a:p>
            <a:pPr>
              <a:defRPr/>
            </a:pPr>
            <a:r>
              <a:rPr lang="en-US" smtClean="0"/>
              <a:t>The </a:t>
            </a:r>
            <a:r>
              <a:rPr lang="en-US" smtClean="0">
                <a:solidFill>
                  <a:schemeClr val="tx2"/>
                </a:solidFill>
              </a:rPr>
              <a:t>size</a:t>
            </a:r>
            <a:r>
              <a:rPr lang="en-US" smtClean="0"/>
              <a:t> of an an </a:t>
            </a:r>
            <a:r>
              <a:rPr lang="en-US" i="1" smtClean="0"/>
              <a:t>ArrayList</a:t>
            </a:r>
            <a:r>
              <a:rPr lang="en-US" smtClean="0"/>
              <a:t> is the number of elements that are used.</a:t>
            </a:r>
          </a:p>
        </p:txBody>
      </p:sp>
      <p:graphicFrame>
        <p:nvGraphicFramePr>
          <p:cNvPr id="444430" name="Group 14"/>
          <p:cNvGraphicFramePr>
            <a:graphicFrameLocks noGrp="1"/>
          </p:cNvGraphicFramePr>
          <p:nvPr/>
        </p:nvGraphicFramePr>
        <p:xfrm>
          <a:off x="2438400" y="1447800"/>
          <a:ext cx="7010400" cy="3035672"/>
        </p:xfrm>
        <a:graphic>
          <a:graphicData uri="http://schemas.openxmlformats.org/drawingml/2006/table">
            <a:tbl>
              <a:tblPr/>
              <a:tblGrid>
                <a:gridCol w="7010400"/>
              </a:tblGrid>
              <a:tr h="457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Constructor name and argument list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1200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ArrayList&lt;</a:t>
                      </a: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constructs an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ArrayList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object of type </a:t>
                      </a:r>
                      <a:r>
                        <a:rPr kumimoji="0" lang="en-US" sz="24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with an initial capacity of 10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6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ArrayList&lt;</a:t>
                      </a: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&gt;( int initialCapacity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constructs an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ArrayList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object of type </a:t>
                      </a:r>
                      <a:r>
                        <a:rPr kumimoji="0" lang="en-US" sz="24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with the specified initial capacity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923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Instantiating an </a:t>
            </a:r>
            <a:r>
              <a:rPr lang="en-US" altLang="en-US" i="1" smtClean="0"/>
              <a:t>ArrayList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>
              <a:buNone/>
              <a:defRPr/>
            </a:pPr>
            <a:r>
              <a:rPr lang="en-US" dirty="0" smtClean="0"/>
              <a:t>This list has a capacity of 10 </a:t>
            </a:r>
            <a:r>
              <a:rPr lang="en-US" i="1" dirty="0" smtClean="0"/>
              <a:t>Astronaut</a:t>
            </a:r>
            <a:r>
              <a:rPr lang="en-US" dirty="0" smtClean="0"/>
              <a:t> references (default capacity), but a size of 0. </a:t>
            </a:r>
            <a:endParaRPr lang="en-US" dirty="0" smtClean="0">
              <a:latin typeface="Courier New" pitchFamily="49" charset="0"/>
            </a:endParaRPr>
          </a:p>
          <a:p>
            <a:pPr>
              <a:buNone/>
              <a:defRPr/>
            </a:pPr>
            <a:endParaRPr lang="en-US" dirty="0" smtClean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</a:t>
            </a:r>
            <a:r>
              <a:rPr lang="en-US" dirty="0" err="1" smtClean="0">
                <a:latin typeface="Courier New" pitchFamily="49" charset="0"/>
              </a:rPr>
              <a:t>ArrayList</a:t>
            </a:r>
            <a:r>
              <a:rPr lang="en-US" dirty="0" smtClean="0">
                <a:latin typeface="Courier New" pitchFamily="49" charset="0"/>
              </a:rPr>
              <a:t>&lt;Astronaut&gt; </a:t>
            </a:r>
            <a:r>
              <a:rPr lang="en-US" dirty="0" err="1" smtClean="0">
                <a:latin typeface="Courier New" pitchFamily="49" charset="0"/>
              </a:rPr>
              <a:t>listOfAstronauts</a:t>
            </a:r>
            <a:r>
              <a:rPr lang="en-US" dirty="0" smtClean="0">
                <a:latin typeface="Courier New" pitchFamily="49" charset="0"/>
              </a:rPr>
              <a:t> =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    new </a:t>
            </a:r>
            <a:r>
              <a:rPr lang="en-US" dirty="0" err="1" smtClean="0">
                <a:latin typeface="Courier New" pitchFamily="49" charset="0"/>
              </a:rPr>
              <a:t>ArrayList</a:t>
            </a:r>
            <a:r>
              <a:rPr lang="en-US" dirty="0" smtClean="0">
                <a:latin typeface="Courier New" pitchFamily="49" charset="0"/>
              </a:rPr>
              <a:t>&lt;Astronaut&gt;( );</a:t>
            </a:r>
          </a:p>
          <a:p>
            <a:pPr>
              <a:buNone/>
              <a:defRPr/>
            </a:pPr>
            <a:endParaRPr lang="en-US" dirty="0" smtClean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dirty="0" smtClean="0"/>
              <a:t>This list has a capacity of 5 </a:t>
            </a:r>
            <a:r>
              <a:rPr lang="en-US" i="1" dirty="0" smtClean="0"/>
              <a:t>Strings</a:t>
            </a:r>
            <a:r>
              <a:rPr lang="en-US" dirty="0" smtClean="0"/>
              <a:t>, but a size of 0.</a:t>
            </a:r>
          </a:p>
          <a:p>
            <a:pPr>
              <a:buNone/>
              <a:defRPr/>
            </a:pPr>
            <a:endParaRPr lang="en-US" dirty="0" smtClean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</a:t>
            </a:r>
            <a:r>
              <a:rPr lang="en-US" dirty="0" err="1" smtClean="0">
                <a:latin typeface="Courier New" pitchFamily="49" charset="0"/>
              </a:rPr>
              <a:t>ArrayList</a:t>
            </a:r>
            <a:r>
              <a:rPr lang="en-US" dirty="0" smtClean="0">
                <a:latin typeface="Courier New" pitchFamily="49" charset="0"/>
              </a:rPr>
              <a:t>&lt;String&gt; </a:t>
            </a:r>
            <a:r>
              <a:rPr lang="en-US" dirty="0" err="1" smtClean="0">
                <a:latin typeface="Courier New" pitchFamily="49" charset="0"/>
              </a:rPr>
              <a:t>listOfStrings</a:t>
            </a:r>
            <a:r>
              <a:rPr lang="en-US" dirty="0" smtClean="0">
                <a:latin typeface="Courier New" pitchFamily="49" charset="0"/>
              </a:rPr>
              <a:t> = 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      new </a:t>
            </a:r>
            <a:r>
              <a:rPr lang="en-US" dirty="0" err="1" smtClean="0">
                <a:latin typeface="Courier New" pitchFamily="49" charset="0"/>
              </a:rPr>
              <a:t>ArrayList</a:t>
            </a:r>
            <a:r>
              <a:rPr lang="en-US" dirty="0" smtClean="0">
                <a:latin typeface="Courier New" pitchFamily="49" charset="0"/>
              </a:rPr>
              <a:t>&lt;String&gt;( 5 );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A9944EB-B4A3-4F24-965D-52F339E8E6AB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94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33400"/>
            <a:ext cx="7848600" cy="6858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i="1"/>
              <a:t>ArrayList</a:t>
            </a:r>
            <a:r>
              <a:rPr lang="en-US" sz="4000"/>
              <a:t> Methods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  <p:graphicFrame>
        <p:nvGraphicFramePr>
          <p:cNvPr id="446490" name="Group 26"/>
          <p:cNvGraphicFramePr>
            <a:graphicFrameLocks noGrp="1"/>
          </p:cNvGraphicFramePr>
          <p:nvPr/>
        </p:nvGraphicFramePr>
        <p:xfrm>
          <a:off x="1828800" y="1600200"/>
          <a:ext cx="8534400" cy="3944022"/>
        </p:xfrm>
        <a:graphic>
          <a:graphicData uri="http://schemas.openxmlformats.org/drawingml/2006/table">
            <a:tbl>
              <a:tblPr/>
              <a:tblGrid>
                <a:gridCol w="2133600"/>
                <a:gridCol w="6400800"/>
              </a:tblGrid>
              <a:tr h="457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Return value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Method name and argument list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7618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boolean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add( </a:t>
                      </a: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element )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appends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element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to the end of the list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18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clear( )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removes all the elements in the list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18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int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size( )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returns the number of elements in the list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00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remove( int index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removes the element at the specified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index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position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01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848600" cy="6096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4000"/>
              <a:t>More </a:t>
            </a:r>
            <a:r>
              <a:rPr lang="en-US" sz="4000" i="1"/>
              <a:t>ArrayList</a:t>
            </a:r>
            <a:r>
              <a:rPr lang="en-US" sz="4000"/>
              <a:t> Methods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  <p:graphicFrame>
        <p:nvGraphicFramePr>
          <p:cNvPr id="447509" name="Group 21"/>
          <p:cNvGraphicFramePr>
            <a:graphicFrameLocks noGrp="1"/>
          </p:cNvGraphicFramePr>
          <p:nvPr/>
        </p:nvGraphicFramePr>
        <p:xfrm>
          <a:off x="1828800" y="1600200"/>
          <a:ext cx="8534400" cy="3986728"/>
        </p:xfrm>
        <a:graphic>
          <a:graphicData uri="http://schemas.openxmlformats.org/drawingml/2006/table">
            <a:tbl>
              <a:tblPr/>
              <a:tblGrid>
                <a:gridCol w="2057400"/>
                <a:gridCol w="6477000"/>
              </a:tblGrid>
              <a:tr h="457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Return value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Method name and argument list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1200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get( int index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eturns the element at the specified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index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position; the element is not removed from the list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00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set( int index, </a:t>
                      </a:r>
                      <a:r>
                        <a:rPr kumimoji="0" lang="en-US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element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replaces the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element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at the specified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index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position with the specified element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275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trimToSize(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sets the capacity of the list to its current size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782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Processing Array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55000" lnSpcReduction="20000"/>
          </a:bodyPr>
          <a:lstStyle/>
          <a:p>
            <a:pPr>
              <a:buNone/>
              <a:defRPr/>
            </a:pPr>
            <a:r>
              <a:rPr lang="en-US" dirty="0" smtClean="0"/>
              <a:t>Using a standard  </a:t>
            </a:r>
            <a:r>
              <a:rPr lang="en-US" i="1" dirty="0" smtClean="0"/>
              <a:t>for </a:t>
            </a:r>
            <a:r>
              <a:rPr lang="en-US" dirty="0" smtClean="0"/>
              <a:t>loop:</a:t>
            </a:r>
          </a:p>
          <a:p>
            <a:pPr>
              <a:buNone/>
              <a:defRPr/>
            </a:pPr>
            <a:r>
              <a:rPr lang="en-US" dirty="0" err="1" smtClean="0">
                <a:latin typeface="Courier New" pitchFamily="49" charset="0"/>
                <a:cs typeface="Times New Roman" pitchFamily="18" charset="0"/>
              </a:rPr>
              <a:t>ClassName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Times New Roman" pitchFamily="18" charset="0"/>
              </a:rPr>
              <a:t>currentObject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;</a:t>
            </a:r>
            <a:r>
              <a:rPr lang="en-US" dirty="0" smtClean="0">
                <a:latin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for (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arrayListName.size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 )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++ )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{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dirty="0" err="1" smtClean="0">
                <a:latin typeface="Courier New" pitchFamily="49" charset="0"/>
                <a:cs typeface="Times New Roman" pitchFamily="18" charset="0"/>
              </a:rPr>
              <a:t>currentObject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b="1" dirty="0" err="1" smtClean="0">
                <a:latin typeface="Courier New" pitchFamily="49" charset="0"/>
                <a:cs typeface="Times New Roman" pitchFamily="18" charset="0"/>
              </a:rPr>
              <a:t>arrayListName.get</a:t>
            </a:r>
            <a:r>
              <a:rPr lang="en-US" b="1" dirty="0" smtClean="0">
                <a:latin typeface="Courier New" pitchFamily="49" charset="0"/>
                <a:cs typeface="Times New Roman" pitchFamily="18" charset="0"/>
              </a:rPr>
              <a:t>( </a:t>
            </a:r>
            <a:r>
              <a:rPr lang="en-US" b="1" dirty="0" err="1" smtClean="0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b="1" dirty="0" smtClean="0">
                <a:latin typeface="Courier New" pitchFamily="49" charset="0"/>
                <a:cs typeface="Times New Roman" pitchFamily="18" charset="0"/>
              </a:rPr>
              <a:t> );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// process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currentObject</a:t>
            </a:r>
            <a:endParaRPr lang="en-US" dirty="0" smtClean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</a:rPr>
              <a:t>}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>
              <a:buNone/>
              <a:defRPr/>
            </a:pPr>
            <a:r>
              <a:rPr lang="en-US" dirty="0" smtClean="0">
                <a:cs typeface="Times New Roman" pitchFamily="18" charset="0"/>
              </a:rPr>
              <a:t>Example: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Auto </a:t>
            </a:r>
            <a:r>
              <a:rPr lang="en-US" dirty="0" err="1" smtClean="0">
                <a:latin typeface="Courier New" pitchFamily="49" charset="0"/>
                <a:cs typeface="Times New Roman" pitchFamily="18" charset="0"/>
              </a:rPr>
              <a:t>currentAuto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; 	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for (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listOfAutos.size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);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++ )</a:t>
            </a:r>
            <a:endParaRPr lang="en-US" dirty="0" smtClean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 smtClean="0">
                <a:latin typeface="Courier New" pitchFamily="49" charset="0"/>
                <a:cs typeface="Times New Roman" pitchFamily="18" charset="0"/>
              </a:rPr>
              <a:t>currentAuto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Courier New" pitchFamily="49" charset="0"/>
                <a:cs typeface="Times New Roman" pitchFamily="18" charset="0"/>
              </a:rPr>
              <a:t>listOfAutos.get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( </a:t>
            </a:r>
            <a:r>
              <a:rPr lang="en-US" dirty="0" err="1" smtClean="0"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 );</a:t>
            </a: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// process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currentAuto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 smtClean="0">
                <a:latin typeface="Courier New" pitchFamily="49" charset="0"/>
                <a:cs typeface="Times New Roman" pitchFamily="18" charset="0"/>
              </a:rPr>
              <a:t>	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5B65ED7-575F-4838-BABE-C8FF3131E33B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9206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Processing Array Lists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of a method definition that returns an ArrayList: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mtClean="0"/>
              <a:t>    public ArrayList&lt;data_type&gt;  myMethod()</a:t>
            </a:r>
          </a:p>
          <a:p>
            <a:pPr eaLnBrk="1" hangingPunct="1"/>
            <a:r>
              <a:rPr lang="en-US" altLang="en-US" smtClean="0"/>
              <a:t>Example of setting an object into the list: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mtClean="0"/>
              <a:t>ArrayList&lt;data_type&gt; list=new  ArrayList&lt;data_type&gt;();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mtClean="0"/>
              <a:t>   list.set(0, obj);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mtClean="0"/>
              <a:t>//sets at index 0 the object obj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2FF687-7A9D-462D-BCC5-9218EA571C6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567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Enhanced</a:t>
            </a:r>
            <a:r>
              <a:rPr lang="en-US" altLang="en-US" i="1" smtClean="0"/>
              <a:t> for</a:t>
            </a:r>
            <a:r>
              <a:rPr lang="en-US" altLang="en-US" smtClean="0"/>
              <a:t>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>
              <a:defRPr/>
            </a:pPr>
            <a:r>
              <a:rPr lang="en-US" dirty="0" smtClean="0"/>
              <a:t>Simplifies processing of lists</a:t>
            </a:r>
          </a:p>
          <a:p>
            <a:pPr>
              <a:defRPr/>
            </a:pPr>
            <a:r>
              <a:rPr lang="en-US" dirty="0" smtClean="0"/>
              <a:t>The standard form is: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for (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ClassName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currentObject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arrayListName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)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Times New Roman" pitchFamily="18" charset="0"/>
              </a:rPr>
              <a:t>{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// process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currentObject</a:t>
            </a:r>
            <a:endParaRPr lang="en-US" sz="2400" dirty="0">
              <a:latin typeface="Courier New" pitchFamily="49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Times New Roman" pitchFamily="18" charset="0"/>
              </a:rPr>
              <a:t>}</a:t>
            </a:r>
          </a:p>
          <a:p>
            <a:pPr>
              <a:defRPr/>
            </a:pPr>
            <a:r>
              <a:rPr lang="en-US" dirty="0" smtClean="0">
                <a:cs typeface="Times New Roman" pitchFamily="18" charset="0"/>
              </a:rPr>
              <a:t>This enhanced </a:t>
            </a:r>
            <a:r>
              <a:rPr lang="en-US" i="1" dirty="0" smtClean="0">
                <a:cs typeface="Times New Roman" pitchFamily="18" charset="0"/>
              </a:rPr>
              <a:t>for </a:t>
            </a:r>
            <a:r>
              <a:rPr lang="en-US" dirty="0" smtClean="0">
                <a:cs typeface="Times New Roman" pitchFamily="18" charset="0"/>
              </a:rPr>
              <a:t>loop prints all elements of an </a:t>
            </a:r>
            <a:r>
              <a:rPr lang="en-US" i="1" dirty="0" err="1" smtClean="0">
                <a:cs typeface="Times New Roman" pitchFamily="18" charset="0"/>
              </a:rPr>
              <a:t>ArrayList</a:t>
            </a:r>
            <a:r>
              <a:rPr lang="en-US" i="1" dirty="0" smtClean="0">
                <a:cs typeface="Times New Roman" pitchFamily="18" charset="0"/>
              </a:rPr>
              <a:t> </a:t>
            </a:r>
            <a:r>
              <a:rPr lang="en-US" dirty="0" smtClean="0">
                <a:cs typeface="Times New Roman" pitchFamily="18" charset="0"/>
              </a:rPr>
              <a:t>of </a:t>
            </a:r>
            <a:r>
              <a:rPr lang="en-US" i="1" dirty="0" smtClean="0">
                <a:cs typeface="Times New Roman" pitchFamily="18" charset="0"/>
              </a:rPr>
              <a:t>Strings</a:t>
            </a:r>
            <a:r>
              <a:rPr lang="en-US" dirty="0" smtClean="0">
                <a:cs typeface="Times New Roman" pitchFamily="18" charset="0"/>
              </a:rPr>
              <a:t> named </a:t>
            </a:r>
            <a:r>
              <a:rPr lang="en-US" i="1" dirty="0" smtClean="0">
                <a:cs typeface="Times New Roman" pitchFamily="18" charset="0"/>
              </a:rPr>
              <a:t>list</a:t>
            </a:r>
            <a:r>
              <a:rPr lang="en-US" dirty="0" smtClean="0">
                <a:cs typeface="Times New Roman" pitchFamily="18" charset="0"/>
              </a:rPr>
              <a:t>: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Times New Roman" pitchFamily="18" charset="0"/>
              </a:rPr>
              <a:t>for ( String s : list )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Times New Roman" pitchFamily="18" charset="0"/>
              </a:rPr>
              <a:t>{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dirty="0" err="1">
                <a:latin typeface="Courier New" pitchFamily="49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Courier New" pitchFamily="49" charset="0"/>
                <a:cs typeface="Times New Roman" pitchFamily="18" charset="0"/>
              </a:rPr>
              <a:t>( s );</a:t>
            </a:r>
          </a:p>
          <a:p>
            <a:pPr>
              <a:buNone/>
              <a:defRPr/>
            </a:pPr>
            <a:r>
              <a:rPr lang="en-US" sz="2400" dirty="0">
                <a:latin typeface="Courier New" pitchFamily="49" charset="0"/>
                <a:cs typeface="Times New Roman" pitchFamily="18" charset="0"/>
              </a:rPr>
              <a:t>}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65E5C90-DE9B-4D0D-BBA7-A26F374E09D0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197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2536</Words>
  <Application>Microsoft Office PowerPoint</Application>
  <PresentationFormat>Widescreen</PresentationFormat>
  <Paragraphs>544</Paragraphs>
  <Slides>45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Courier New</vt:lpstr>
      <vt:lpstr>Times New Roman</vt:lpstr>
      <vt:lpstr>Office Theme</vt:lpstr>
      <vt:lpstr>CS 116: Object Oriented Programming II</vt:lpstr>
      <vt:lpstr>Topics</vt:lpstr>
      <vt:lpstr>Vectors</vt:lpstr>
      <vt:lpstr>Vectors</vt:lpstr>
      <vt:lpstr>Vectors</vt:lpstr>
      <vt:lpstr>Vectors-Example</vt:lpstr>
      <vt:lpstr>PowerPoint Presentation</vt:lpstr>
      <vt:lpstr>PowerPoint Presentation</vt:lpstr>
      <vt:lpstr>Multidimensional Arrays</vt:lpstr>
      <vt:lpstr>Declaring Multidimensional Arrays</vt:lpstr>
      <vt:lpstr>Instantiating Multidimensional Arrays</vt:lpstr>
      <vt:lpstr>Assigning Initial Values</vt:lpstr>
      <vt:lpstr>Assigning Initial Values Example</vt:lpstr>
      <vt:lpstr>An Array of Arrays</vt:lpstr>
      <vt:lpstr>Instantiating Arrays with Different Length Rows</vt:lpstr>
      <vt:lpstr>Accessing Array Elements</vt:lpstr>
      <vt:lpstr>The Length of the Array</vt:lpstr>
      <vt:lpstr>Instantiating Arrays with Different Length Rows</vt:lpstr>
      <vt:lpstr>2 Dimensional Arrays of objects</vt:lpstr>
      <vt:lpstr>Accessing Two-Dimensional  Array Elements</vt:lpstr>
      <vt:lpstr>Output all the elements of a two-dimensional array </vt:lpstr>
      <vt:lpstr>Processing a Given Row</vt:lpstr>
      <vt:lpstr>Processing a Given Column</vt:lpstr>
      <vt:lpstr>Arrays where not all columns have the same size</vt:lpstr>
      <vt:lpstr>Arrays where not all rows have the same number of columns</vt:lpstr>
      <vt:lpstr>Arrays where not all rows have the same number of columns</vt:lpstr>
      <vt:lpstr>Practice problem</vt:lpstr>
      <vt:lpstr>Other Multidimensional Arrays</vt:lpstr>
      <vt:lpstr>Sample Code</vt:lpstr>
      <vt:lpstr>Instantiating a 3-Dim Array</vt:lpstr>
      <vt:lpstr>Practice problem</vt:lpstr>
      <vt:lpstr>Code to Print the sales Array</vt:lpstr>
      <vt:lpstr>General Pattern for Processing a Three-Dimensional Array</vt:lpstr>
      <vt:lpstr>A Four-Dimensional Array</vt:lpstr>
      <vt:lpstr>General Pattern for Processing a  Four-Dimensional Array</vt:lpstr>
      <vt:lpstr>The ArrayList Class</vt:lpstr>
      <vt:lpstr>The ArrayList Class</vt:lpstr>
      <vt:lpstr>Declaring an ArrayList </vt:lpstr>
      <vt:lpstr>ArrayList Constructors</vt:lpstr>
      <vt:lpstr>Instantiating an ArrayList</vt:lpstr>
      <vt:lpstr>ArrayList Methods</vt:lpstr>
      <vt:lpstr>More ArrayList Methods</vt:lpstr>
      <vt:lpstr>Processing Array Lists</vt:lpstr>
      <vt:lpstr>Processing Array Lists</vt:lpstr>
      <vt:lpstr>The Enhanced for Loop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116: Object Oriented Programming II</dc:title>
  <dc:creator>john korah</dc:creator>
  <cp:lastModifiedBy>john korah</cp:lastModifiedBy>
  <cp:revision>18</cp:revision>
  <dcterms:created xsi:type="dcterms:W3CDTF">2016-02-11T16:27:10Z</dcterms:created>
  <dcterms:modified xsi:type="dcterms:W3CDTF">2016-02-15T16:36:29Z</dcterms:modified>
</cp:coreProperties>
</file>