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4"/>
  </p:notesMasterIdLst>
  <p:sldIdLst>
    <p:sldId id="256" r:id="rId2"/>
    <p:sldId id="271" r:id="rId3"/>
    <p:sldId id="272" r:id="rId4"/>
    <p:sldId id="273" r:id="rId5"/>
    <p:sldId id="281" r:id="rId6"/>
    <p:sldId id="275" r:id="rId7"/>
    <p:sldId id="278" r:id="rId8"/>
    <p:sldId id="277" r:id="rId9"/>
    <p:sldId id="311" r:id="rId10"/>
    <p:sldId id="312" r:id="rId11"/>
    <p:sldId id="307" r:id="rId12"/>
    <p:sldId id="316" r:id="rId13"/>
    <p:sldId id="308" r:id="rId14"/>
    <p:sldId id="309" r:id="rId15"/>
    <p:sldId id="310" r:id="rId16"/>
    <p:sldId id="303" r:id="rId17"/>
    <p:sldId id="304" r:id="rId18"/>
    <p:sldId id="305" r:id="rId19"/>
    <p:sldId id="313" r:id="rId20"/>
    <p:sldId id="314" r:id="rId21"/>
    <p:sldId id="315" r:id="rId22"/>
    <p:sldId id="318" r:id="rId23"/>
    <p:sldId id="319" r:id="rId24"/>
    <p:sldId id="320" r:id="rId25"/>
    <p:sldId id="324" r:id="rId26"/>
    <p:sldId id="325" r:id="rId27"/>
    <p:sldId id="326" r:id="rId28"/>
    <p:sldId id="338" r:id="rId29"/>
    <p:sldId id="327" r:id="rId30"/>
    <p:sldId id="328" r:id="rId31"/>
    <p:sldId id="329" r:id="rId32"/>
    <p:sldId id="332" r:id="rId33"/>
    <p:sldId id="333" r:id="rId34"/>
    <p:sldId id="334" r:id="rId35"/>
    <p:sldId id="335" r:id="rId36"/>
    <p:sldId id="336" r:id="rId37"/>
    <p:sldId id="337" r:id="rId38"/>
    <p:sldId id="339" r:id="rId39"/>
    <p:sldId id="340" r:id="rId40"/>
    <p:sldId id="322" r:id="rId41"/>
    <p:sldId id="323" r:id="rId42"/>
    <p:sldId id="331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457" autoAdjust="0"/>
  </p:normalViewPr>
  <p:slideViewPr>
    <p:cSldViewPr snapToGrid="0">
      <p:cViewPr varScale="1">
        <p:scale>
          <a:sx n="50" d="100"/>
          <a:sy n="50" d="100"/>
        </p:scale>
        <p:origin x="128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9ED95-EE71-49A4-8E99-A80719FE212A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F0A11-36FC-44B5-B51E-9B9CAFD5E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576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754574-A2BB-4A30-9A07-A1C0BDFB938A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471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39D1200-925E-42F2-AF8A-810264DC688D}" type="slidenum">
              <a:rPr lang="en-US" altLang="en-US"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631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4B3BD2F-B730-4956-A484-52FA0C384609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115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5FE8C6-C9BD-4F31-A769-49E4AD4405CC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79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28AAEB-5DBE-4466-84DA-F40B30351F3E}" type="slidenum">
              <a:rPr lang="en-US" altLang="en-US"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368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0B8B72A-BA04-4519-B70B-BBC12F3F8E10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347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6CF6880-E64A-455B-B5A8-E0161F431F91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732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5793A0-6E20-4223-B486-0000B124EC9D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025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5793A0-6E20-4223-B486-0000B124EC9D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191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FD36BC-E7D3-4E8F-9C33-25131D421B66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313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99ECB97-42D4-4334-8445-271505BFAF1F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085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904520A-5F4B-4D2E-A205-3940A64E5026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026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000B34-FF90-4A5C-8817-696B2A349762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355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ACE97D-1619-428E-B29B-59C84CE5006F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8072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C26185-1968-4A0C-815C-3A3EEECE524F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148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879C703-3725-465E-8228-F1D98490AFF6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055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D3F0141-6148-4364-80DC-690BBDA2E1C1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6906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924C9D3-D03A-408C-8C87-C1F7AA8725C4}" type="slidenum">
              <a:rPr lang="en-US" altLang="en-US"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5566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905DBFC-AB0F-40B6-9B97-99DB494A1D37}" type="slidenum">
              <a:rPr lang="en-US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548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BF69B5-17B1-4B05-8D89-F0BC0ADD3AB8}" type="slidenum">
              <a:rPr lang="en-US" altLang="en-US"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2719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87DA562-CFD3-4114-8BC1-52812D83A12B}" type="slidenum">
              <a:rPr lang="en-US" altLang="en-US">
                <a:latin typeface="Calibri" panose="020F0502020204030204" pitchFamily="34" charset="0"/>
              </a:rPr>
              <a:pPr eaLnBrk="1" hangingPunct="1"/>
              <a:t>27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5052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BEA775F-88E9-43F6-8F39-F300906886DD}" type="slidenum">
              <a:rPr lang="en-US" altLang="en-US"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0765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1F14B7-2B87-432C-AD12-E6AD4BA554FB}" type="slidenum">
              <a:rPr lang="en-US" altLang="en-US">
                <a:latin typeface="Calibri" panose="020F0502020204030204" pitchFamily="34" charset="0"/>
              </a:rPr>
              <a:pPr eaLnBrk="1" hangingPunct="1"/>
              <a:t>30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6297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63BCCBC-0E12-4745-BBB8-B8D4F4C92A88}" type="slidenum">
              <a:rPr lang="en-US" altLang="en-US">
                <a:latin typeface="Calibri" panose="020F0502020204030204" pitchFamily="34" charset="0"/>
              </a:rPr>
              <a:pPr eaLnBrk="1" hangingPunct="1"/>
              <a:t>31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9342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F71F4C-80BD-4EA0-99AE-D0313D980C0A}" type="slidenum">
              <a:rPr lang="en-US" altLang="en-US">
                <a:latin typeface="Calibri" panose="020F0502020204030204" pitchFamily="34" charset="0"/>
              </a:rPr>
              <a:pPr eaLnBrk="1" hangingPunct="1"/>
              <a:t>40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6661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17D546-95DE-455D-88FA-D6053FEA01C3}" type="slidenum">
              <a:rPr lang="en-US" altLang="en-US">
                <a:latin typeface="Calibri" panose="020F0502020204030204" pitchFamily="34" charset="0"/>
              </a:rPr>
              <a:pPr eaLnBrk="1" hangingPunct="1"/>
              <a:t>41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7546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2CD386-3910-481A-B070-3E8E3ADFA20D}" type="slidenum">
              <a:rPr lang="en-US" altLang="en-US">
                <a:latin typeface="Calibri" panose="020F0502020204030204" pitchFamily="34" charset="0"/>
              </a:rPr>
              <a:pPr eaLnBrk="1" hangingPunct="1"/>
              <a:t>42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241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212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83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504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889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4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218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98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55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45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19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879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381000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13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373F9-0393-4C72-86F5-A4D2DCD5D65C}" type="datetimeFigureOut">
              <a:rPr lang="en-US" smtClean="0"/>
              <a:t>4/5/2016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01EAB-098E-4C23-9E94-A1D65752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3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CS 116</a:t>
            </a:r>
            <a:br>
              <a:rPr lang="en-US" dirty="0" smtClean="0"/>
            </a:br>
            <a:r>
              <a:rPr lang="en-US" dirty="0" smtClean="0"/>
              <a:t>Object Oriented Programming 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11</a:t>
            </a:r>
            <a:endParaRPr lang="en-US" dirty="0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1395693" y="5543550"/>
            <a:ext cx="676428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350" b="1" u="sng" dirty="0">
                <a:latin typeface="Calibri" panose="020F0502020204030204" pitchFamily="34" charset="0"/>
              </a:rPr>
              <a:t>Acknowledgement: Contains materials provided by George </a:t>
            </a:r>
            <a:r>
              <a:rPr lang="en-US" altLang="en-US" sz="1350" b="1" u="sng" dirty="0" err="1">
                <a:latin typeface="Calibri" panose="020F0502020204030204" pitchFamily="34" charset="0"/>
              </a:rPr>
              <a:t>Koutsogiannakis</a:t>
            </a:r>
            <a:r>
              <a:rPr lang="en-US" altLang="en-US" sz="1350" b="1" u="sng" dirty="0">
                <a:latin typeface="Calibri" panose="020F0502020204030204" pitchFamily="34" charset="0"/>
              </a:rPr>
              <a:t> and Matt Bauer</a:t>
            </a:r>
            <a:endParaRPr lang="en-US" altLang="en-US" sz="1350" b="1" u="sng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8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Today’s Topics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The </a:t>
            </a:r>
            <a:r>
              <a:rPr lang="en-US" altLang="en-US" i="1" dirty="0" smtClean="0"/>
              <a:t>java.io</a:t>
            </a:r>
            <a:r>
              <a:rPr lang="en-US" altLang="en-US" dirty="0" smtClean="0"/>
              <a:t> Package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Reading Text Files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Reading Structured Text Files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Reading files using </a:t>
            </a:r>
            <a:r>
              <a:rPr lang="en-US" altLang="en-US" smtClean="0"/>
              <a:t>Input </a:t>
            </a:r>
            <a:r>
              <a:rPr lang="en-US" altLang="en-US" i="1" smtClean="0"/>
              <a:t>Streams</a:t>
            </a:r>
            <a:endParaRPr lang="en-US" altLang="en-US" i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526C7C4-AB98-4C1A-9A07-5BD4FFD3BE19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97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998935"/>
            <a:ext cx="5829300" cy="457200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dirty="0"/>
              <a:t>File Types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790701"/>
            <a:ext cx="7886700" cy="3699272"/>
          </a:xfrm>
        </p:spPr>
        <p:txBody>
          <a:bodyPr rtlCol="0">
            <a:normAutofit fontScale="92500" lnSpcReduction="10000"/>
          </a:bodyPr>
          <a:lstStyle/>
          <a:p>
            <a:pPr>
              <a:defRPr/>
            </a:pPr>
            <a:r>
              <a:rPr lang="en-US" dirty="0">
                <a:cs typeface="Times New Roman" charset="0"/>
              </a:rPr>
              <a:t>Java basically supports two types of files:</a:t>
            </a:r>
          </a:p>
          <a:p>
            <a:pPr lvl="1">
              <a:defRPr/>
            </a:pPr>
            <a:r>
              <a:rPr lang="en-US" dirty="0">
                <a:cs typeface="Times New Roman" charset="0"/>
              </a:rPr>
              <a:t>T</a:t>
            </a:r>
            <a:r>
              <a:rPr lang="en-US" dirty="0" smtClean="0">
                <a:cs typeface="Times New Roman" charset="0"/>
              </a:rPr>
              <a:t>ext files (human readable): </a:t>
            </a:r>
            <a:r>
              <a:rPr lang="en-US" dirty="0">
                <a:cs typeface="Times New Roman" charset="0"/>
              </a:rPr>
              <a:t>data is stored as characters </a:t>
            </a:r>
          </a:p>
          <a:p>
            <a:pPr lvl="1">
              <a:defRPr/>
            </a:pPr>
            <a:r>
              <a:rPr lang="en-US" dirty="0" smtClean="0">
                <a:cs typeface="Times New Roman" charset="0"/>
              </a:rPr>
              <a:t>Binary </a:t>
            </a:r>
            <a:r>
              <a:rPr lang="en-US" dirty="0">
                <a:cs typeface="Times New Roman" charset="0"/>
              </a:rPr>
              <a:t>files: data is stored as raw </a:t>
            </a:r>
            <a:r>
              <a:rPr lang="en-US" dirty="0" smtClean="0">
                <a:cs typeface="Times New Roman" charset="0"/>
              </a:rPr>
              <a:t>bytes (1s and 0s)</a:t>
            </a:r>
          </a:p>
          <a:p>
            <a:pPr lvl="2">
              <a:defRPr/>
            </a:pPr>
            <a:r>
              <a:rPr lang="en-US" dirty="0" smtClean="0">
                <a:cs typeface="Times New Roman" charset="0"/>
              </a:rPr>
              <a:t>E.g. executable files, image files</a:t>
            </a:r>
            <a:endParaRPr lang="en-US" dirty="0">
              <a:cs typeface="Times New Roman" charset="0"/>
            </a:endParaRPr>
          </a:p>
          <a:p>
            <a:pPr>
              <a:defRPr/>
            </a:pPr>
            <a:r>
              <a:rPr lang="en-US" dirty="0" smtClean="0">
                <a:cs typeface="Times New Roman" charset="0"/>
              </a:rPr>
              <a:t>The </a:t>
            </a:r>
            <a:r>
              <a:rPr lang="en-US" dirty="0">
                <a:cs typeface="Times New Roman" charset="0"/>
              </a:rPr>
              <a:t>type of a file </a:t>
            </a:r>
            <a:r>
              <a:rPr lang="en-US" dirty="0" smtClean="0">
                <a:cs typeface="Times New Roman" charset="0"/>
              </a:rPr>
              <a:t>determines the Java API classes  for writing </a:t>
            </a:r>
            <a:r>
              <a:rPr lang="en-US" dirty="0">
                <a:cs typeface="Times New Roman" charset="0"/>
              </a:rPr>
              <a:t>to the file</a:t>
            </a:r>
            <a:r>
              <a:rPr lang="en-US" dirty="0" smtClean="0">
                <a:cs typeface="Times New Roman" charset="0"/>
              </a:rPr>
              <a:t>. </a:t>
            </a:r>
          </a:p>
          <a:p>
            <a:pPr>
              <a:defRPr/>
            </a:pPr>
            <a:r>
              <a:rPr lang="en-US" dirty="0" smtClean="0">
                <a:cs typeface="Times New Roman" charset="0"/>
              </a:rPr>
              <a:t>Input to the file can be:</a:t>
            </a:r>
          </a:p>
          <a:p>
            <a:pPr lvl="1">
              <a:defRPr/>
            </a:pPr>
            <a:r>
              <a:rPr lang="en-US" dirty="0" smtClean="0">
                <a:cs typeface="Times New Roman" charset="0"/>
              </a:rPr>
              <a:t>Files written using Bytes Streams (1s and 0s).</a:t>
            </a:r>
          </a:p>
          <a:p>
            <a:pPr lvl="1">
              <a:defRPr/>
            </a:pPr>
            <a:r>
              <a:rPr lang="en-US" dirty="0" smtClean="0">
                <a:cs typeface="Times New Roman" charset="0"/>
              </a:rPr>
              <a:t>Files written using Character Streams (char types).</a:t>
            </a:r>
          </a:p>
          <a:p>
            <a:pPr lvl="1">
              <a:defRPr/>
            </a:pPr>
            <a:r>
              <a:rPr lang="en-US" dirty="0" smtClean="0">
                <a:cs typeface="Times New Roman" charset="0"/>
              </a:rPr>
              <a:t>Files  written in terms of Strings (text).</a:t>
            </a:r>
          </a:p>
          <a:p>
            <a:pPr lvl="1">
              <a:defRPr/>
            </a:pPr>
            <a:endParaRPr lang="en-US" dirty="0" smtClean="0">
              <a:cs typeface="Times New Roman" charset="0"/>
            </a:endParaRPr>
          </a:p>
          <a:p>
            <a:pPr lvl="1">
              <a:defRPr/>
            </a:pPr>
            <a:endParaRPr lang="en-US" dirty="0" smtClean="0">
              <a:cs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4514C58-5DF1-46DB-A61D-7988A5669948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561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File Types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cs typeface="Times New Roman" panose="02020603050405020304" pitchFamily="18" charset="0"/>
              </a:rPr>
              <a:t>Input to the file can be: (cont.)</a:t>
            </a:r>
          </a:p>
          <a:p>
            <a:pPr lvl="1">
              <a:defRPr/>
            </a:pPr>
            <a:r>
              <a:rPr lang="en-US" dirty="0">
                <a:cs typeface="Times New Roman" charset="0"/>
              </a:rPr>
              <a:t>Files written using primitive data types (</a:t>
            </a:r>
            <a:r>
              <a:rPr lang="en-US" dirty="0" err="1">
                <a:cs typeface="Times New Roman" charset="0"/>
              </a:rPr>
              <a:t>int</a:t>
            </a:r>
            <a:r>
              <a:rPr lang="en-US" dirty="0">
                <a:cs typeface="Times New Roman" charset="0"/>
              </a:rPr>
              <a:t>, double </a:t>
            </a:r>
            <a:r>
              <a:rPr lang="en-US" dirty="0" err="1">
                <a:cs typeface="Times New Roman" charset="0"/>
              </a:rPr>
              <a:t>etc</a:t>
            </a:r>
            <a:r>
              <a:rPr lang="en-US" dirty="0">
                <a:cs typeface="Times New Roman" charset="0"/>
              </a:rPr>
              <a:t>)</a:t>
            </a:r>
          </a:p>
          <a:p>
            <a:pPr lvl="1">
              <a:defRPr/>
            </a:pPr>
            <a:r>
              <a:rPr lang="en-US" dirty="0">
                <a:cs typeface="Times New Roman" charset="0"/>
              </a:rPr>
              <a:t>Files written using entire object streams (recording all information about an object in a coded format).</a:t>
            </a:r>
          </a:p>
          <a:p>
            <a:pPr eaLnBrk="1" hangingPunct="1"/>
            <a:r>
              <a:rPr lang="en-US" altLang="en-US" dirty="0" smtClean="0">
                <a:cs typeface="Times New Roman" panose="02020603050405020304" pitchFamily="18" charset="0"/>
              </a:rPr>
              <a:t>To read an existing file, you must know the file's type in order to select and import the appropriate library classes for reading the file. 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D5A748-7BD8-4633-8683-F3C4E9AA854B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43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Reading </a:t>
            </a:r>
            <a:r>
              <a:rPr lang="en-US" altLang="en-US" u="sng" dirty="0" smtClean="0"/>
              <a:t>Text Files </a:t>
            </a:r>
            <a:r>
              <a:rPr lang="en-US" altLang="en-US" dirty="0" smtClean="0"/>
              <a:t>with 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26469"/>
            <a:ext cx="3924300" cy="3602831"/>
          </a:xfrm>
          <a:solidFill>
            <a:schemeClr val="bg2"/>
          </a:solidFill>
        </p:spPr>
        <p:txBody>
          <a:bodyPr rtlCol="0">
            <a:noAutofit/>
          </a:bodyPr>
          <a:lstStyle/>
          <a:p>
            <a:pPr>
              <a:buNone/>
              <a:defRPr/>
            </a:pPr>
            <a:r>
              <a:rPr lang="en-US" sz="1500" dirty="0"/>
              <a:t>import </a:t>
            </a:r>
            <a:r>
              <a:rPr lang="en-US" sz="1500" dirty="0" err="1"/>
              <a:t>java.io.File</a:t>
            </a:r>
            <a:r>
              <a:rPr lang="en-US" sz="1500" dirty="0"/>
              <a:t>;</a:t>
            </a:r>
          </a:p>
          <a:p>
            <a:pPr>
              <a:buNone/>
              <a:defRPr/>
            </a:pPr>
            <a:r>
              <a:rPr lang="en-US" sz="1500" dirty="0"/>
              <a:t>import </a:t>
            </a:r>
            <a:r>
              <a:rPr lang="en-US" sz="1500" dirty="0" err="1"/>
              <a:t>java.io.IOException</a:t>
            </a:r>
            <a:r>
              <a:rPr lang="en-US" sz="1500" dirty="0"/>
              <a:t>;</a:t>
            </a:r>
          </a:p>
          <a:p>
            <a:pPr>
              <a:buNone/>
              <a:defRPr/>
            </a:pPr>
            <a:r>
              <a:rPr lang="en-US" sz="1500" dirty="0"/>
              <a:t>import </a:t>
            </a:r>
            <a:r>
              <a:rPr lang="en-US" sz="1500" dirty="0" err="1"/>
              <a:t>java.util.Scanner</a:t>
            </a:r>
            <a:r>
              <a:rPr lang="en-US" sz="1500" dirty="0"/>
              <a:t>;</a:t>
            </a:r>
          </a:p>
          <a:p>
            <a:pPr>
              <a:buNone/>
              <a:defRPr/>
            </a:pPr>
            <a:r>
              <a:rPr lang="en-US" sz="1500" dirty="0"/>
              <a:t>Public class </a:t>
            </a:r>
            <a:r>
              <a:rPr lang="en-US" sz="1500" dirty="0" err="1"/>
              <a:t>ReadFile</a:t>
            </a:r>
            <a:r>
              <a:rPr lang="en-US" sz="1500" dirty="0"/>
              <a:t> {</a:t>
            </a:r>
          </a:p>
          <a:p>
            <a:pPr>
              <a:buNone/>
              <a:defRPr/>
            </a:pPr>
            <a:r>
              <a:rPr lang="en-US" sz="1500" dirty="0"/>
              <a:t>Public static void main(String[] </a:t>
            </a:r>
            <a:r>
              <a:rPr lang="en-US" sz="1500" dirty="0" err="1"/>
              <a:t>args</a:t>
            </a:r>
            <a:r>
              <a:rPr lang="en-US" sz="1500" dirty="0"/>
              <a:t>) {</a:t>
            </a:r>
          </a:p>
          <a:p>
            <a:pPr>
              <a:buNone/>
              <a:defRPr/>
            </a:pPr>
            <a:r>
              <a:rPr lang="en-US" sz="1500" dirty="0"/>
              <a:t>	</a:t>
            </a:r>
            <a:r>
              <a:rPr lang="en-US" sz="1500" dirty="0"/>
              <a:t>try{   </a:t>
            </a:r>
            <a:endParaRPr lang="en-US" sz="1500" dirty="0"/>
          </a:p>
          <a:p>
            <a:pPr>
              <a:buNone/>
              <a:defRPr/>
            </a:pPr>
            <a:r>
              <a:rPr lang="en-US" sz="1500" dirty="0"/>
              <a:t>	File </a:t>
            </a:r>
            <a:r>
              <a:rPr lang="en-US" sz="1500" dirty="0" err="1"/>
              <a:t>myfile</a:t>
            </a:r>
            <a:r>
              <a:rPr lang="en-US" sz="1500" dirty="0"/>
              <a:t>=new File(“mytextfiel.txt”);</a:t>
            </a:r>
          </a:p>
          <a:p>
            <a:pPr>
              <a:buNone/>
              <a:defRPr/>
            </a:pPr>
            <a:r>
              <a:rPr lang="en-US" sz="1500" dirty="0"/>
              <a:t>	Scanner scan=new Scanner(</a:t>
            </a:r>
            <a:r>
              <a:rPr lang="en-US" sz="1500" dirty="0" err="1"/>
              <a:t>myfile</a:t>
            </a:r>
            <a:r>
              <a:rPr lang="en-US" sz="1500" dirty="0"/>
              <a:t>);</a:t>
            </a:r>
          </a:p>
          <a:p>
            <a:pPr>
              <a:buNone/>
              <a:defRPr/>
            </a:pPr>
            <a:r>
              <a:rPr lang="en-US" sz="1500" dirty="0"/>
              <a:t>      while(</a:t>
            </a:r>
            <a:r>
              <a:rPr lang="en-US" sz="1500" dirty="0" err="1"/>
              <a:t>scan.hasMoreTokens</a:t>
            </a:r>
            <a:r>
              <a:rPr lang="en-US" sz="1500" dirty="0"/>
              <a:t>()) </a:t>
            </a:r>
            <a:r>
              <a:rPr lang="en-US" sz="1500" dirty="0"/>
              <a:t>{</a:t>
            </a:r>
          </a:p>
          <a:p>
            <a:pPr>
              <a:buNone/>
              <a:defRPr/>
            </a:pPr>
            <a:r>
              <a:rPr lang="en-US" sz="1500" dirty="0"/>
              <a:t> 	     String </a:t>
            </a:r>
            <a:r>
              <a:rPr lang="en-US" sz="1500" dirty="0" err="1"/>
              <a:t>str</a:t>
            </a:r>
            <a:r>
              <a:rPr lang="en-US" sz="1500" dirty="0"/>
              <a:t>=</a:t>
            </a:r>
            <a:r>
              <a:rPr lang="en-US" sz="1500" dirty="0" err="1"/>
              <a:t>scan.next</a:t>
            </a:r>
            <a:r>
              <a:rPr lang="en-US" sz="1500" dirty="0"/>
              <a:t>();</a:t>
            </a:r>
          </a:p>
          <a:p>
            <a:pPr>
              <a:buNone/>
              <a:defRPr/>
            </a:pPr>
            <a:r>
              <a:rPr lang="en-US" sz="1500" dirty="0"/>
              <a:t>	      </a:t>
            </a:r>
            <a:r>
              <a:rPr lang="en-US" sz="1500" dirty="0" err="1"/>
              <a:t>System.out.println</a:t>
            </a:r>
            <a:r>
              <a:rPr lang="en-US" sz="1500" dirty="0"/>
              <a:t>(</a:t>
            </a:r>
            <a:r>
              <a:rPr lang="en-US" sz="1500" dirty="0" err="1"/>
              <a:t>str</a:t>
            </a:r>
            <a:r>
              <a:rPr lang="en-US" sz="1500" dirty="0"/>
              <a:t>);</a:t>
            </a:r>
          </a:p>
          <a:p>
            <a:pPr>
              <a:buNone/>
              <a:defRPr/>
            </a:pPr>
            <a:r>
              <a:rPr lang="en-US" sz="1500" dirty="0"/>
              <a:t>     </a:t>
            </a:r>
            <a:r>
              <a:rPr lang="en-US" sz="1500" dirty="0"/>
              <a:t>}</a:t>
            </a:r>
            <a:endParaRPr lang="en-US" sz="1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13DFCB6-0398-4BE7-B202-EA3A6FF10FA3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14950" y="2226468"/>
            <a:ext cx="3019425" cy="19389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None/>
              <a:defRPr/>
            </a:pPr>
            <a:r>
              <a:rPr lang="en-US" sz="1500" dirty="0"/>
              <a:t>	catch)(</a:t>
            </a:r>
            <a:r>
              <a:rPr lang="en-US" sz="1500" dirty="0" err="1"/>
              <a:t>IOException</a:t>
            </a:r>
            <a:r>
              <a:rPr lang="en-US" sz="1500" dirty="0"/>
              <a:t> </a:t>
            </a:r>
            <a:r>
              <a:rPr lang="en-US" sz="1500" dirty="0" err="1"/>
              <a:t>ioe</a:t>
            </a:r>
            <a:r>
              <a:rPr lang="en-US" sz="1500" dirty="0"/>
              <a:t>){   	</a:t>
            </a:r>
          </a:p>
          <a:p>
            <a:pPr>
              <a:buNone/>
              <a:defRPr/>
            </a:pPr>
            <a:r>
              <a:rPr lang="en-US" sz="1500" dirty="0"/>
              <a:t>		</a:t>
            </a:r>
            <a:r>
              <a:rPr lang="en-US" sz="1500" dirty="0" err="1"/>
              <a:t>System.out.println</a:t>
            </a:r>
            <a:r>
              <a:rPr lang="en-US" sz="1500" dirty="0"/>
              <a:t>(</a:t>
            </a:r>
            <a:r>
              <a:rPr lang="en-US" sz="1500" dirty="0" err="1"/>
              <a:t>ioe.toString</a:t>
            </a:r>
            <a:r>
              <a:rPr lang="en-US" sz="1500" dirty="0"/>
              <a:t>()); }</a:t>
            </a:r>
          </a:p>
          <a:p>
            <a:pPr>
              <a:buNone/>
              <a:defRPr/>
            </a:pPr>
            <a:r>
              <a:rPr lang="en-US" sz="1500" dirty="0"/>
              <a:t>    }</a:t>
            </a:r>
          </a:p>
          <a:p>
            <a:pPr>
              <a:buNone/>
              <a:defRPr/>
            </a:pPr>
            <a:r>
              <a:rPr lang="en-US" sz="1500" dirty="0"/>
              <a:t>}</a:t>
            </a:r>
          </a:p>
          <a:p>
            <a:endParaRPr lang="en-US" sz="1500" dirty="0"/>
          </a:p>
        </p:txBody>
      </p:sp>
      <p:sp>
        <p:nvSpPr>
          <p:cNvPr id="5" name="Line Callout 1 4"/>
          <p:cNvSpPr/>
          <p:nvPr/>
        </p:nvSpPr>
        <p:spPr>
          <a:xfrm>
            <a:off x="5391150" y="4114800"/>
            <a:ext cx="2733675" cy="981075"/>
          </a:xfrm>
          <a:prstGeom prst="borderCallout1">
            <a:avLst>
              <a:gd name="adj1" fmla="val 18750"/>
              <a:gd name="adj2" fmla="val -8333"/>
              <a:gd name="adj3" fmla="val 29976"/>
              <a:gd name="adj4" fmla="val -919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/>
              <a:t>Text files are human readable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/>
              <a:t>Lines of tokens separated by a delimiter (default delimiter: space)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113299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Streams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 smtClean="0"/>
              <a:t>File writing and reading is accomplished with streams.</a:t>
            </a:r>
          </a:p>
          <a:p>
            <a:pPr eaLnBrk="1" hangingPunct="1"/>
            <a:r>
              <a:rPr lang="en-US" altLang="en-US" dirty="0" smtClean="0"/>
              <a:t>There are input and output streams</a:t>
            </a:r>
          </a:p>
          <a:p>
            <a:pPr eaLnBrk="1" hangingPunct="1"/>
            <a:r>
              <a:rPr lang="en-US" altLang="en-US" dirty="0" smtClean="0"/>
              <a:t> The term input means input to your program or consul from a file.</a:t>
            </a:r>
          </a:p>
          <a:p>
            <a:pPr eaLnBrk="1" hangingPunct="1"/>
            <a:r>
              <a:rPr lang="en-US" altLang="en-US" dirty="0" smtClean="0"/>
              <a:t>The term output means from your program or consul to a file .</a:t>
            </a:r>
          </a:p>
          <a:p>
            <a:r>
              <a:rPr lang="en-US" altLang="en-US" dirty="0"/>
              <a:t>Therefore:</a:t>
            </a:r>
          </a:p>
          <a:p>
            <a:pPr lvl="2"/>
            <a:r>
              <a:rPr lang="en-US" altLang="en-US" sz="2100" dirty="0"/>
              <a:t>To read a file input stream is needed.</a:t>
            </a:r>
          </a:p>
          <a:p>
            <a:pPr lvl="2"/>
            <a:r>
              <a:rPr lang="en-US" altLang="en-US" sz="2100" dirty="0"/>
              <a:t>To write to a file output stream is needed</a:t>
            </a:r>
            <a:r>
              <a:rPr lang="en-US" altLang="en-US" sz="2100" dirty="0"/>
              <a:t>.</a:t>
            </a:r>
            <a:endParaRPr lang="en-US" altLang="en-US" dirty="0"/>
          </a:p>
          <a:p>
            <a:r>
              <a:rPr lang="en-US" altLang="en-US" dirty="0"/>
              <a:t>The java.io package provides the classes for establishing input and output streams.</a:t>
            </a:r>
          </a:p>
          <a:p>
            <a:pPr eaLnBrk="1" hangingPunct="1"/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034307-23D8-4E79-BECD-C21EC7AC84B2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22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000"/>
              <a:t>Hierarchy for Input Classes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 smtClean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B578EF-06C6-41BF-941C-CB5CDBBB1DDA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2292" name="Picture 5" descr="InputHierarch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2000250"/>
            <a:ext cx="4800600" cy="3786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3343275" y="3552826"/>
            <a:ext cx="5600700" cy="2345531"/>
            <a:chOff x="4457700" y="3594100"/>
            <a:chExt cx="7467600" cy="3127375"/>
          </a:xfrm>
        </p:grpSpPr>
        <p:sp>
          <p:nvSpPr>
            <p:cNvPr id="2" name="Rectangle 1"/>
            <p:cNvSpPr/>
            <p:nvPr/>
          </p:nvSpPr>
          <p:spPr>
            <a:xfrm>
              <a:off x="4457700" y="3594100"/>
              <a:ext cx="4559300" cy="3127375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271000" y="3810000"/>
              <a:ext cx="265430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Java classes to read files using streams</a:t>
              </a:r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285757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216818"/>
            <a:ext cx="7200900" cy="8001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3000" dirty="0"/>
              <a:t>Selected Input Classes </a:t>
            </a:r>
            <a:r>
              <a:rPr lang="en-US" sz="3000" dirty="0"/>
              <a:t>in the </a:t>
            </a:r>
            <a:r>
              <a:rPr lang="en-US" sz="3000" i="1" dirty="0"/>
              <a:t>java.io</a:t>
            </a:r>
            <a:r>
              <a:rPr lang="en-US" sz="3000" dirty="0"/>
              <a:t> Package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0EAE91-A16D-495D-B189-F5194823DECA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28388" name="Group 36"/>
          <p:cNvGraphicFramePr>
            <a:graphicFrameLocks noGrp="1"/>
          </p:cNvGraphicFramePr>
          <p:nvPr/>
        </p:nvGraphicFramePr>
        <p:xfrm>
          <a:off x="1657350" y="2400301"/>
          <a:ext cx="5886450" cy="2306240"/>
        </p:xfrm>
        <a:graphic>
          <a:graphicData uri="http://schemas.openxmlformats.org/drawingml/2006/table">
            <a:tbl>
              <a:tblPr/>
              <a:tblGrid>
                <a:gridCol w="2114550"/>
                <a:gridCol w="3771900"/>
              </a:tblGrid>
              <a:tr h="342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Class</a:t>
                      </a:r>
                    </a:p>
                  </a:txBody>
                  <a:tcPr marL="68580" marR="68580" marT="34294" marB="342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Description</a:t>
                      </a:r>
                    </a:p>
                  </a:txBody>
                  <a:tcPr marL="68580" marR="68580" marT="34294" marB="342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6172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InputStream</a:t>
                      </a:r>
                    </a:p>
                  </a:txBody>
                  <a:tcPr marL="68580" marR="68580" marT="34294" marB="342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Abstract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superclass representing a stream of raw bytes</a:t>
                      </a:r>
                    </a:p>
                  </a:txBody>
                  <a:tcPr marL="68580" marR="68580" marT="34294" marB="342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2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FileInputStream</a:t>
                      </a:r>
                    </a:p>
                  </a:txBody>
                  <a:tcPr marL="68580" marR="68580" marT="34294" marB="342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Input stream to read raw bytes of data from files</a:t>
                      </a:r>
                    </a:p>
                  </a:txBody>
                  <a:tcPr marL="68580" marR="68580" marT="34294" marB="342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8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ObjectInputStream</a:t>
                      </a:r>
                    </a:p>
                  </a:txBody>
                  <a:tcPr marL="68580" marR="68580" marT="34294" marB="342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Class to </a:t>
                      </a:r>
                      <a:r>
                        <a:rPr kumimoji="0" lang="en-US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read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/recover objects from a file </a:t>
                      </a:r>
                      <a:r>
                        <a:rPr kumimoji="0" lang="en-US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written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using </a:t>
                      </a:r>
                      <a:r>
                        <a:rPr kumimoji="0" lang="en-U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ObjectOutputStream</a:t>
                      </a:r>
                      <a:endParaRPr kumimoji="0" 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cs typeface="Times New Roman" charset="0"/>
                      </a:endParaRPr>
                    </a:p>
                  </a:txBody>
                  <a:tcPr marL="68580" marR="68580" marT="34294" marB="342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18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FileInputStream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26469"/>
            <a:ext cx="7886700" cy="754856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FileInputStream</a:t>
            </a:r>
            <a:r>
              <a:rPr lang="en-US" dirty="0" smtClean="0"/>
              <a:t> Class reads the file byte by byte</a:t>
            </a:r>
          </a:p>
          <a:p>
            <a:pPr lvl="1"/>
            <a:r>
              <a:rPr lang="en-US" dirty="0" smtClean="0"/>
              <a:t>Different from scanner – scanner reads token by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3228975"/>
            <a:ext cx="7581900" cy="279307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Import java.io.*; </a:t>
            </a:r>
          </a:p>
          <a:p>
            <a:r>
              <a:rPr lang="en-US" dirty="0"/>
              <a:t>try </a:t>
            </a:r>
            <a:r>
              <a:rPr lang="en-US" dirty="0"/>
              <a:t>{</a:t>
            </a:r>
          </a:p>
          <a:p>
            <a:r>
              <a:rPr lang="en-US" dirty="0"/>
              <a:t>        </a:t>
            </a:r>
            <a:r>
              <a:rPr lang="en-US" dirty="0"/>
              <a:t>//Reading a file (even text file) as a sequence of </a:t>
            </a:r>
            <a:r>
              <a:rPr lang="en-US" dirty="0"/>
              <a:t>bytes</a:t>
            </a:r>
          </a:p>
          <a:p>
            <a:r>
              <a:rPr lang="en-US" dirty="0"/>
              <a:t>        </a:t>
            </a:r>
            <a:r>
              <a:rPr lang="en-US" dirty="0" err="1"/>
              <a:t>FileInputStream</a:t>
            </a:r>
            <a:r>
              <a:rPr lang="en-US" dirty="0"/>
              <a:t> </a:t>
            </a:r>
            <a:r>
              <a:rPr lang="en-US" dirty="0" err="1"/>
              <a:t>fileInputStream</a:t>
            </a:r>
            <a:r>
              <a:rPr lang="en-US" dirty="0"/>
              <a:t> = new </a:t>
            </a:r>
            <a:r>
              <a:rPr lang="en-US" dirty="0" err="1"/>
              <a:t>FileInputStream</a:t>
            </a:r>
            <a:r>
              <a:rPr lang="en-US" dirty="0"/>
              <a:t>(“input.txt");</a:t>
            </a:r>
            <a:endParaRPr lang="en-US" dirty="0"/>
          </a:p>
          <a:p>
            <a:r>
              <a:rPr lang="en-US" dirty="0"/>
              <a:t>        byte[] </a:t>
            </a:r>
            <a:r>
              <a:rPr lang="en-US" dirty="0" err="1"/>
              <a:t>arr</a:t>
            </a:r>
            <a:r>
              <a:rPr lang="en-US" dirty="0"/>
              <a:t> = new byte[1024];</a:t>
            </a:r>
          </a:p>
          <a:p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actualBytesRead</a:t>
            </a:r>
            <a:r>
              <a:rPr lang="en-US" dirty="0"/>
              <a:t> = </a:t>
            </a:r>
            <a:r>
              <a:rPr lang="en-US" dirty="0" err="1"/>
              <a:t>fileInputStream.read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0, </a:t>
            </a:r>
            <a:r>
              <a:rPr lang="en-US" dirty="0" err="1"/>
              <a:t>arr.length</a:t>
            </a:r>
            <a:r>
              <a:rPr lang="en-US" dirty="0"/>
              <a:t>);</a:t>
            </a:r>
          </a:p>
          <a:p>
            <a:r>
              <a:rPr lang="en-US" dirty="0"/>
              <a:t>}catch(</a:t>
            </a:r>
            <a:r>
              <a:rPr lang="en-US" dirty="0" err="1"/>
              <a:t>IOException</a:t>
            </a:r>
            <a:r>
              <a:rPr lang="en-US" dirty="0"/>
              <a:t> </a:t>
            </a:r>
            <a:r>
              <a:rPr lang="en-US" dirty="0"/>
              <a:t>e){</a:t>
            </a:r>
          </a:p>
          <a:p>
            <a:r>
              <a:rPr lang="en-US" dirty="0"/>
              <a:t>        </a:t>
            </a:r>
            <a:r>
              <a:rPr lang="en-US" dirty="0" err="1"/>
              <a:t>e.printStackTrace</a:t>
            </a:r>
            <a:r>
              <a:rPr lang="en-US" dirty="0"/>
              <a:t>();</a:t>
            </a:r>
            <a:endParaRPr lang="en-US" dirty="0"/>
          </a:p>
          <a:p>
            <a:r>
              <a:rPr lang="en-US" dirty="0"/>
              <a:t>}</a:t>
            </a:r>
          </a:p>
          <a:p>
            <a:endParaRPr lang="en-US" sz="1350" dirty="0"/>
          </a:p>
        </p:txBody>
      </p:sp>
      <p:sp>
        <p:nvSpPr>
          <p:cNvPr id="8" name="Line Callout 1 7"/>
          <p:cNvSpPr/>
          <p:nvPr/>
        </p:nvSpPr>
        <p:spPr>
          <a:xfrm>
            <a:off x="7019925" y="2125266"/>
            <a:ext cx="1971675" cy="665559"/>
          </a:xfrm>
          <a:prstGeom prst="borderCallout1">
            <a:avLst>
              <a:gd name="adj1" fmla="val 18750"/>
              <a:gd name="adj2" fmla="val -8333"/>
              <a:gd name="adj3" fmla="val 335756"/>
              <a:gd name="adj4" fmla="val -1136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Use the read() method to read a fixed number of bytes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08939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BufferedReader</a:t>
            </a:r>
            <a:r>
              <a:rPr lang="en-US" dirty="0"/>
              <a:t> </a:t>
            </a:r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26469"/>
            <a:ext cx="7886700" cy="3650456"/>
          </a:xfrm>
        </p:spPr>
        <p:txBody>
          <a:bodyPr>
            <a:normAutofit/>
          </a:bodyPr>
          <a:lstStyle/>
          <a:p>
            <a:r>
              <a:rPr lang="en-US" dirty="0" err="1" smtClean="0"/>
              <a:t>FileInputStream</a:t>
            </a:r>
            <a:r>
              <a:rPr lang="en-US" dirty="0" smtClean="0"/>
              <a:t> when used with other Stream classes can be very powerful</a:t>
            </a:r>
          </a:p>
          <a:p>
            <a:r>
              <a:rPr lang="en-US" dirty="0" smtClean="0"/>
              <a:t>Example: using </a:t>
            </a:r>
            <a:r>
              <a:rPr lang="en-US" dirty="0" err="1" smtClean="0"/>
              <a:t>BufferedReader</a:t>
            </a:r>
            <a:r>
              <a:rPr lang="en-US" dirty="0" smtClean="0"/>
              <a:t> Class with the </a:t>
            </a:r>
            <a:r>
              <a:rPr lang="en-US" dirty="0" err="1" smtClean="0"/>
              <a:t>FileInputStream</a:t>
            </a:r>
            <a:r>
              <a:rPr lang="en-US" dirty="0" smtClean="0"/>
              <a:t> class</a:t>
            </a:r>
          </a:p>
          <a:p>
            <a:pPr lvl="1"/>
            <a:r>
              <a:rPr lang="en-US" dirty="0" smtClean="0"/>
              <a:t>Read from </a:t>
            </a:r>
            <a:r>
              <a:rPr lang="en-US" dirty="0"/>
              <a:t>character-input </a:t>
            </a:r>
            <a:r>
              <a:rPr lang="en-US" dirty="0" smtClean="0"/>
              <a:t>stream</a:t>
            </a:r>
          </a:p>
          <a:p>
            <a:pPr lvl="1"/>
            <a:r>
              <a:rPr lang="en-US" dirty="0" smtClean="0"/>
              <a:t>Converts the input produced by </a:t>
            </a:r>
            <a:r>
              <a:rPr lang="en-US" dirty="0" err="1" smtClean="0"/>
              <a:t>FileInputStream</a:t>
            </a:r>
            <a:r>
              <a:rPr lang="en-US" dirty="0" smtClean="0"/>
              <a:t> class to human readable form</a:t>
            </a:r>
          </a:p>
          <a:p>
            <a:pPr lvl="1"/>
            <a:r>
              <a:rPr lang="en-US" dirty="0" smtClean="0"/>
              <a:t>“Buffers” a sequence of characters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97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using Streams </a:t>
            </a:r>
            <a:r>
              <a:rPr lang="en-US" dirty="0" smtClean="0"/>
              <a:t>(</a:t>
            </a:r>
            <a:r>
              <a:rPr lang="en-US" altLang="en-US" dirty="0" smtClean="0"/>
              <a:t>Example: Reading one character at a time)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361950" y="2226469"/>
            <a:ext cx="8153400" cy="36718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try{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     </a:t>
            </a:r>
            <a:r>
              <a:rPr lang="en-US" altLang="en-US" sz="1800" dirty="0"/>
              <a:t>   </a:t>
            </a:r>
            <a:r>
              <a:rPr lang="en-US" altLang="en-US" sz="1800" dirty="0" err="1"/>
              <a:t>FileInputStream</a:t>
            </a:r>
            <a:r>
              <a:rPr lang="en-US" altLang="en-US" sz="1800" dirty="0"/>
              <a:t> file=new </a:t>
            </a:r>
            <a:r>
              <a:rPr lang="en-US" altLang="en-US" sz="1800" dirty="0" err="1"/>
              <a:t>FileInputStream</a:t>
            </a:r>
            <a:r>
              <a:rPr lang="en-US" altLang="en-US" sz="1800" dirty="0"/>
              <a:t>(“input.txt</a:t>
            </a:r>
            <a:r>
              <a:rPr lang="en-US" altLang="en-US" sz="1800" dirty="0"/>
              <a:t>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        </a:t>
            </a:r>
            <a:r>
              <a:rPr lang="en-US" altLang="en-US" sz="1800" dirty="0" err="1"/>
              <a:t>BufferedReader</a:t>
            </a:r>
            <a:r>
              <a:rPr lang="en-US" altLang="en-US" sz="1800" dirty="0"/>
              <a:t> </a:t>
            </a:r>
            <a:r>
              <a:rPr lang="en-US" altLang="en-US" sz="1800" dirty="0" err="1"/>
              <a:t>filereader</a:t>
            </a:r>
            <a:r>
              <a:rPr lang="en-US" altLang="en-US" sz="1800" dirty="0"/>
              <a:t>=new </a:t>
            </a:r>
            <a:r>
              <a:rPr lang="en-US" altLang="en-US" sz="1800" dirty="0" err="1"/>
              <a:t>BufferedReader</a:t>
            </a:r>
            <a:r>
              <a:rPr lang="en-US" altLang="en-US" sz="1800" dirty="0"/>
              <a:t>(new  </a:t>
            </a:r>
            <a:r>
              <a:rPr lang="en-US" altLang="en-US" sz="1800" dirty="0" err="1"/>
              <a:t>InputStreamReader</a:t>
            </a:r>
            <a:r>
              <a:rPr lang="en-US" altLang="en-US" sz="1800" dirty="0"/>
              <a:t>(file</a:t>
            </a:r>
            <a:r>
              <a:rPr lang="en-US" altLang="en-US" sz="1800" dirty="0"/>
              <a:t>)); 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 </a:t>
            </a:r>
            <a:r>
              <a:rPr lang="en-US" altLang="en-US" sz="1800" dirty="0"/>
              <a:t>    </a:t>
            </a:r>
            <a:r>
              <a:rPr lang="en-US" altLang="en-US" sz="1800" dirty="0" err="1"/>
              <a:t>int</a:t>
            </a:r>
            <a:r>
              <a:rPr lang="en-US" altLang="en-US" sz="1800" dirty="0"/>
              <a:t>  </a:t>
            </a:r>
            <a:r>
              <a:rPr lang="en-US" altLang="en-US" sz="1800" dirty="0"/>
              <a:t>index=0</a:t>
            </a:r>
            <a:r>
              <a:rPr lang="en-US" altLang="en-US" sz="1800" dirty="0"/>
              <a:t>;</a:t>
            </a:r>
            <a:endParaRPr lang="en-US" altLang="en-US" sz="1800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     </a:t>
            </a:r>
            <a:r>
              <a:rPr lang="en-US" altLang="en-US" sz="1800" dirty="0" err="1"/>
              <a:t>int</a:t>
            </a:r>
            <a:r>
              <a:rPr lang="en-US" altLang="en-US" sz="1800" dirty="0"/>
              <a:t> </a:t>
            </a:r>
            <a:r>
              <a:rPr lang="en-US" altLang="en-US" sz="1800" dirty="0"/>
              <a:t>count=0;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</a:t>
            </a:r>
            <a:r>
              <a:rPr lang="en-US" altLang="en-US" sz="1800" dirty="0"/>
              <a:t>     while(index</a:t>
            </a:r>
            <a:r>
              <a:rPr lang="en-US" altLang="en-US" sz="1800" dirty="0"/>
              <a:t>&gt;=0)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</a:t>
            </a:r>
            <a:r>
              <a:rPr lang="en-US" altLang="en-US" sz="1800" dirty="0"/>
              <a:t> 	count++; //count the no. of characters in the file</a:t>
            </a:r>
            <a:endParaRPr lang="en-US" altLang="en-US" sz="1800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</a:t>
            </a:r>
            <a:r>
              <a:rPr lang="en-US" altLang="en-US" sz="1800" dirty="0"/>
              <a:t>	index=</a:t>
            </a:r>
            <a:r>
              <a:rPr lang="en-US" altLang="en-US" sz="1800" dirty="0" err="1"/>
              <a:t>filereader.read</a:t>
            </a:r>
            <a:r>
              <a:rPr lang="en-US" altLang="en-US" sz="1800" dirty="0"/>
              <a:t>();</a:t>
            </a:r>
            <a:r>
              <a:rPr lang="en-US" altLang="en-US" sz="1800" dirty="0"/>
              <a:t>		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 </a:t>
            </a:r>
            <a:r>
              <a:rPr lang="en-US" altLang="en-US" sz="1800" dirty="0"/>
              <a:t>    }</a:t>
            </a:r>
            <a:endParaRPr lang="en-US" altLang="en-US" sz="1800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 </a:t>
            </a:r>
            <a:r>
              <a:rPr lang="en-US" altLang="en-US" sz="1800" dirty="0" err="1"/>
              <a:t>filereader.close</a:t>
            </a:r>
            <a:r>
              <a:rPr lang="en-US" altLang="en-US" sz="1800" dirty="0"/>
              <a:t>();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</a:t>
            </a:r>
            <a:r>
              <a:rPr lang="en-US" altLang="en-US" sz="1800" dirty="0"/>
              <a:t> </a:t>
            </a:r>
            <a:r>
              <a:rPr lang="en-US" altLang="en-US" sz="1800" dirty="0" err="1"/>
              <a:t>file.close</a:t>
            </a:r>
            <a:r>
              <a:rPr lang="en-US" altLang="en-US" sz="1800" dirty="0"/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}//   </a:t>
            </a:r>
            <a:r>
              <a:rPr lang="en-US" altLang="en-US" sz="1800" dirty="0"/>
              <a:t>end of </a:t>
            </a:r>
            <a:r>
              <a:rPr lang="en-US" altLang="en-US" sz="1800" dirty="0"/>
              <a:t>try; use a catch block with the </a:t>
            </a:r>
            <a:r>
              <a:rPr lang="en-US" altLang="en-US" sz="1800" dirty="0" err="1"/>
              <a:t>IOException</a:t>
            </a:r>
            <a:r>
              <a:rPr lang="en-US" altLang="en-US" sz="1800" dirty="0"/>
              <a:t> class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200" dirty="0"/>
              <a:t>		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948A427-7A9D-4068-86A4-E57A7FF76E61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Line Callout 1 2"/>
          <p:cNvSpPr/>
          <p:nvPr/>
        </p:nvSpPr>
        <p:spPr>
          <a:xfrm>
            <a:off x="6457950" y="3448050"/>
            <a:ext cx="2171700" cy="971550"/>
          </a:xfrm>
          <a:prstGeom prst="borderCallout1">
            <a:avLst>
              <a:gd name="adj1" fmla="val 18750"/>
              <a:gd name="adj2" fmla="val -8333"/>
              <a:gd name="adj3" fmla="val -34559"/>
              <a:gd name="adj4" fmla="val -804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Use </a:t>
            </a:r>
            <a:r>
              <a:rPr lang="en-US" sz="1350" dirty="0" err="1"/>
              <a:t>BufferefReader</a:t>
            </a:r>
            <a:r>
              <a:rPr lang="en-US" sz="1350" dirty="0"/>
              <a:t> with the </a:t>
            </a:r>
            <a:r>
              <a:rPr lang="en-US" sz="1350" dirty="0" err="1"/>
              <a:t>FileInputStream</a:t>
            </a:r>
            <a:r>
              <a:rPr lang="en-US" sz="1350" dirty="0"/>
              <a:t> class</a:t>
            </a:r>
            <a:endParaRPr lang="en-US" sz="1350" dirty="0"/>
          </a:p>
        </p:txBody>
      </p:sp>
      <p:sp>
        <p:nvSpPr>
          <p:cNvPr id="5" name="Line Callout 1 4"/>
          <p:cNvSpPr/>
          <p:nvPr/>
        </p:nvSpPr>
        <p:spPr>
          <a:xfrm>
            <a:off x="6238875" y="4676775"/>
            <a:ext cx="2276475" cy="964407"/>
          </a:xfrm>
          <a:prstGeom prst="borderCallout1">
            <a:avLst>
              <a:gd name="adj1" fmla="val 18750"/>
              <a:gd name="adj2" fmla="val -8333"/>
              <a:gd name="adj3" fmla="val -24953"/>
              <a:gd name="adj4" fmla="val -1364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/>
              <a:t>Use the read() method to read one character at a time. Check out the API for other methods in this class.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436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using Streams </a:t>
            </a:r>
            <a:r>
              <a:rPr lang="en-US" dirty="0" smtClean="0"/>
              <a:t>(</a:t>
            </a:r>
            <a:r>
              <a:rPr lang="en-US" altLang="en-US" dirty="0" smtClean="0"/>
              <a:t>Example: Reading one character at a time)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361950" y="2226469"/>
            <a:ext cx="8153400" cy="36718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try{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     </a:t>
            </a:r>
            <a:r>
              <a:rPr lang="en-US" altLang="en-US" sz="1800" dirty="0"/>
              <a:t>   </a:t>
            </a:r>
            <a:r>
              <a:rPr lang="en-US" altLang="en-US" sz="1800" dirty="0" err="1"/>
              <a:t>FileInputStream</a:t>
            </a:r>
            <a:r>
              <a:rPr lang="en-US" altLang="en-US" sz="1800" dirty="0"/>
              <a:t> file=new </a:t>
            </a:r>
            <a:r>
              <a:rPr lang="en-US" altLang="en-US" sz="1800" dirty="0" err="1"/>
              <a:t>FileInputStream</a:t>
            </a:r>
            <a:r>
              <a:rPr lang="en-US" altLang="en-US" sz="1800" dirty="0"/>
              <a:t>(“input.txt</a:t>
            </a:r>
            <a:r>
              <a:rPr lang="en-US" altLang="en-US" sz="1800" dirty="0"/>
              <a:t>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        </a:t>
            </a:r>
            <a:r>
              <a:rPr lang="en-US" altLang="en-US" sz="1800" dirty="0" err="1"/>
              <a:t>BufferedReader</a:t>
            </a:r>
            <a:r>
              <a:rPr lang="en-US" altLang="en-US" sz="1800" dirty="0"/>
              <a:t> </a:t>
            </a:r>
            <a:r>
              <a:rPr lang="en-US" altLang="en-US" sz="1800" dirty="0" err="1"/>
              <a:t>filereader</a:t>
            </a:r>
            <a:r>
              <a:rPr lang="en-US" altLang="en-US" sz="1800" dirty="0"/>
              <a:t>=new </a:t>
            </a:r>
            <a:r>
              <a:rPr lang="en-US" altLang="en-US" sz="1800" dirty="0" err="1"/>
              <a:t>BufferedReader</a:t>
            </a:r>
            <a:r>
              <a:rPr lang="en-US" altLang="en-US" sz="1800" dirty="0"/>
              <a:t>(new  </a:t>
            </a:r>
            <a:r>
              <a:rPr lang="en-US" altLang="en-US" sz="1800" dirty="0" err="1"/>
              <a:t>InputStreamReader</a:t>
            </a:r>
            <a:r>
              <a:rPr lang="en-US" altLang="en-US" sz="1800" dirty="0"/>
              <a:t>(file</a:t>
            </a:r>
            <a:r>
              <a:rPr lang="en-US" altLang="en-US" sz="1800" dirty="0"/>
              <a:t>)); 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 </a:t>
            </a:r>
            <a:r>
              <a:rPr lang="en-US" altLang="en-US" sz="1800" dirty="0"/>
              <a:t>    </a:t>
            </a:r>
            <a:r>
              <a:rPr lang="en-US" altLang="en-US" sz="1800" dirty="0" err="1"/>
              <a:t>int</a:t>
            </a:r>
            <a:r>
              <a:rPr lang="en-US" altLang="en-US" sz="1800" dirty="0"/>
              <a:t>  </a:t>
            </a:r>
            <a:r>
              <a:rPr lang="en-US" altLang="en-US" sz="1800" dirty="0"/>
              <a:t>index=0</a:t>
            </a:r>
            <a:r>
              <a:rPr lang="en-US" altLang="en-US" sz="1800" dirty="0"/>
              <a:t>;</a:t>
            </a:r>
            <a:endParaRPr lang="en-US" altLang="en-US" sz="1800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     </a:t>
            </a:r>
            <a:r>
              <a:rPr lang="en-US" altLang="en-US" sz="1800" dirty="0" err="1"/>
              <a:t>int</a:t>
            </a:r>
            <a:r>
              <a:rPr lang="en-US" altLang="en-US" sz="1800" dirty="0"/>
              <a:t> </a:t>
            </a:r>
            <a:r>
              <a:rPr lang="en-US" altLang="en-US" sz="1800" dirty="0"/>
              <a:t>count=0;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</a:t>
            </a:r>
            <a:r>
              <a:rPr lang="en-US" altLang="en-US" sz="1800" dirty="0"/>
              <a:t>     while(index</a:t>
            </a:r>
            <a:r>
              <a:rPr lang="en-US" altLang="en-US" sz="1800" dirty="0"/>
              <a:t>&gt;=0)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</a:t>
            </a:r>
            <a:r>
              <a:rPr lang="en-US" altLang="en-US" sz="1800" dirty="0"/>
              <a:t> 	count++; //count the no. of characters in the file</a:t>
            </a:r>
            <a:endParaRPr lang="en-US" altLang="en-US" sz="1800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</a:t>
            </a:r>
            <a:r>
              <a:rPr lang="en-US" altLang="en-US" sz="1800" dirty="0"/>
              <a:t>	index=</a:t>
            </a:r>
            <a:r>
              <a:rPr lang="en-US" altLang="en-US" sz="1800" dirty="0" err="1"/>
              <a:t>filereader.read</a:t>
            </a:r>
            <a:r>
              <a:rPr lang="en-US" altLang="en-US" sz="1800" dirty="0"/>
              <a:t>();</a:t>
            </a:r>
            <a:r>
              <a:rPr lang="en-US" altLang="en-US" sz="1800" dirty="0"/>
              <a:t>		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 </a:t>
            </a:r>
            <a:r>
              <a:rPr lang="en-US" altLang="en-US" sz="1800" dirty="0"/>
              <a:t>    }</a:t>
            </a:r>
            <a:endParaRPr lang="en-US" altLang="en-US" sz="1800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 </a:t>
            </a:r>
            <a:r>
              <a:rPr lang="en-US" altLang="en-US" sz="1800" dirty="0" err="1"/>
              <a:t>filereader.close</a:t>
            </a:r>
            <a:r>
              <a:rPr lang="en-US" altLang="en-US" sz="1800" dirty="0"/>
              <a:t>();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	</a:t>
            </a:r>
            <a:r>
              <a:rPr lang="en-US" altLang="en-US" sz="1800" dirty="0"/>
              <a:t> </a:t>
            </a:r>
            <a:r>
              <a:rPr lang="en-US" altLang="en-US" sz="1800" dirty="0" err="1"/>
              <a:t>file.close</a:t>
            </a:r>
            <a:r>
              <a:rPr lang="en-US" altLang="en-US" sz="1800" dirty="0"/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}//   </a:t>
            </a:r>
            <a:r>
              <a:rPr lang="en-US" altLang="en-US" sz="1800" dirty="0"/>
              <a:t>end of </a:t>
            </a:r>
            <a:r>
              <a:rPr lang="en-US" altLang="en-US" sz="1800" dirty="0"/>
              <a:t>try; use a catch block with the </a:t>
            </a:r>
            <a:r>
              <a:rPr lang="en-US" altLang="en-US" sz="1800" dirty="0" err="1"/>
              <a:t>IOException</a:t>
            </a:r>
            <a:r>
              <a:rPr lang="en-US" altLang="en-US" sz="1800" dirty="0"/>
              <a:t> class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200" dirty="0"/>
              <a:t>		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948A427-7A9D-4068-86A4-E57A7FF76E61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Line Callout 1 2"/>
          <p:cNvSpPr/>
          <p:nvPr/>
        </p:nvSpPr>
        <p:spPr>
          <a:xfrm>
            <a:off x="6457950" y="3448050"/>
            <a:ext cx="2171700" cy="971550"/>
          </a:xfrm>
          <a:prstGeom prst="borderCallout1">
            <a:avLst>
              <a:gd name="adj1" fmla="val 18750"/>
              <a:gd name="adj2" fmla="val -8333"/>
              <a:gd name="adj3" fmla="val -34559"/>
              <a:gd name="adj4" fmla="val -804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Use </a:t>
            </a:r>
            <a:r>
              <a:rPr lang="en-US" sz="1350" dirty="0" err="1"/>
              <a:t>BufferefReader</a:t>
            </a:r>
            <a:r>
              <a:rPr lang="en-US" sz="1350" dirty="0"/>
              <a:t> with the </a:t>
            </a:r>
            <a:r>
              <a:rPr lang="en-US" sz="1350" dirty="0" err="1"/>
              <a:t>FileInputStream</a:t>
            </a:r>
            <a:r>
              <a:rPr lang="en-US" sz="1350" dirty="0"/>
              <a:t> class</a:t>
            </a:r>
            <a:endParaRPr lang="en-US" sz="1350" dirty="0"/>
          </a:p>
        </p:txBody>
      </p:sp>
      <p:sp>
        <p:nvSpPr>
          <p:cNvPr id="5" name="Line Callout 1 4"/>
          <p:cNvSpPr/>
          <p:nvPr/>
        </p:nvSpPr>
        <p:spPr>
          <a:xfrm>
            <a:off x="6238875" y="4676775"/>
            <a:ext cx="2276475" cy="964407"/>
          </a:xfrm>
          <a:prstGeom prst="borderCallout1">
            <a:avLst>
              <a:gd name="adj1" fmla="val 18750"/>
              <a:gd name="adj2" fmla="val -8333"/>
              <a:gd name="adj3" fmla="val -24953"/>
              <a:gd name="adj4" fmla="val -1364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/>
              <a:t>Use the read() method to read one character at a time. Check out the API for other methods in this class.</a:t>
            </a:r>
            <a:endParaRPr lang="en-US" sz="1350" dirty="0"/>
          </a:p>
        </p:txBody>
      </p:sp>
      <p:sp>
        <p:nvSpPr>
          <p:cNvPr id="2" name="Line Callout 1 1"/>
          <p:cNvSpPr/>
          <p:nvPr/>
        </p:nvSpPr>
        <p:spPr>
          <a:xfrm>
            <a:off x="6800850" y="1685925"/>
            <a:ext cx="1981200" cy="838200"/>
          </a:xfrm>
          <a:prstGeom prst="borderCallout1">
            <a:avLst>
              <a:gd name="adj1" fmla="val 18750"/>
              <a:gd name="adj2" fmla="val -8333"/>
              <a:gd name="adj3" fmla="val 144318"/>
              <a:gd name="adj4" fmla="val -395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/>
              <a:t>To convert input stream to character stream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36016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Reading Text File 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95275" y="1885950"/>
            <a:ext cx="7362825" cy="38862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1500" dirty="0"/>
              <a:t>In this example a buffer stream was used.</a:t>
            </a:r>
          </a:p>
          <a:p>
            <a:pPr eaLnBrk="1" hangingPunct="1"/>
            <a:r>
              <a:rPr lang="en-US" altLang="en-US" sz="1500" b="1" dirty="0"/>
              <a:t>The buffer stream wraps the File Stream.</a:t>
            </a:r>
          </a:p>
          <a:p>
            <a:pPr eaLnBrk="1" hangingPunct="1"/>
            <a:r>
              <a:rPr lang="en-US" altLang="en-US" sz="1500" dirty="0"/>
              <a:t>The while loop and when we encounter -1, since this is the indicator that the end of a file has been reached (-1 is added to the end of the file when we create the file).</a:t>
            </a:r>
          </a:p>
          <a:p>
            <a:pPr eaLnBrk="1" hangingPunct="1"/>
            <a:r>
              <a:rPr lang="en-US" altLang="en-US" sz="1500" dirty="0"/>
              <a:t>Calling the read method of </a:t>
            </a:r>
            <a:r>
              <a:rPr lang="en-US" altLang="en-US" sz="1500" dirty="0" err="1"/>
              <a:t>InputStreamReader</a:t>
            </a:r>
            <a:r>
              <a:rPr lang="en-US" altLang="en-US" sz="1500" dirty="0"/>
              <a:t> class returns an </a:t>
            </a:r>
            <a:r>
              <a:rPr lang="en-US" altLang="en-US" sz="1500" dirty="0" err="1"/>
              <a:t>int</a:t>
            </a:r>
            <a:r>
              <a:rPr lang="en-US" altLang="en-US" sz="1500" dirty="0"/>
              <a:t> .If the end of the file is reached the value of the </a:t>
            </a:r>
            <a:r>
              <a:rPr lang="en-US" altLang="en-US" sz="1500" dirty="0" err="1"/>
              <a:t>int</a:t>
            </a:r>
            <a:r>
              <a:rPr lang="en-US" altLang="en-US" sz="1500" dirty="0"/>
              <a:t> is -1. </a:t>
            </a:r>
            <a:r>
              <a:rPr lang="en-US" altLang="en-US" sz="1500" b="1" dirty="0"/>
              <a:t>The method reads one character at a time.</a:t>
            </a:r>
          </a:p>
          <a:p>
            <a:pPr eaLnBrk="1" hangingPunct="1"/>
            <a:r>
              <a:rPr lang="en-US" altLang="en-US" sz="1500" dirty="0"/>
              <a:t>In this example we are not saving what we read. The count counts the number of readings made in order to possibly create an array.</a:t>
            </a:r>
          </a:p>
          <a:p>
            <a:pPr eaLnBrk="1" hangingPunct="1"/>
            <a:r>
              <a:rPr lang="en-US" altLang="en-US" sz="1500" dirty="0"/>
              <a:t>We can repeat the loop once we have created an array and this time save the readings into the array by using a different format of the read method: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500" b="1" dirty="0"/>
              <a:t>      </a:t>
            </a:r>
            <a:r>
              <a:rPr lang="en-US" altLang="en-US" sz="1500" b="1" dirty="0" err="1"/>
              <a:t>int</a:t>
            </a:r>
            <a:r>
              <a:rPr lang="en-US" altLang="en-US" sz="1500" b="1" dirty="0"/>
              <a:t> index=</a:t>
            </a:r>
            <a:r>
              <a:rPr lang="en-US" altLang="en-US" sz="1500" b="1" dirty="0" err="1"/>
              <a:t>filereader.read</a:t>
            </a:r>
            <a:r>
              <a:rPr lang="en-US" altLang="en-US" sz="1500" b="1" dirty="0"/>
              <a:t>(</a:t>
            </a:r>
            <a:r>
              <a:rPr lang="en-US" altLang="en-US" sz="1500" b="1" dirty="0" err="1"/>
              <a:t>myarray</a:t>
            </a:r>
            <a:r>
              <a:rPr lang="en-US" altLang="en-US" sz="1500" b="1" dirty="0"/>
              <a:t>, 0, count-1);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500" b="1" dirty="0"/>
              <a:t>     this call places the readings into the array, where array is an array </a:t>
            </a:r>
            <a:r>
              <a:rPr lang="en-US" altLang="en-US" sz="1500" b="1" u="sng" dirty="0"/>
              <a:t>of char data types (from 0</a:t>
            </a:r>
            <a:r>
              <a:rPr lang="en-US" altLang="en-US" sz="1500" b="1" u="sng" baseline="30000" dirty="0"/>
              <a:t>th</a:t>
            </a:r>
            <a:r>
              <a:rPr lang="en-US" altLang="en-US" sz="1500" b="1" u="sng" dirty="0"/>
              <a:t> index to the last index).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500" dirty="0"/>
              <a:t>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4438E6-B04A-478C-8467-D6FC248D81FD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44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Reading Text File 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570411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1800" dirty="0"/>
              <a:t>The char array </a:t>
            </a:r>
            <a:r>
              <a:rPr lang="en-US" altLang="en-US" sz="1800" dirty="0" err="1"/>
              <a:t>myarray</a:t>
            </a:r>
            <a:r>
              <a:rPr lang="en-US" altLang="en-US" sz="1800" dirty="0"/>
              <a:t>, needs to be instantiated to the correct size before it is used in a while loop to capture the characters read. Therefore we need to loop twice through the file. </a:t>
            </a:r>
          </a:p>
          <a:p>
            <a:pPr lvl="1" eaLnBrk="1" hangingPunct="1"/>
            <a:r>
              <a:rPr lang="en-US" altLang="en-US" dirty="0"/>
              <a:t>The first  time to capture the count of </a:t>
            </a:r>
            <a:r>
              <a:rPr lang="en-US" altLang="en-US" dirty="0" smtClean="0"/>
              <a:t>characters. </a:t>
            </a:r>
            <a:r>
              <a:rPr lang="en-US" altLang="en-US" dirty="0"/>
              <a:t>We use the value of count to set the size of the char array. </a:t>
            </a:r>
            <a:r>
              <a:rPr lang="en-US" altLang="en-US" u="sng" dirty="0"/>
              <a:t>Close the stream objects used</a:t>
            </a:r>
            <a:r>
              <a:rPr lang="en-US" altLang="en-US" dirty="0" smtClean="0"/>
              <a:t>!!! 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The second time we create a new set of stream objects and we loop again through the file , this time using the read method that </a:t>
            </a:r>
            <a:r>
              <a:rPr lang="en-US" altLang="en-US" dirty="0" smtClean="0"/>
              <a:t>takes </a:t>
            </a:r>
            <a:r>
              <a:rPr lang="en-US" altLang="en-US" dirty="0"/>
              <a:t>the char array as </a:t>
            </a:r>
            <a:r>
              <a:rPr lang="en-US" altLang="en-US" dirty="0" smtClean="0"/>
              <a:t>argument.</a:t>
            </a:r>
            <a:endParaRPr lang="en-US" altLang="en-US" dirty="0"/>
          </a:p>
          <a:p>
            <a:pPr eaLnBrk="1" hangingPunct="1"/>
            <a:r>
              <a:rPr lang="en-US" altLang="en-US" sz="1800" dirty="0"/>
              <a:t>Keep in mind that an array of char types (</a:t>
            </a:r>
            <a:r>
              <a:rPr lang="en-US" altLang="en-US" sz="1800" dirty="0" err="1"/>
              <a:t>myarray</a:t>
            </a:r>
            <a:r>
              <a:rPr lang="en-US" altLang="en-US" sz="1800" dirty="0"/>
              <a:t>) can be converted to a String by using</a:t>
            </a:r>
            <a:r>
              <a:rPr lang="en-US" altLang="en-US" sz="1800" dirty="0"/>
              <a:t>:  String </a:t>
            </a:r>
            <a:r>
              <a:rPr lang="en-US" altLang="en-US" sz="1800" dirty="0" err="1"/>
              <a:t>str</a:t>
            </a:r>
            <a:r>
              <a:rPr lang="en-US" altLang="en-US" sz="1800" dirty="0"/>
              <a:t>=new String(</a:t>
            </a:r>
            <a:r>
              <a:rPr lang="en-US" altLang="en-US" sz="1800" dirty="0" err="1"/>
              <a:t>myarray</a:t>
            </a:r>
            <a:r>
              <a:rPr lang="en-US" altLang="en-US" sz="1800" dirty="0"/>
              <a:t>);</a:t>
            </a:r>
            <a:endParaRPr lang="en-US" alt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5CE5514-8B28-46B9-B43F-D3E800A5A7F1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1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8124" y="390524"/>
            <a:ext cx="8588376" cy="447675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dirty="0"/>
              <a:t>Opening and Closing an Input Stream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31900"/>
            <a:ext cx="7210425" cy="4483100"/>
          </a:xfrm>
        </p:spPr>
        <p:txBody>
          <a:bodyPr/>
          <a:lstStyle/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When we construct an input stream or output stream object, the JVM associates the file name, standard input stream, or standard output stream with our object. This is </a:t>
            </a:r>
            <a:r>
              <a:rPr lang="en-US" altLang="en-US" sz="1800" dirty="0">
                <a:solidFill>
                  <a:schemeClr val="tx2"/>
                </a:solidFill>
                <a:cs typeface="Times New Roman" panose="02020603050405020304" pitchFamily="18" charset="0"/>
              </a:rPr>
              <a:t>opening the file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  <a:r>
              <a:rPr lang="en-US" altLang="en-US" sz="1800" b="1" dirty="0">
                <a:cs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When we are finished with a file, we optionally call the </a:t>
            </a:r>
            <a:r>
              <a:rPr lang="en-US" altLang="en-US" sz="1800" i="1" dirty="0">
                <a:cs typeface="Times New Roman" panose="02020603050405020304" pitchFamily="18" charset="0"/>
              </a:rPr>
              <a:t>close</a:t>
            </a:r>
            <a:r>
              <a:rPr lang="en-US" altLang="en-US" sz="1800" dirty="0">
                <a:cs typeface="Times New Roman" panose="02020603050405020304" pitchFamily="18" charset="0"/>
              </a:rPr>
              <a:t> method to release the resources associated with the file. </a:t>
            </a:r>
          </a:p>
          <a:p>
            <a:pPr eaLnBrk="1" hangingPunct="1">
              <a:buFontTx/>
              <a:buNone/>
            </a:pPr>
            <a:endParaRPr lang="en-US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233499" name="Group 2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59814229"/>
              </p:ext>
            </p:extLst>
          </p:nvPr>
        </p:nvGraphicFramePr>
        <p:xfrm>
          <a:off x="1301750" y="3270250"/>
          <a:ext cx="5543551" cy="1748110"/>
        </p:xfrm>
        <a:graphic>
          <a:graphicData uri="http://schemas.openxmlformats.org/drawingml/2006/table">
            <a:tbl>
              <a:tblPr/>
              <a:tblGrid>
                <a:gridCol w="1358504"/>
                <a:gridCol w="4185047"/>
              </a:tblGrid>
              <a:tr h="8474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Return value</a:t>
                      </a:r>
                    </a:p>
                  </a:txBody>
                  <a:tcPr marL="68580" marR="68580" marT="34279" marB="342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Method name and argument list</a:t>
                      </a:r>
                    </a:p>
                  </a:txBody>
                  <a:tcPr marL="68580" marR="68580" marT="34279" marB="342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9006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 </a:t>
                      </a:r>
                    </a:p>
                  </a:txBody>
                  <a:tcPr marL="68580" marR="68580" marT="34279" marB="342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close(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Courier New" pitchFamily="49" charset="0"/>
                        </a:rPr>
                        <a:t>releases resources associated with an open input stream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. Throws an </a:t>
                      </a:r>
                      <a:r>
                        <a:rPr kumimoji="0" lang="en-U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IOException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.</a:t>
                      </a:r>
                    </a:p>
                  </a:txBody>
                  <a:tcPr marL="68580" marR="68580" marT="34279" marB="342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64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Reading Structured Text Files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Some text files are organized into lines that represent a </a:t>
            </a:r>
            <a:r>
              <a:rPr lang="en-US" dirty="0" smtClean="0">
                <a:solidFill>
                  <a:schemeClr val="tx2"/>
                </a:solidFill>
              </a:rPr>
              <a:t>record</a:t>
            </a:r>
            <a:r>
              <a:rPr lang="en-US" b="1" dirty="0" smtClean="0"/>
              <a:t> --</a:t>
            </a:r>
            <a:r>
              <a:rPr lang="en-US" dirty="0" smtClean="0"/>
              <a:t> a set of data values containing information about an item.</a:t>
            </a:r>
          </a:p>
          <a:p>
            <a:pPr>
              <a:defRPr/>
            </a:pPr>
            <a:r>
              <a:rPr lang="en-US" dirty="0" smtClean="0">
                <a:cs typeface="Times New Roman" charset="0"/>
              </a:rPr>
              <a:t>The data values are separated by one or more </a:t>
            </a:r>
            <a:r>
              <a:rPr lang="en-US" dirty="0" smtClean="0">
                <a:solidFill>
                  <a:schemeClr val="tx2"/>
                </a:solidFill>
                <a:cs typeface="Times New Roman" charset="0"/>
              </a:rPr>
              <a:t>delimiters</a:t>
            </a:r>
            <a:r>
              <a:rPr lang="en-US" dirty="0" smtClean="0">
                <a:cs typeface="Times New Roman" charset="0"/>
              </a:rPr>
              <a:t>; that is, a special character or characters that separate one value from the next.</a:t>
            </a:r>
            <a:endParaRPr lang="en-US" dirty="0" smtClean="0"/>
          </a:p>
          <a:p>
            <a:pPr>
              <a:defRPr/>
            </a:pPr>
            <a:r>
              <a:rPr lang="en-US" dirty="0" smtClean="0">
                <a:cs typeface="Times New Roman" charset="0"/>
              </a:rPr>
              <a:t>As we read the file, we need to </a:t>
            </a:r>
            <a:r>
              <a:rPr lang="en-US" dirty="0" smtClean="0">
                <a:solidFill>
                  <a:schemeClr val="tx2"/>
                </a:solidFill>
                <a:cs typeface="Times New Roman" charset="0"/>
              </a:rPr>
              <a:t>parse</a:t>
            </a:r>
            <a:r>
              <a:rPr lang="en-US" dirty="0" smtClean="0">
                <a:cs typeface="Times New Roman" charset="0"/>
              </a:rPr>
              <a:t> each line; that is, separate the line into the individual data values called </a:t>
            </a:r>
            <a:r>
              <a:rPr lang="en-US" dirty="0" smtClean="0">
                <a:solidFill>
                  <a:schemeClr val="tx2"/>
                </a:solidFill>
                <a:cs typeface="Times New Roman" charset="0"/>
              </a:rPr>
              <a:t>tokens</a:t>
            </a:r>
            <a:r>
              <a:rPr lang="en-US" dirty="0" smtClean="0">
                <a:cs typeface="Times New Roman" charset="0"/>
              </a:rPr>
              <a:t>.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AAF3244-460C-4637-8C6C-E9A3EB80A403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6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571500"/>
            <a:ext cx="7867650" cy="457200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altLang="en-US" dirty="0"/>
              <a:t>Reading Structured Text </a:t>
            </a:r>
            <a:r>
              <a:rPr lang="en-US" altLang="en-US" dirty="0"/>
              <a:t>Files (</a:t>
            </a:r>
            <a:r>
              <a:rPr lang="en-US" dirty="0"/>
              <a:t>Example: Airline records)</a:t>
            </a:r>
            <a:endParaRPr lang="en-US" dirty="0"/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>
          <a:xfrm>
            <a:off x="384175" y="1701800"/>
            <a:ext cx="8353425" cy="5019676"/>
          </a:xfrm>
        </p:spPr>
        <p:txBody>
          <a:bodyPr rtlCol="0">
            <a:normAutofit lnSpcReduction="10000"/>
          </a:bodyPr>
          <a:lstStyle/>
          <a:p>
            <a:pPr>
              <a:defRPr/>
            </a:pPr>
            <a:r>
              <a:rPr lang="en-US" sz="1800" dirty="0"/>
              <a:t>A</a:t>
            </a:r>
            <a:r>
              <a:rPr lang="en-US" sz="1800" dirty="0">
                <a:cs typeface="Times New Roman" charset="0"/>
              </a:rPr>
              <a:t>n airline company could store data in a file where each line represents a flight segment containing the following data: </a:t>
            </a:r>
          </a:p>
          <a:p>
            <a:pPr lvl="1">
              <a:defRPr/>
            </a:pPr>
            <a:r>
              <a:rPr lang="en-US" dirty="0"/>
              <a:t>flight number</a:t>
            </a:r>
          </a:p>
          <a:p>
            <a:pPr lvl="1">
              <a:defRPr/>
            </a:pPr>
            <a:r>
              <a:rPr lang="en-US" dirty="0"/>
              <a:t>origin airport</a:t>
            </a:r>
          </a:p>
          <a:p>
            <a:pPr lvl="1">
              <a:defRPr/>
            </a:pPr>
            <a:r>
              <a:rPr lang="en-US" dirty="0"/>
              <a:t>destination airport</a:t>
            </a:r>
          </a:p>
          <a:p>
            <a:pPr lvl="1">
              <a:defRPr/>
            </a:pPr>
            <a:r>
              <a:rPr lang="en-US" dirty="0"/>
              <a:t>number of passengers</a:t>
            </a:r>
          </a:p>
          <a:p>
            <a:pPr lvl="1">
              <a:defRPr/>
            </a:pPr>
            <a:r>
              <a:rPr lang="en-US" dirty="0"/>
              <a:t>average ticket price</a:t>
            </a:r>
            <a:r>
              <a:rPr lang="en-US" dirty="0">
                <a:cs typeface="Times New Roman" charset="0"/>
              </a:rPr>
              <a:t> </a:t>
            </a:r>
          </a:p>
          <a:p>
            <a:pPr>
              <a:defRPr/>
            </a:pPr>
            <a:r>
              <a:rPr lang="en-US" sz="1800" dirty="0">
                <a:cs typeface="Times New Roman" charset="0"/>
              </a:rPr>
              <a:t>These are called headers or field names of the record.</a:t>
            </a:r>
          </a:p>
          <a:p>
            <a:pPr>
              <a:defRPr/>
            </a:pPr>
            <a:r>
              <a:rPr lang="en-US" sz="1800" dirty="0">
                <a:cs typeface="Times New Roman" charset="0"/>
              </a:rPr>
              <a:t>Such a file could contain the following data</a:t>
            </a:r>
            <a:r>
              <a:rPr lang="en-US" dirty="0" smtClean="0">
                <a:cs typeface="Times New Roman" charset="0"/>
              </a:rPr>
              <a:t>:</a:t>
            </a:r>
          </a:p>
          <a:p>
            <a:pPr>
              <a:buNone/>
              <a:defRPr/>
            </a:pPr>
            <a:r>
              <a:rPr lang="en-US" sz="1500" dirty="0">
                <a:latin typeface="Courier New" pitchFamily="49" charset="0"/>
                <a:cs typeface="Times New Roman" charset="0"/>
              </a:rPr>
              <a:t>   AA123,BWI,SFO,235,239.5</a:t>
            </a:r>
          </a:p>
          <a:p>
            <a:pPr>
              <a:buNone/>
              <a:defRPr/>
            </a:pPr>
            <a:r>
              <a:rPr lang="en-US" sz="1500" dirty="0">
                <a:latin typeface="Courier New" pitchFamily="49" charset="0"/>
                <a:cs typeface="Times New Roman" charset="0"/>
              </a:rPr>
              <a:t>   AA200,BOS,JFK,150,89.3</a:t>
            </a:r>
          </a:p>
          <a:p>
            <a:pPr>
              <a:buNone/>
              <a:defRPr/>
            </a:pPr>
            <a:r>
              <a:rPr lang="en-US" sz="1500" dirty="0">
                <a:latin typeface="Courier New" pitchFamily="49" charset="0"/>
                <a:cs typeface="Times New Roman" charset="0"/>
              </a:rPr>
              <a:t>   …</a:t>
            </a:r>
          </a:p>
          <a:p>
            <a:pPr>
              <a:defRPr/>
            </a:pPr>
            <a:r>
              <a:rPr lang="en-US" sz="1800" dirty="0"/>
              <a:t>In this case, the delimiter is a comma. This  example shows two records (or two rows of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7037E6-95E0-421D-9A9E-BE1C9F5215E5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0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Remember the </a:t>
            </a:r>
            <a:r>
              <a:rPr lang="en-US" altLang="en-US" i="1" dirty="0" err="1"/>
              <a:t>StringTokenizer</a:t>
            </a:r>
            <a:r>
              <a:rPr lang="en-US" altLang="en-US" dirty="0"/>
              <a:t> </a:t>
            </a:r>
            <a:r>
              <a:rPr lang="en-US" altLang="en-US" dirty="0"/>
              <a:t>Class/Split method in String class?</a:t>
            </a:r>
            <a:endParaRPr lang="en-US" altLang="en-US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 smtClean="0"/>
              <a:t>The </a:t>
            </a:r>
            <a:r>
              <a:rPr lang="en-US" altLang="en-US" i="1" dirty="0" err="1" smtClean="0"/>
              <a:t>StringTokenizer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class is designed to parse </a:t>
            </a:r>
            <a:r>
              <a:rPr lang="en-US" altLang="en-US" i="1" dirty="0" smtClean="0"/>
              <a:t>Strings</a:t>
            </a:r>
            <a:r>
              <a:rPr lang="en-US" altLang="en-US" dirty="0" smtClean="0"/>
              <a:t> into tokens.</a:t>
            </a:r>
          </a:p>
          <a:p>
            <a:pPr eaLnBrk="1" hangingPunct="1"/>
            <a:r>
              <a:rPr lang="en-US" altLang="en-US" i="1" dirty="0" err="1" smtClean="0"/>
              <a:t>StringTokenizer</a:t>
            </a:r>
            <a:r>
              <a:rPr lang="en-US" altLang="en-US" dirty="0" smtClean="0"/>
              <a:t> is in the </a:t>
            </a:r>
            <a:r>
              <a:rPr lang="en-US" altLang="en-US" i="1" dirty="0" err="1" smtClean="0"/>
              <a:t>java.util</a:t>
            </a:r>
            <a:r>
              <a:rPr lang="en-US" altLang="en-US" dirty="0" smtClean="0"/>
              <a:t> package.</a:t>
            </a:r>
          </a:p>
          <a:p>
            <a:pPr eaLnBrk="1" hangingPunct="1"/>
            <a:r>
              <a:rPr lang="en-US" altLang="en-US" dirty="0" smtClean="0"/>
              <a:t>When we construct a </a:t>
            </a:r>
            <a:r>
              <a:rPr lang="en-US" altLang="en-US" i="1" dirty="0" err="1" smtClean="0"/>
              <a:t>StringTokenizer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object, we specify the delimiters that separate the data we want to tokenize. </a:t>
            </a:r>
          </a:p>
          <a:p>
            <a:pPr eaLnBrk="1" hangingPunct="1"/>
            <a:r>
              <a:rPr lang="en-US" altLang="en-US" dirty="0" smtClean="0"/>
              <a:t>Can we use the scanner class to achieve this?</a:t>
            </a:r>
          </a:p>
          <a:p>
            <a:pPr eaLnBrk="1" hangingPunct="1"/>
            <a:r>
              <a:rPr lang="en-US" altLang="en-US" dirty="0" smtClean="0"/>
              <a:t>Check out the constructors of the scanner class. </a:t>
            </a:r>
          </a:p>
          <a:p>
            <a:pPr lvl="1"/>
            <a:r>
              <a:rPr lang="en-US" altLang="en-US" dirty="0" smtClean="0"/>
              <a:t>We used scanner to read from a  file. Can it “read” a string?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94BF45C-8373-4551-9D29-1A092283EE3C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87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Reading Structured Text Files (</a:t>
            </a:r>
            <a:r>
              <a:rPr lang="en-US" dirty="0"/>
              <a:t>Example: Airline records)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600" y="2126458"/>
            <a:ext cx="5876925" cy="39703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try{</a:t>
            </a:r>
            <a:endParaRPr lang="en-US" dirty="0"/>
          </a:p>
          <a:p>
            <a:r>
              <a:rPr lang="en-US" dirty="0"/>
              <a:t>       Scanner file = new Scanner( new File( "flights.txt" ) </a:t>
            </a:r>
            <a:r>
              <a:rPr lang="en-US" dirty="0"/>
              <a:t>);</a:t>
            </a:r>
            <a:endParaRPr lang="en-US" dirty="0"/>
          </a:p>
          <a:p>
            <a:r>
              <a:rPr lang="en-US" dirty="0"/>
              <a:t>       while ( </a:t>
            </a:r>
            <a:r>
              <a:rPr lang="en-US" dirty="0" err="1"/>
              <a:t>file.hasNext</a:t>
            </a:r>
            <a:r>
              <a:rPr lang="en-US" dirty="0"/>
              <a:t>( ) ) // test for the end of the file</a:t>
            </a:r>
          </a:p>
          <a:p>
            <a:r>
              <a:rPr lang="en-US" dirty="0"/>
              <a:t>       {</a:t>
            </a:r>
          </a:p>
          <a:p>
            <a:r>
              <a:rPr lang="en-US" dirty="0"/>
              <a:t>	String </a:t>
            </a:r>
            <a:r>
              <a:rPr lang="en-US" dirty="0" err="1"/>
              <a:t>stringRead</a:t>
            </a:r>
            <a:r>
              <a:rPr lang="en-US" dirty="0"/>
              <a:t> = </a:t>
            </a:r>
            <a:r>
              <a:rPr lang="en-US" dirty="0" err="1"/>
              <a:t>file.nextLine</a:t>
            </a:r>
            <a:r>
              <a:rPr lang="en-US" dirty="0"/>
              <a:t>( </a:t>
            </a:r>
            <a:r>
              <a:rPr lang="en-US" dirty="0"/>
              <a:t>);</a:t>
            </a:r>
            <a:r>
              <a:rPr lang="en-US" dirty="0"/>
              <a:t> // read a </a:t>
            </a:r>
            <a:r>
              <a:rPr lang="en-US" dirty="0"/>
              <a:t>line</a:t>
            </a:r>
            <a:endParaRPr lang="en-US" dirty="0"/>
          </a:p>
          <a:p>
            <a:r>
              <a:rPr lang="en-US" dirty="0"/>
              <a:t>	Scanner </a:t>
            </a:r>
            <a:r>
              <a:rPr lang="en-US" dirty="0"/>
              <a:t>parse = new Scanner( </a:t>
            </a:r>
            <a:r>
              <a:rPr lang="en-US" dirty="0" err="1"/>
              <a:t>stringRead</a:t>
            </a:r>
            <a:r>
              <a:rPr lang="en-US" dirty="0"/>
              <a:t> </a:t>
            </a:r>
            <a:r>
              <a:rPr lang="en-US" dirty="0"/>
              <a:t>); </a:t>
            </a:r>
            <a:r>
              <a:rPr lang="en-US" dirty="0"/>
              <a:t>// process the line read</a:t>
            </a:r>
          </a:p>
          <a:p>
            <a:r>
              <a:rPr lang="en-US" dirty="0"/>
              <a:t>	</a:t>
            </a:r>
            <a:r>
              <a:rPr lang="en-US" dirty="0" err="1"/>
              <a:t>parse.useDelimiter</a:t>
            </a:r>
            <a:r>
              <a:rPr lang="en-US" dirty="0"/>
              <a:t>( "," </a:t>
            </a:r>
            <a:r>
              <a:rPr lang="en-US" dirty="0"/>
              <a:t>);</a:t>
            </a:r>
          </a:p>
          <a:p>
            <a:r>
              <a:rPr lang="en-US" dirty="0"/>
              <a:t> </a:t>
            </a:r>
            <a:r>
              <a:rPr lang="en-US" dirty="0"/>
              <a:t>             String </a:t>
            </a:r>
            <a:r>
              <a:rPr lang="en-US" dirty="0" err="1"/>
              <a:t>flightNumber</a:t>
            </a:r>
            <a:r>
              <a:rPr lang="en-US" dirty="0"/>
              <a:t> = </a:t>
            </a:r>
            <a:r>
              <a:rPr lang="en-US" dirty="0" err="1"/>
              <a:t>parse.next</a:t>
            </a:r>
            <a:r>
              <a:rPr lang="en-US" dirty="0"/>
              <a:t>( );</a:t>
            </a:r>
          </a:p>
          <a:p>
            <a:r>
              <a:rPr lang="en-US" dirty="0"/>
              <a:t>         </a:t>
            </a:r>
            <a:r>
              <a:rPr lang="en-US" dirty="0"/>
              <a:t>     String </a:t>
            </a:r>
            <a:r>
              <a:rPr lang="en-US" dirty="0"/>
              <a:t>origin = </a:t>
            </a:r>
            <a:r>
              <a:rPr lang="en-US" dirty="0" err="1"/>
              <a:t>parse.next</a:t>
            </a:r>
            <a:r>
              <a:rPr lang="en-US" dirty="0"/>
              <a:t>( );</a:t>
            </a:r>
          </a:p>
          <a:p>
            <a:r>
              <a:rPr lang="en-US" dirty="0"/>
              <a:t>              String </a:t>
            </a:r>
            <a:r>
              <a:rPr lang="en-US" dirty="0"/>
              <a:t>destination = </a:t>
            </a:r>
            <a:r>
              <a:rPr lang="en-US" dirty="0" err="1"/>
              <a:t>parse.next</a:t>
            </a:r>
            <a:r>
              <a:rPr lang="en-US" dirty="0"/>
              <a:t>( </a:t>
            </a:r>
            <a:r>
              <a:rPr lang="en-US" dirty="0"/>
              <a:t>);</a:t>
            </a:r>
          </a:p>
          <a:p>
            <a:r>
              <a:rPr lang="en-US" dirty="0"/>
              <a:t> </a:t>
            </a:r>
            <a:r>
              <a:rPr lang="en-US" dirty="0"/>
              <a:t>      //code to process these tokens (origin, destination,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 </a:t>
            </a:r>
            <a:r>
              <a:rPr lang="en-US" dirty="0"/>
              <a:t>      }</a:t>
            </a:r>
          </a:p>
          <a:p>
            <a:r>
              <a:rPr lang="en-US" dirty="0"/>
              <a:t>}//use a catch black</a:t>
            </a:r>
            <a:endParaRPr lang="en-US" dirty="0"/>
          </a:p>
        </p:txBody>
      </p:sp>
      <p:sp>
        <p:nvSpPr>
          <p:cNvPr id="3" name="Line Callout 1 2"/>
          <p:cNvSpPr/>
          <p:nvPr/>
        </p:nvSpPr>
        <p:spPr>
          <a:xfrm>
            <a:off x="431800" y="3136900"/>
            <a:ext cx="2247900" cy="1498600"/>
          </a:xfrm>
          <a:prstGeom prst="borderCallout1">
            <a:avLst>
              <a:gd name="adj1" fmla="val 19597"/>
              <a:gd name="adj2" fmla="val 100142"/>
              <a:gd name="adj3" fmla="val 31144"/>
              <a:gd name="adj4" fmla="val 2046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/>
              <a:t>Use another scanner object to read and parse each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34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class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02175"/>
          </a:xfrm>
        </p:spPr>
        <p:txBody>
          <a:bodyPr>
            <a:normAutofit/>
          </a:bodyPr>
          <a:lstStyle/>
          <a:p>
            <a:r>
              <a:rPr lang="en-US" dirty="0" smtClean="0"/>
              <a:t>Can you read structure files using the </a:t>
            </a:r>
            <a:r>
              <a:rPr lang="en-US" dirty="0" err="1" smtClean="0"/>
              <a:t>BufferedReader</a:t>
            </a:r>
            <a:r>
              <a:rPr lang="en-US" dirty="0" smtClean="0"/>
              <a:t> class?</a:t>
            </a:r>
          </a:p>
          <a:p>
            <a:r>
              <a:rPr lang="en-US" dirty="0" smtClean="0"/>
              <a:t>Try it with the airline example</a:t>
            </a:r>
          </a:p>
          <a:p>
            <a:r>
              <a:rPr lang="en-US" dirty="0" smtClean="0"/>
              <a:t>Do the following:</a:t>
            </a:r>
          </a:p>
          <a:p>
            <a:pPr lvl="1"/>
            <a:r>
              <a:rPr lang="en-US" dirty="0" smtClean="0"/>
              <a:t>Create a text file called “input.txt” with data with the following structure</a:t>
            </a:r>
          </a:p>
          <a:p>
            <a:pPr>
              <a:buNone/>
              <a:defRPr/>
            </a:pPr>
            <a:r>
              <a:rPr lang="en-US" sz="1500" dirty="0">
                <a:latin typeface="Courier New" pitchFamily="49" charset="0"/>
                <a:cs typeface="Times New Roman" charset="0"/>
              </a:rPr>
              <a:t>				AA123,BWI,SFO,235,239.5</a:t>
            </a:r>
            <a:endParaRPr lang="en-US" sz="1500" dirty="0">
              <a:latin typeface="Courier New" pitchFamily="49" charset="0"/>
              <a:cs typeface="Times New Roman" charset="0"/>
            </a:endParaRPr>
          </a:p>
          <a:p>
            <a:pPr>
              <a:buNone/>
              <a:defRPr/>
            </a:pPr>
            <a:r>
              <a:rPr lang="en-US" sz="1500" dirty="0">
                <a:latin typeface="Courier New" pitchFamily="49" charset="0"/>
                <a:cs typeface="Times New Roman" charset="0"/>
              </a:rPr>
              <a:t>				AA200,BOS,JFK,150,89.3</a:t>
            </a:r>
          </a:p>
          <a:p>
            <a:pPr>
              <a:buNone/>
              <a:defRPr/>
            </a:pPr>
            <a:r>
              <a:rPr lang="en-US" sz="1500" dirty="0">
                <a:latin typeface="Courier New" pitchFamily="49" charset="0"/>
                <a:cs typeface="Times New Roman" charset="0"/>
              </a:rPr>
              <a:t> </a:t>
            </a:r>
            <a:r>
              <a:rPr lang="en-US" sz="1500" dirty="0">
                <a:latin typeface="Courier New" pitchFamily="49" charset="0"/>
                <a:cs typeface="Times New Roman" charset="0"/>
              </a:rPr>
              <a:t>                 ….</a:t>
            </a:r>
          </a:p>
          <a:p>
            <a:pPr>
              <a:defRPr/>
            </a:pPr>
            <a:r>
              <a:rPr lang="en-US" sz="1500" dirty="0">
                <a:latin typeface="Courier New" pitchFamily="49" charset="0"/>
                <a:cs typeface="Times New Roman" charset="0"/>
              </a:rPr>
              <a:t>Write a client class that uses the </a:t>
            </a:r>
            <a:r>
              <a:rPr lang="en-US" sz="1500" dirty="0" err="1">
                <a:latin typeface="Courier New" pitchFamily="49" charset="0"/>
                <a:cs typeface="Times New Roman" charset="0"/>
              </a:rPr>
              <a:t>BufferedReader</a:t>
            </a:r>
            <a:r>
              <a:rPr lang="en-US" sz="1500" dirty="0">
                <a:latin typeface="Courier New" pitchFamily="49" charset="0"/>
                <a:cs typeface="Times New Roman" charset="0"/>
              </a:rPr>
              <a:t> class to reads the file line by line </a:t>
            </a:r>
          </a:p>
          <a:p>
            <a:pPr>
              <a:defRPr/>
            </a:pPr>
            <a:r>
              <a:rPr lang="en-US" sz="1500" dirty="0">
                <a:latin typeface="Courier New" pitchFamily="49" charset="0"/>
                <a:cs typeface="Times New Roman" charset="0"/>
              </a:rPr>
              <a:t>The client will print out the following output. </a:t>
            </a:r>
          </a:p>
          <a:p>
            <a:pPr>
              <a:defRPr/>
            </a:pPr>
            <a:endParaRPr lang="en-US" sz="1500" dirty="0">
              <a:latin typeface="Courier New" pitchFamily="49" charset="0"/>
              <a:cs typeface="Times New Roman" charset="0"/>
            </a:endParaRP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71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2125266"/>
            <a:ext cx="5800725" cy="362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Sample output:</a:t>
            </a:r>
          </a:p>
          <a:p>
            <a:endParaRPr lang="en-US" sz="1350" dirty="0"/>
          </a:p>
          <a:p>
            <a:r>
              <a:rPr lang="en-US" sz="1350" dirty="0"/>
              <a:t>Record </a:t>
            </a:r>
            <a:r>
              <a:rPr lang="en-US" sz="1350" dirty="0"/>
              <a:t>No: 0</a:t>
            </a:r>
          </a:p>
          <a:p>
            <a:r>
              <a:rPr lang="en-US" sz="1350" dirty="0"/>
              <a:t>Flight: AA123</a:t>
            </a:r>
          </a:p>
          <a:p>
            <a:r>
              <a:rPr lang="en-US" sz="1350" dirty="0"/>
              <a:t>Origin: BWI</a:t>
            </a:r>
          </a:p>
          <a:p>
            <a:r>
              <a:rPr lang="en-US" sz="1350" dirty="0" err="1"/>
              <a:t>Dest</a:t>
            </a:r>
            <a:r>
              <a:rPr lang="en-US" sz="1350" dirty="0"/>
              <a:t>: SFO</a:t>
            </a:r>
          </a:p>
          <a:p>
            <a:r>
              <a:rPr lang="en-US" sz="1350" dirty="0"/>
              <a:t>No of </a:t>
            </a:r>
            <a:r>
              <a:rPr lang="en-US" sz="1350" dirty="0" err="1"/>
              <a:t>passesngers</a:t>
            </a:r>
            <a:r>
              <a:rPr lang="en-US" sz="1350" dirty="0"/>
              <a:t>: 235</a:t>
            </a:r>
          </a:p>
          <a:p>
            <a:r>
              <a:rPr lang="en-US" sz="1350" dirty="0"/>
              <a:t>Ticket Price: 239.5</a:t>
            </a:r>
          </a:p>
          <a:p>
            <a:endParaRPr lang="en-US" sz="1350" dirty="0"/>
          </a:p>
          <a:p>
            <a:endParaRPr lang="en-US" sz="1350" dirty="0"/>
          </a:p>
          <a:p>
            <a:r>
              <a:rPr lang="en-US" sz="1350" dirty="0"/>
              <a:t>Record No: 1</a:t>
            </a:r>
          </a:p>
          <a:p>
            <a:r>
              <a:rPr lang="en-US" sz="1350" dirty="0"/>
              <a:t>Flight: AA200</a:t>
            </a:r>
          </a:p>
          <a:p>
            <a:r>
              <a:rPr lang="en-US" sz="1350" dirty="0"/>
              <a:t>Origin: BOS</a:t>
            </a:r>
          </a:p>
          <a:p>
            <a:r>
              <a:rPr lang="en-US" sz="1350" dirty="0" err="1"/>
              <a:t>Dest</a:t>
            </a:r>
            <a:r>
              <a:rPr lang="en-US" sz="1350" dirty="0"/>
              <a:t>: JFK</a:t>
            </a:r>
          </a:p>
          <a:p>
            <a:r>
              <a:rPr lang="en-US" sz="1350" dirty="0"/>
              <a:t>No of </a:t>
            </a:r>
            <a:r>
              <a:rPr lang="en-US" sz="1350" dirty="0" err="1"/>
              <a:t>passesngers</a:t>
            </a:r>
            <a:r>
              <a:rPr lang="en-US" sz="1350" dirty="0"/>
              <a:t>: 150</a:t>
            </a:r>
          </a:p>
          <a:p>
            <a:r>
              <a:rPr lang="en-US" sz="1350" dirty="0"/>
              <a:t>Ticket Price: 89.3</a:t>
            </a:r>
          </a:p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16781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Writing to Text Files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Several situations can exist:</a:t>
            </a:r>
          </a:p>
          <a:p>
            <a:pPr lvl="1" eaLnBrk="1" hangingPunct="1"/>
            <a:r>
              <a:rPr lang="en-US" altLang="en-US" dirty="0"/>
              <a:t>the file does not exist</a:t>
            </a:r>
          </a:p>
          <a:p>
            <a:pPr lvl="1" eaLnBrk="1" hangingPunct="1"/>
            <a:r>
              <a:rPr lang="en-US" altLang="en-US" dirty="0"/>
              <a:t>the file exists and we want to replace the current contents</a:t>
            </a:r>
          </a:p>
          <a:p>
            <a:pPr lvl="1" eaLnBrk="1" hangingPunct="1"/>
            <a:r>
              <a:rPr lang="en-US" altLang="en-US" dirty="0"/>
              <a:t>the file exists and we want to append to the current contents</a:t>
            </a:r>
          </a:p>
          <a:p>
            <a:pPr eaLnBrk="1" hangingPunct="1"/>
            <a:r>
              <a:rPr lang="en-US" altLang="en-US" dirty="0" smtClean="0"/>
              <a:t>We specify whether we want to replace the contents or append to the current contents.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5393830-4DC2-4D99-B396-1515A0956037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483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50849"/>
            <a:ext cx="7759700" cy="903287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dirty="0"/>
              <a:t>Selected </a:t>
            </a:r>
            <a:r>
              <a:rPr lang="en-US" i="1" dirty="0"/>
              <a:t>java.io</a:t>
            </a:r>
            <a:r>
              <a:rPr lang="en-US" dirty="0"/>
              <a:t> Output Classes</a:t>
            </a:r>
            <a:r>
              <a:rPr lang="en-US" dirty="0" smtClean="0"/>
              <a:t>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CB12AB5-E00B-472E-A50E-B8EB398D3E25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30441" name="Group 41"/>
          <p:cNvGraphicFramePr>
            <a:graphicFrameLocks noGrp="1"/>
          </p:cNvGraphicFramePr>
          <p:nvPr/>
        </p:nvGraphicFramePr>
        <p:xfrm>
          <a:off x="1428750" y="1828801"/>
          <a:ext cx="6343650" cy="3736898"/>
        </p:xfrm>
        <a:graphic>
          <a:graphicData uri="http://schemas.openxmlformats.org/drawingml/2006/table">
            <a:tbl>
              <a:tblPr/>
              <a:tblGrid>
                <a:gridCol w="2228850"/>
                <a:gridCol w="411480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Class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Description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Writer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Abstract</a:t>
                      </a: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superclass for output classes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14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OutputStreamWriter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Class to write output data streams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26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OutputStream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Abstract </a:t>
                      </a: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superclass representing an output stream of raw</a:t>
                      </a: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</a:t>
                      </a: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bytes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FileWriter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Class for writing to character files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2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BufferedWriter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More efficient writing to character files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95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PrintWriter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Prints basic data types, </a:t>
                      </a:r>
                      <a:r>
                        <a:rPr kumimoji="0" lang="en-US" sz="15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Strings</a:t>
                      </a: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, and objects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PrintStream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Supports printing various data types conveniently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2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FileOutputStream	 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Output stream for writing raw bytes of data to files 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ObjectOutputStream 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Class to write objects to a file 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128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Hierarchy for Output Classes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D96CE10-4EE7-47F8-A9B3-6A38A4DCA969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4340" name="Picture 4" descr="OutputHierarch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18" y="1327946"/>
            <a:ext cx="8827382" cy="512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761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25438"/>
            <a:ext cx="8331200" cy="1111647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dirty="0" smtClean="0"/>
              <a:t> </a:t>
            </a:r>
            <a:r>
              <a:rPr lang="en-US" dirty="0"/>
              <a:t>Constructors for Writing to Text Files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657350" y="1600200"/>
            <a:ext cx="58293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D98193C-9F0A-42C3-812D-14C54CEAA7A1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45778" name="Group 18"/>
          <p:cNvGraphicFramePr>
            <a:graphicFrameLocks noGrp="1"/>
          </p:cNvGraphicFramePr>
          <p:nvPr/>
        </p:nvGraphicFramePr>
        <p:xfrm>
          <a:off x="1314450" y="1807369"/>
          <a:ext cx="6286500" cy="3744516"/>
        </p:xfrm>
        <a:graphic>
          <a:graphicData uri="http://schemas.openxmlformats.org/drawingml/2006/table">
            <a:tbl>
              <a:tblPr/>
              <a:tblGrid>
                <a:gridCol w="1771650"/>
                <a:gridCol w="4514850"/>
              </a:tblGrid>
              <a:tr h="3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Class</a:t>
                      </a:r>
                    </a:p>
                  </a:txBody>
                  <a:tcPr marL="68580" marR="68580" marT="34291" marB="34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Constructor</a:t>
                      </a:r>
                    </a:p>
                  </a:txBody>
                  <a:tcPr marL="68580" marR="68580"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5009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FileWriter</a:t>
                      </a:r>
                    </a:p>
                  </a:txBody>
                  <a:tcPr marL="68580" marR="68580" marT="34291" marB="34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FileWriter( String filename,</a:t>
                      </a:r>
                      <a:b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</a:b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    boolean mode ) 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 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constructs a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FileWriter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object from a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String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representing the name of a file. If the file does not exist, it is created. If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mode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is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false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, the current contents of the file, if any, will be replaced. If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mode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is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true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, writing will append data to the end of the file. Throws an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IOException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.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</a:t>
                      </a:r>
                    </a:p>
                  </a:txBody>
                  <a:tcPr marL="68580" marR="68580"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06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BufferedWriter</a:t>
                      </a: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80" marR="68580" marT="34291" marB="34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BufferedWriter</a:t>
                      </a: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( Writer w )</a:t>
                      </a: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 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constructs a </a:t>
                      </a:r>
                      <a:r>
                        <a:rPr kumimoji="0" lang="en-U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BufferedWriter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object from a </a:t>
                      </a:r>
                      <a:r>
                        <a:rPr kumimoji="0" 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Writer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object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45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Buffering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Writing data to the disk is much slower than writing data into main memory. </a:t>
            </a:r>
          </a:p>
          <a:p>
            <a:pPr>
              <a:defRPr/>
            </a:pPr>
            <a:r>
              <a:rPr lang="en-US" dirty="0" smtClean="0"/>
              <a:t>When a class uses buffering, instead of writing one character at a time to the file, it accumulates the data in a temporary location in memory, called a </a:t>
            </a:r>
            <a:r>
              <a:rPr lang="en-US" dirty="0" smtClean="0">
                <a:solidFill>
                  <a:schemeClr val="tx2"/>
                </a:solidFill>
              </a:rPr>
              <a:t>buffer</a:t>
            </a:r>
            <a:r>
              <a:rPr lang="en-US" dirty="0" smtClean="0"/>
              <a:t>. </a:t>
            </a:r>
          </a:p>
          <a:p>
            <a:pPr>
              <a:defRPr/>
            </a:pPr>
            <a:r>
              <a:rPr lang="en-US" dirty="0" smtClean="0"/>
              <a:t>When the buffer is full or is flushed, the </a:t>
            </a:r>
            <a:r>
              <a:rPr lang="en-US" dirty="0" smtClean="0"/>
              <a:t>accumulated data </a:t>
            </a:r>
            <a:r>
              <a:rPr lang="en-US" dirty="0" smtClean="0"/>
              <a:t>is written to the file in one efficient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0D599AE-9FBB-434D-8210-254B9F6B57FB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523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563563"/>
            <a:ext cx="8642350" cy="641349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dirty="0"/>
              <a:t>Methods of the </a:t>
            </a:r>
            <a:r>
              <a:rPr lang="en-US" i="1" dirty="0" err="1"/>
              <a:t>BufferedWriter</a:t>
            </a:r>
            <a:r>
              <a:rPr lang="en-US" dirty="0"/>
              <a:t> Class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idx="1"/>
          </p:nvPr>
        </p:nvSpPr>
        <p:spPr>
          <a:xfrm>
            <a:off x="1657350" y="5143500"/>
            <a:ext cx="5829300" cy="685800"/>
          </a:xfrm>
        </p:spPr>
        <p:txBody>
          <a:bodyPr rtlCol="0">
            <a:normAutofit fontScale="92500" lnSpcReduction="20000"/>
          </a:bodyPr>
          <a:lstStyle/>
          <a:p>
            <a:pPr marL="41672" indent="-41672">
              <a:buNone/>
              <a:defRPr/>
            </a:pPr>
            <a:r>
              <a:rPr lang="en-US" i="1" smtClean="0">
                <a:solidFill>
                  <a:schemeClr val="tx2"/>
                </a:solidFill>
              </a:rPr>
              <a:t>See Example 11.9 WriteTextFile.java </a:t>
            </a:r>
            <a:br>
              <a:rPr lang="en-US" i="1" smtClean="0">
                <a:solidFill>
                  <a:schemeClr val="tx2"/>
                </a:solidFill>
              </a:rPr>
            </a:br>
            <a:r>
              <a:rPr lang="en-US" i="1" smtClean="0">
                <a:solidFill>
                  <a:schemeClr val="tx2"/>
                </a:solidFill>
              </a:rPr>
              <a:t>and Example 11.10 AppendTextFile.java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3B98D8A-32EB-4693-866E-C186CA7A4610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27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46805" name="Group 21"/>
          <p:cNvGraphicFramePr>
            <a:graphicFrameLocks noGrp="1"/>
          </p:cNvGraphicFramePr>
          <p:nvPr/>
        </p:nvGraphicFramePr>
        <p:xfrm>
          <a:off x="1485900" y="1771650"/>
          <a:ext cx="6172200" cy="3319464"/>
        </p:xfrm>
        <a:graphic>
          <a:graphicData uri="http://schemas.openxmlformats.org/drawingml/2006/table">
            <a:tbl>
              <a:tblPr/>
              <a:tblGrid>
                <a:gridCol w="1485900"/>
                <a:gridCol w="4686300"/>
              </a:tblGrid>
              <a:tr h="3429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Return value</a:t>
                      </a:r>
                    </a:p>
                  </a:txBody>
                  <a:tcPr marL="68580" marR="68580"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Method name and argument list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11750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</a:t>
                      </a:r>
                    </a:p>
                  </a:txBody>
                  <a:tcPr marL="68580" marR="68580"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write( String s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writes a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String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to the current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OutputStream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object. This method is inherited from the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Writer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class.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Throws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an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IOException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.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0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</a:t>
                      </a:r>
                    </a:p>
                  </a:txBody>
                  <a:tcPr marL="68580" marR="68580"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newLine(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writes a line separator. Throws an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IOException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.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0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 </a:t>
                      </a:r>
                    </a:p>
                  </a:txBody>
                  <a:tcPr marL="68580" marR="68580"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close(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Courier New" pitchFamily="49" charset="0"/>
                        </a:rPr>
                        <a:t>releases resources allocated to the </a:t>
                      </a:r>
                      <a:r>
                        <a:rPr kumimoji="0" lang="en-U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Courier New" pitchFamily="49" charset="0"/>
                        </a:rPr>
                        <a:t>BufferedWriter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Courier New" pitchFamily="49" charset="0"/>
                        </a:rPr>
                        <a:t> object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. Throws an </a:t>
                      </a:r>
                      <a:r>
                        <a:rPr kumimoji="0" lang="en-U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IOException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.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614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BufferedWriter</a:t>
            </a:r>
            <a:r>
              <a:rPr lang="en-US" dirty="0" smtClean="0"/>
              <a:t> to Write to Files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1650" y="1879600"/>
            <a:ext cx="412115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try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FileWriter</a:t>
            </a:r>
            <a:r>
              <a:rPr lang="en-US" dirty="0"/>
              <a:t> </a:t>
            </a:r>
            <a:r>
              <a:rPr lang="en-US" dirty="0" err="1"/>
              <a:t>fw</a:t>
            </a:r>
            <a:r>
              <a:rPr lang="en-US" dirty="0"/>
              <a:t> = new </a:t>
            </a:r>
            <a:r>
              <a:rPr lang="en-US" dirty="0" err="1"/>
              <a:t>FileWriter</a:t>
            </a:r>
            <a:endParaRPr lang="en-US" dirty="0"/>
          </a:p>
          <a:p>
            <a:r>
              <a:rPr lang="en-US" dirty="0"/>
              <a:t>               ( "grades.txt", false );</a:t>
            </a:r>
          </a:p>
          <a:p>
            <a:r>
              <a:rPr lang="en-US" dirty="0"/>
              <a:t>       </a:t>
            </a:r>
            <a:r>
              <a:rPr lang="en-US" dirty="0" err="1" smtClean="0"/>
              <a:t>BufferedWriter</a:t>
            </a:r>
            <a:r>
              <a:rPr lang="en-US" dirty="0" smtClean="0"/>
              <a:t> </a:t>
            </a:r>
            <a:r>
              <a:rPr lang="en-US" dirty="0" err="1"/>
              <a:t>bw</a:t>
            </a:r>
            <a:r>
              <a:rPr lang="en-US" dirty="0"/>
              <a:t> = new </a:t>
            </a:r>
            <a:r>
              <a:rPr lang="en-US" dirty="0" err="1"/>
              <a:t>BufferedWriter</a:t>
            </a:r>
            <a:r>
              <a:rPr lang="en-US" dirty="0"/>
              <a:t>( </a:t>
            </a:r>
            <a:r>
              <a:rPr lang="en-US" dirty="0" err="1"/>
              <a:t>fw</a:t>
            </a:r>
            <a:r>
              <a:rPr lang="en-US" dirty="0"/>
              <a:t> </a:t>
            </a:r>
            <a:r>
              <a:rPr lang="en-US" dirty="0" smtClean="0"/>
              <a:t>);</a:t>
            </a:r>
          </a:p>
          <a:p>
            <a:r>
              <a:rPr lang="en-US" dirty="0"/>
              <a:t> </a:t>
            </a:r>
            <a:r>
              <a:rPr lang="en-US" dirty="0" smtClean="0"/>
              <a:t>     String </a:t>
            </a:r>
            <a:r>
              <a:rPr lang="en-US" dirty="0"/>
              <a:t>s="CS130: ";	   </a:t>
            </a:r>
          </a:p>
          <a:p>
            <a:r>
              <a:rPr lang="en-US" dirty="0"/>
              <a:t>       </a:t>
            </a:r>
            <a:r>
              <a:rPr lang="en-US" dirty="0" err="1"/>
              <a:t>bw.write</a:t>
            </a:r>
            <a:r>
              <a:rPr lang="en-US" dirty="0"/>
              <a:t>( s, 0, </a:t>
            </a:r>
            <a:r>
              <a:rPr lang="en-US" dirty="0" err="1"/>
              <a:t>s.length</a:t>
            </a:r>
            <a:r>
              <a:rPr lang="en-US" dirty="0"/>
              <a:t>());</a:t>
            </a:r>
          </a:p>
          <a:p>
            <a:r>
              <a:rPr lang="en-US" dirty="0" smtClean="0"/>
              <a:t>       </a:t>
            </a:r>
            <a:r>
              <a:rPr lang="en-US" dirty="0"/>
              <a:t>counter=</a:t>
            </a:r>
            <a:r>
              <a:rPr lang="en-US" dirty="0" err="1"/>
              <a:t>counter+s.length</a:t>
            </a:r>
            <a:r>
              <a:rPr lang="en-US" dirty="0"/>
              <a:t>();</a:t>
            </a:r>
          </a:p>
          <a:p>
            <a:r>
              <a:rPr lang="en-US" dirty="0" smtClean="0"/>
              <a:t>        </a:t>
            </a:r>
            <a:r>
              <a:rPr lang="en-US" dirty="0"/>
              <a:t>s="95";</a:t>
            </a:r>
          </a:p>
          <a:p>
            <a:r>
              <a:rPr lang="en-US" dirty="0" smtClean="0"/>
              <a:t>        </a:t>
            </a:r>
            <a:r>
              <a:rPr lang="en-US" dirty="0" err="1"/>
              <a:t>bw.write</a:t>
            </a:r>
            <a:r>
              <a:rPr lang="en-US" dirty="0"/>
              <a:t>( s, 0, </a:t>
            </a:r>
            <a:r>
              <a:rPr lang="en-US" dirty="0" err="1"/>
              <a:t>s.length</a:t>
            </a:r>
            <a:r>
              <a:rPr lang="en-US" dirty="0"/>
              <a:t>());</a:t>
            </a:r>
          </a:p>
          <a:p>
            <a:r>
              <a:rPr lang="en-US" dirty="0" smtClean="0"/>
              <a:t>        </a:t>
            </a:r>
            <a:r>
              <a:rPr lang="en-US" dirty="0"/>
              <a:t>counter=</a:t>
            </a:r>
            <a:r>
              <a:rPr lang="en-US" dirty="0" err="1"/>
              <a:t>counter+s.length</a:t>
            </a:r>
            <a:r>
              <a:rPr lang="en-US" dirty="0"/>
              <a:t>();</a:t>
            </a:r>
          </a:p>
          <a:p>
            <a:r>
              <a:rPr lang="en-US" dirty="0" smtClean="0"/>
              <a:t>        </a:t>
            </a:r>
            <a:r>
              <a:rPr lang="en-US" dirty="0" err="1"/>
              <a:t>bw.newLine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	   </a:t>
            </a:r>
          </a:p>
          <a:p>
            <a:r>
              <a:rPr lang="en-US" dirty="0"/>
              <a:t>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32350" y="1879600"/>
            <a:ext cx="4095750" cy="480131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s="Letter grade: ";</a:t>
            </a:r>
          </a:p>
          <a:p>
            <a:r>
              <a:rPr lang="en-US" dirty="0"/>
              <a:t>       </a:t>
            </a:r>
            <a:r>
              <a:rPr lang="en-US" dirty="0" err="1"/>
              <a:t>bw.write</a:t>
            </a:r>
            <a:r>
              <a:rPr lang="en-US" dirty="0"/>
              <a:t>( s, 0, </a:t>
            </a:r>
            <a:r>
              <a:rPr lang="en-US" dirty="0" err="1"/>
              <a:t>s.length</a:t>
            </a:r>
            <a:r>
              <a:rPr lang="en-US" dirty="0"/>
              <a:t>());</a:t>
            </a:r>
          </a:p>
          <a:p>
            <a:r>
              <a:rPr lang="en-US" dirty="0"/>
              <a:t>       counter=</a:t>
            </a:r>
            <a:r>
              <a:rPr lang="en-US" dirty="0" err="1"/>
              <a:t>counter+s.length</a:t>
            </a:r>
            <a:r>
              <a:rPr lang="en-US" dirty="0"/>
              <a:t>();</a:t>
            </a:r>
          </a:p>
          <a:p>
            <a:r>
              <a:rPr lang="en-US" dirty="0"/>
              <a:t>        s="A";</a:t>
            </a:r>
          </a:p>
          <a:p>
            <a:r>
              <a:rPr lang="en-US" dirty="0"/>
              <a:t>       </a:t>
            </a:r>
            <a:r>
              <a:rPr lang="en-US" dirty="0" err="1"/>
              <a:t>bw.write</a:t>
            </a:r>
            <a:r>
              <a:rPr lang="en-US" dirty="0"/>
              <a:t>( s, 0, </a:t>
            </a:r>
            <a:r>
              <a:rPr lang="en-US" dirty="0" err="1"/>
              <a:t>s.length</a:t>
            </a:r>
            <a:r>
              <a:rPr lang="en-US" dirty="0"/>
              <a:t>());</a:t>
            </a:r>
          </a:p>
          <a:p>
            <a:r>
              <a:rPr lang="en-US" dirty="0"/>
              <a:t>       counter=</a:t>
            </a:r>
            <a:r>
              <a:rPr lang="en-US" dirty="0" err="1"/>
              <a:t>counter+s.length</a:t>
            </a:r>
            <a:r>
              <a:rPr lang="en-US" dirty="0"/>
              <a:t>();</a:t>
            </a:r>
          </a:p>
          <a:p>
            <a:r>
              <a:rPr lang="en-US" dirty="0"/>
              <a:t>       </a:t>
            </a:r>
            <a:r>
              <a:rPr lang="en-US" dirty="0" err="1"/>
              <a:t>bw.newLine</a:t>
            </a:r>
            <a:r>
              <a:rPr lang="en-US" dirty="0" smtClean="0"/>
              <a:t>();</a:t>
            </a:r>
          </a:p>
          <a:p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dirty="0" err="1" smtClean="0"/>
              <a:t>bw.flush</a:t>
            </a:r>
            <a:r>
              <a:rPr lang="en-US" dirty="0" smtClean="0"/>
              <a:t>();</a:t>
            </a:r>
          </a:p>
          <a:p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dirty="0" err="1" smtClean="0"/>
              <a:t>bw.close</a:t>
            </a:r>
            <a:r>
              <a:rPr lang="en-US" dirty="0"/>
              <a:t>( );</a:t>
            </a:r>
          </a:p>
          <a:p>
            <a:r>
              <a:rPr lang="en-US" dirty="0"/>
              <a:t>     }</a:t>
            </a:r>
          </a:p>
          <a:p>
            <a:r>
              <a:rPr lang="en-US" dirty="0"/>
              <a:t>	 catch (</a:t>
            </a:r>
            <a:r>
              <a:rPr lang="en-US" dirty="0" err="1"/>
              <a:t>IOException</a:t>
            </a:r>
            <a:r>
              <a:rPr lang="en-US" dirty="0"/>
              <a:t> e)</a:t>
            </a:r>
          </a:p>
          <a:p>
            <a:r>
              <a:rPr lang="en-US" dirty="0"/>
              <a:t>	 {</a:t>
            </a:r>
          </a:p>
          <a:p>
            <a:r>
              <a:rPr lang="en-US" dirty="0"/>
              <a:t>		 </a:t>
            </a:r>
            <a:r>
              <a:rPr lang="en-US" dirty="0" err="1"/>
              <a:t>System.out.println</a:t>
            </a:r>
            <a:r>
              <a:rPr lang="en-US" dirty="0"/>
              <a:t>( "Text errors" );</a:t>
            </a:r>
          </a:p>
          <a:p>
            <a:r>
              <a:rPr lang="en-US" dirty="0"/>
              <a:t>	 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481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58800" y="558799"/>
            <a:ext cx="8166100" cy="7429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Writing Primitive Types to Text Files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819150" y="1466850"/>
            <a:ext cx="7905750" cy="3429000"/>
          </a:xfrm>
        </p:spPr>
        <p:txBody>
          <a:bodyPr>
            <a:normAutofit/>
          </a:bodyPr>
          <a:lstStyle/>
          <a:p>
            <a:r>
              <a:rPr lang="en-US" altLang="en-US" i="1" dirty="0" err="1" smtClean="0">
                <a:cs typeface="Times New Roman" panose="02020603050405020304" pitchFamily="18" charset="0"/>
              </a:rPr>
              <a:t>FileOutputStream</a:t>
            </a:r>
            <a:r>
              <a:rPr lang="en-US" altLang="en-US" dirty="0" smtClean="0">
                <a:cs typeface="Times New Roman" panose="02020603050405020304" pitchFamily="18" charset="0"/>
              </a:rPr>
              <a:t>, a subclass of the </a:t>
            </a:r>
            <a:r>
              <a:rPr lang="en-US" altLang="en-US" i="1" dirty="0" err="1" smtClean="0">
                <a:cs typeface="Times New Roman" panose="02020603050405020304" pitchFamily="18" charset="0"/>
              </a:rPr>
              <a:t>OutputStream</a:t>
            </a:r>
            <a:r>
              <a:rPr lang="en-US" altLang="en-US" i="1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cs typeface="Times New Roman" panose="02020603050405020304" pitchFamily="18" charset="0"/>
              </a:rPr>
              <a:t>class, is designed to write a stream of bytes to a file. </a:t>
            </a:r>
          </a:p>
          <a:p>
            <a:r>
              <a:rPr lang="en-US" altLang="en-US" dirty="0" smtClean="0">
                <a:cs typeface="Times New Roman" panose="02020603050405020304" pitchFamily="18" charset="0"/>
              </a:rPr>
              <a:t>The </a:t>
            </a:r>
            <a:r>
              <a:rPr lang="en-US" altLang="en-US" i="1" dirty="0" err="1" smtClean="0">
                <a:cs typeface="Times New Roman" panose="02020603050405020304" pitchFamily="18" charset="0"/>
              </a:rPr>
              <a:t>PrintWriter</a:t>
            </a:r>
            <a:r>
              <a:rPr lang="en-US" altLang="en-US" dirty="0" smtClean="0">
                <a:cs typeface="Times New Roman" panose="02020603050405020304" pitchFamily="18" charset="0"/>
              </a:rPr>
              <a:t> class is designed for converting primitive data types to characters and writing them to an output stream. </a:t>
            </a:r>
          </a:p>
          <a:p>
            <a:pPr lvl="1" eaLnBrk="1" hangingPunct="1"/>
            <a:r>
              <a:rPr lang="en-US" altLang="en-US" i="1" dirty="0">
                <a:cs typeface="Times New Roman" panose="02020603050405020304" pitchFamily="18" charset="0"/>
              </a:rPr>
              <a:t>print</a:t>
            </a:r>
            <a:r>
              <a:rPr lang="en-US" altLang="en-US" dirty="0">
                <a:cs typeface="Times New Roman" panose="02020603050405020304" pitchFamily="18" charset="0"/>
              </a:rPr>
              <a:t> method, writes data without a newline</a:t>
            </a:r>
          </a:p>
          <a:p>
            <a:pPr lvl="1" eaLnBrk="1" hangingPunct="1"/>
            <a:r>
              <a:rPr lang="en-US" altLang="en-US" i="1" dirty="0" err="1">
                <a:cs typeface="Times New Roman" panose="02020603050405020304" pitchFamily="18" charset="0"/>
              </a:rPr>
              <a:t>println</a:t>
            </a:r>
            <a:r>
              <a:rPr lang="en-US" altLang="en-US" dirty="0">
                <a:cs typeface="Times New Roman" panose="02020603050405020304" pitchFamily="18" charset="0"/>
              </a:rPr>
              <a:t> method, writes data then adds a newline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1EAC9E-22CF-4450-8E4F-5BC683BD6336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05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38150" y="600075"/>
            <a:ext cx="8451850" cy="8001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 </a:t>
            </a:r>
            <a:r>
              <a:rPr lang="en-US" altLang="en-US" dirty="0" smtClean="0"/>
              <a:t>Writing </a:t>
            </a:r>
            <a:r>
              <a:rPr lang="en-US" altLang="en-US" dirty="0"/>
              <a:t>to </a:t>
            </a:r>
            <a:r>
              <a:rPr lang="en-US" altLang="en-US" dirty="0" smtClean="0"/>
              <a:t>Structured </a:t>
            </a:r>
            <a:r>
              <a:rPr lang="en-US" altLang="en-US" dirty="0"/>
              <a:t>Text Files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657350" y="1600200"/>
            <a:ext cx="58293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E7E10A-A6AF-487B-B8EA-73223EC7C5D2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30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57042" name="Group 18"/>
          <p:cNvGraphicFramePr>
            <a:graphicFrameLocks noGrp="1"/>
          </p:cNvGraphicFramePr>
          <p:nvPr/>
        </p:nvGraphicFramePr>
        <p:xfrm>
          <a:off x="1485900" y="2000250"/>
          <a:ext cx="6286500" cy="3744516"/>
        </p:xfrm>
        <a:graphic>
          <a:graphicData uri="http://schemas.openxmlformats.org/drawingml/2006/table">
            <a:tbl>
              <a:tblPr/>
              <a:tblGrid>
                <a:gridCol w="2000250"/>
                <a:gridCol w="4286250"/>
              </a:tblGrid>
              <a:tr h="342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Class</a:t>
                      </a:r>
                    </a:p>
                  </a:txBody>
                  <a:tcPr marL="68580" marR="68580" marT="34291" marB="34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Constructor</a:t>
                      </a:r>
                    </a:p>
                  </a:txBody>
                  <a:tcPr marL="68580" marR="68580"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5009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FileOutputStream</a:t>
                      </a:r>
                    </a:p>
                  </a:txBody>
                  <a:tcPr marL="68580" marR="68580" marT="34291" marB="34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FileOutputStream( String filename,</a:t>
                      </a:r>
                      <a:b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</a:b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          boolean mode ) 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 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constructs a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FileOutputStream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object from a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String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representing the name of a file. If the file does not exist, it is created. If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mode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is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false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, the current contents of the file, if any, will be replaced. If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mode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is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true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, writing will append data to the end of the file. Throws a 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FileNotFoundException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.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</a:t>
                      </a:r>
                    </a:p>
                  </a:txBody>
                  <a:tcPr marL="68580" marR="68580"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06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PrintWriter</a:t>
                      </a:r>
                    </a:p>
                  </a:txBody>
                  <a:tcPr marL="68580" marR="68580" marT="34291" marB="34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PrintWriter</a:t>
                      </a: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( </a:t>
                      </a:r>
                      <a:r>
                        <a:rPr kumimoji="0" lang="en-US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OutputStream</a:t>
                      </a: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kumimoji="0" lang="en-US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os</a:t>
                      </a: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)</a:t>
                      </a: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charset="0"/>
                        </a:rPr>
                        <a:t> 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constructs a </a:t>
                      </a:r>
                      <a:r>
                        <a:rPr kumimoji="0" lang="en-U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PrintWriter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object from an </a:t>
                      </a:r>
                      <a:r>
                        <a:rPr kumimoji="0" lang="en-U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OutputStream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 object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528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Useful </a:t>
            </a:r>
            <a:r>
              <a:rPr lang="en-US" altLang="en-US" i="1" dirty="0" err="1"/>
              <a:t>PrintWriter</a:t>
            </a:r>
            <a:r>
              <a:rPr lang="en-US" altLang="en-US" dirty="0"/>
              <a:t> Methods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69900" y="4857750"/>
            <a:ext cx="8045450" cy="971550"/>
          </a:xfrm>
        </p:spPr>
        <p:txBody>
          <a:bodyPr/>
          <a:lstStyle/>
          <a:p>
            <a:r>
              <a:rPr lang="en-US" altLang="en-US" sz="1800" dirty="0"/>
              <a:t>The argument can be any primitive data type (except </a:t>
            </a:r>
            <a:r>
              <a:rPr lang="en-US" altLang="en-US" sz="1800" i="1" dirty="0"/>
              <a:t>byte</a:t>
            </a:r>
            <a:r>
              <a:rPr lang="en-US" altLang="en-US" sz="1800" dirty="0"/>
              <a:t> or </a:t>
            </a:r>
            <a:r>
              <a:rPr lang="en-US" altLang="en-US" sz="1800" i="1" dirty="0"/>
              <a:t>short</a:t>
            </a:r>
            <a:r>
              <a:rPr lang="en-US" altLang="en-US" sz="1800" dirty="0"/>
              <a:t>), a </a:t>
            </a:r>
            <a:r>
              <a:rPr lang="en-US" altLang="en-US" sz="1800" i="1" dirty="0"/>
              <a:t>char</a:t>
            </a:r>
            <a:r>
              <a:rPr lang="en-US" altLang="en-US" sz="1800" dirty="0"/>
              <a:t> array, or an object.</a:t>
            </a:r>
            <a:endParaRPr lang="en-US" altLang="en-US" sz="1800" i="1" dirty="0"/>
          </a:p>
          <a:p>
            <a:pPr eaLnBrk="1" hangingPunct="1">
              <a:buFontTx/>
              <a:buNone/>
            </a:pPr>
            <a:r>
              <a:rPr lang="en-US" altLang="en-US" sz="1800" i="1" dirty="0">
                <a:solidFill>
                  <a:schemeClr val="tx2"/>
                </a:solidFill>
              </a:rPr>
              <a:t>See Example </a:t>
            </a:r>
            <a:r>
              <a:rPr lang="en-US" altLang="en-US" sz="1800" i="1" dirty="0" smtClean="0">
                <a:solidFill>
                  <a:schemeClr val="tx2"/>
                </a:solidFill>
              </a:rPr>
              <a:t>11.9 </a:t>
            </a:r>
            <a:r>
              <a:rPr lang="en-US" altLang="en-US" sz="1800" i="1" dirty="0">
                <a:solidFill>
                  <a:schemeClr val="tx2"/>
                </a:solidFill>
              </a:rPr>
              <a:t>WriteGradeFile.java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3BBD36-9CE1-476A-A390-ACA8D037198D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31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58073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508782"/>
              </p:ext>
            </p:extLst>
          </p:nvPr>
        </p:nvGraphicFramePr>
        <p:xfrm>
          <a:off x="730250" y="1585521"/>
          <a:ext cx="6527800" cy="2993230"/>
        </p:xfrm>
        <a:graphic>
          <a:graphicData uri="http://schemas.openxmlformats.org/drawingml/2006/table">
            <a:tbl>
              <a:tblPr/>
              <a:tblGrid>
                <a:gridCol w="1394287"/>
                <a:gridCol w="5133513"/>
              </a:tblGrid>
              <a:tr h="3080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Return value</a:t>
                      </a:r>
                    </a:p>
                  </a:txBody>
                  <a:tcPr marL="68580" marR="68580" marT="34284" marB="342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Method name and argument list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8767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</a:t>
                      </a:r>
                    </a:p>
                  </a:txBody>
                  <a:tcPr marL="68580" marR="68580" marT="34284" marB="342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print( dataType argument )</a:t>
                      </a:r>
                      <a:b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</a:b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writes a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String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representation of the argument to an output stream 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16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 </a:t>
                      </a:r>
                    </a:p>
                  </a:txBody>
                  <a:tcPr marL="68580" marR="68580" marT="34284" marB="342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println( dataType argument )</a:t>
                      </a:r>
                      <a:b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</a:b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writes a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String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representation of the argument to an output stream followed by a newline.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67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 </a:t>
                      </a:r>
                    </a:p>
                  </a:txBody>
                  <a:tcPr marL="68580" marR="68580" marT="34284" marB="342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close( )</a:t>
                      </a:r>
                      <a:b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</a:b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Courier New" pitchFamily="49" charset="0"/>
                        </a:rPr>
                        <a:t>releases the resources associated with the </a:t>
                      </a:r>
                      <a:r>
                        <a:rPr kumimoji="0" lang="en-US" sz="18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Courier New" pitchFamily="49" charset="0"/>
                        </a:rPr>
                        <a:t>PrintWriter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Courier New" pitchFamily="49" charset="0"/>
                        </a:rPr>
                        <a:t> object</a:t>
                      </a: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9185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000" y="1792255"/>
            <a:ext cx="450850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public </a:t>
            </a:r>
            <a:r>
              <a:rPr lang="en-US" dirty="0"/>
              <a:t>static void main( String [ ] </a:t>
            </a:r>
            <a:r>
              <a:rPr lang="en-US" dirty="0" err="1"/>
              <a:t>args</a:t>
            </a:r>
            <a:r>
              <a:rPr lang="en-US" dirty="0"/>
              <a:t> )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try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FileOutputStream</a:t>
            </a:r>
            <a:r>
              <a:rPr lang="en-US" dirty="0"/>
              <a:t> </a:t>
            </a:r>
            <a:r>
              <a:rPr lang="en-US" dirty="0" err="1"/>
              <a:t>fos</a:t>
            </a:r>
            <a:r>
              <a:rPr lang="en-US" dirty="0"/>
              <a:t> = new </a:t>
            </a:r>
            <a:r>
              <a:rPr lang="en-US" dirty="0" err="1"/>
              <a:t>FileOutputStream</a:t>
            </a:r>
            <a:endParaRPr lang="en-US" dirty="0"/>
          </a:p>
          <a:p>
            <a:r>
              <a:rPr lang="en-US" dirty="0"/>
              <a:t>               ( "grades.txt", false );</a:t>
            </a:r>
          </a:p>
          <a:p>
            <a:r>
              <a:rPr lang="en-US" dirty="0"/>
              <a:t>       // false means we will be writing to grades.txt,</a:t>
            </a:r>
          </a:p>
          <a:p>
            <a:r>
              <a:rPr lang="en-US" dirty="0"/>
              <a:t>       // rather than appending to </a:t>
            </a:r>
            <a:r>
              <a:rPr lang="en-US" dirty="0" smtClean="0"/>
              <a:t>it</a:t>
            </a:r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PrintWriter</a:t>
            </a:r>
            <a:r>
              <a:rPr lang="en-US" dirty="0"/>
              <a:t> pw = new </a:t>
            </a:r>
            <a:r>
              <a:rPr lang="en-US" dirty="0" err="1"/>
              <a:t>PrintWriter</a:t>
            </a:r>
            <a:r>
              <a:rPr lang="en-US" dirty="0"/>
              <a:t>( </a:t>
            </a:r>
            <a:r>
              <a:rPr lang="en-US" dirty="0" err="1"/>
              <a:t>fos</a:t>
            </a:r>
            <a:r>
              <a:rPr lang="en-US" dirty="0"/>
              <a:t> </a:t>
            </a:r>
            <a:r>
              <a:rPr lang="en-US" dirty="0" smtClean="0"/>
              <a:t>);</a:t>
            </a:r>
            <a:endParaRPr lang="en-US" dirty="0"/>
          </a:p>
          <a:p>
            <a:r>
              <a:rPr lang="en-US" dirty="0"/>
              <a:t>       // write data to the file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"CS130: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( 95 );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"Letter grade: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'A' </a:t>
            </a:r>
            <a:r>
              <a:rPr lang="en-US" dirty="0" smtClean="0"/>
              <a:t>);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1768410"/>
            <a:ext cx="430530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/>
              <a:t>pw.print</a:t>
            </a:r>
            <a:r>
              <a:rPr lang="en-US" dirty="0"/>
              <a:t>( "Current GPA: " );</a:t>
            </a:r>
          </a:p>
          <a:p>
            <a:r>
              <a:rPr lang="en-US" dirty="0" err="1" smtClean="0"/>
              <a:t>pw.println</a:t>
            </a:r>
            <a:r>
              <a:rPr lang="en-US" dirty="0"/>
              <a:t>( 3.68 );</a:t>
            </a:r>
          </a:p>
          <a:p>
            <a:r>
              <a:rPr lang="en-US" dirty="0" err="1" smtClean="0"/>
              <a:t>pw.print</a:t>
            </a:r>
            <a:r>
              <a:rPr lang="en-US" dirty="0"/>
              <a:t>( "Successful student as of Spring </a:t>
            </a:r>
            <a:r>
              <a:rPr lang="en-US" dirty="0" smtClean="0"/>
              <a:t>semester</a:t>
            </a:r>
            <a:r>
              <a:rPr lang="en-US" dirty="0"/>
              <a:t>: " );</a:t>
            </a:r>
          </a:p>
          <a:p>
            <a:r>
              <a:rPr lang="en-US" dirty="0" err="1" smtClean="0"/>
              <a:t>pw.println</a:t>
            </a:r>
            <a:r>
              <a:rPr lang="en-US" dirty="0"/>
              <a:t>( true );</a:t>
            </a:r>
            <a:endParaRPr lang="en-US" dirty="0" smtClean="0"/>
          </a:p>
          <a:p>
            <a:r>
              <a:rPr lang="en-US" dirty="0" smtClean="0"/>
              <a:t>// </a:t>
            </a:r>
            <a:r>
              <a:rPr lang="en-US" dirty="0"/>
              <a:t>release the resources associated with grades.txt</a:t>
            </a:r>
          </a:p>
          <a:p>
            <a:r>
              <a:rPr lang="en-US" dirty="0"/>
              <a:t>       </a:t>
            </a:r>
            <a:r>
              <a:rPr lang="en-US" dirty="0" err="1"/>
              <a:t>pw.close</a:t>
            </a:r>
            <a:r>
              <a:rPr lang="en-US" dirty="0"/>
              <a:t>( );</a:t>
            </a:r>
          </a:p>
          <a:p>
            <a:r>
              <a:rPr lang="en-US" dirty="0"/>
              <a:t>     }</a:t>
            </a:r>
          </a:p>
          <a:p>
            <a:endParaRPr lang="en-US" dirty="0"/>
          </a:p>
          <a:p>
            <a:r>
              <a:rPr lang="en-US" dirty="0"/>
              <a:t>     catch ( </a:t>
            </a:r>
            <a:r>
              <a:rPr lang="en-US" dirty="0" err="1"/>
              <a:t>FileNotFoundException</a:t>
            </a:r>
            <a:r>
              <a:rPr lang="en-US" dirty="0"/>
              <a:t> </a:t>
            </a:r>
            <a:r>
              <a:rPr lang="en-US" dirty="0" err="1"/>
              <a:t>fnfe</a:t>
            </a:r>
            <a:r>
              <a:rPr lang="en-US" dirty="0"/>
              <a:t> )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System.out.println</a:t>
            </a:r>
            <a:r>
              <a:rPr lang="en-US" dirty="0"/>
              <a:t>( "Unable to find grades.txt" );</a:t>
            </a:r>
          </a:p>
          <a:p>
            <a:r>
              <a:rPr lang="en-US" dirty="0"/>
              <a:t>     }</a:t>
            </a:r>
          </a:p>
          <a:p>
            <a:r>
              <a:rPr lang="en-US" dirty="0"/>
              <a:t>   }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58800" y="558799"/>
            <a:ext cx="8166100" cy="7429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Writing Primitive Types to Text Files</a:t>
            </a:r>
          </a:p>
        </p:txBody>
      </p:sp>
    </p:spTree>
    <p:extLst>
      <p:ext uri="{BB962C8B-B14F-4D97-AF65-F5344CB8AC3E}">
        <p14:creationId xmlns:p14="http://schemas.microsoft.com/office/powerpoint/2010/main" val="2247390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000" y="1792255"/>
            <a:ext cx="450850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public </a:t>
            </a:r>
            <a:r>
              <a:rPr lang="en-US" dirty="0"/>
              <a:t>static void main( String [ ] </a:t>
            </a:r>
            <a:r>
              <a:rPr lang="en-US" dirty="0" err="1"/>
              <a:t>args</a:t>
            </a:r>
            <a:r>
              <a:rPr lang="en-US" dirty="0"/>
              <a:t> )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try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FileOutputStream</a:t>
            </a:r>
            <a:r>
              <a:rPr lang="en-US" dirty="0"/>
              <a:t> </a:t>
            </a:r>
            <a:r>
              <a:rPr lang="en-US" dirty="0" err="1"/>
              <a:t>fos</a:t>
            </a:r>
            <a:r>
              <a:rPr lang="en-US" dirty="0"/>
              <a:t> = new </a:t>
            </a:r>
            <a:r>
              <a:rPr lang="en-US" dirty="0" err="1"/>
              <a:t>FileOutputStream</a:t>
            </a:r>
            <a:endParaRPr lang="en-US" dirty="0"/>
          </a:p>
          <a:p>
            <a:r>
              <a:rPr lang="en-US" dirty="0"/>
              <a:t>               ( "grades.txt", false );</a:t>
            </a:r>
          </a:p>
          <a:p>
            <a:r>
              <a:rPr lang="en-US" dirty="0"/>
              <a:t>       // false means we will be writing to grades.txt,</a:t>
            </a:r>
          </a:p>
          <a:p>
            <a:r>
              <a:rPr lang="en-US" dirty="0"/>
              <a:t>       // rather than appending to </a:t>
            </a:r>
            <a:r>
              <a:rPr lang="en-US" dirty="0" smtClean="0"/>
              <a:t>it</a:t>
            </a:r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PrintWriter</a:t>
            </a:r>
            <a:r>
              <a:rPr lang="en-US" dirty="0"/>
              <a:t> pw = new </a:t>
            </a:r>
            <a:r>
              <a:rPr lang="en-US" dirty="0" err="1"/>
              <a:t>PrintWriter</a:t>
            </a:r>
            <a:r>
              <a:rPr lang="en-US" dirty="0"/>
              <a:t>( </a:t>
            </a:r>
            <a:r>
              <a:rPr lang="en-US" dirty="0" err="1"/>
              <a:t>fos</a:t>
            </a:r>
            <a:r>
              <a:rPr lang="en-US" dirty="0"/>
              <a:t> </a:t>
            </a:r>
            <a:r>
              <a:rPr lang="en-US" dirty="0" smtClean="0"/>
              <a:t>);</a:t>
            </a:r>
            <a:endParaRPr lang="en-US" dirty="0"/>
          </a:p>
          <a:p>
            <a:r>
              <a:rPr lang="en-US" dirty="0"/>
              <a:t>       // write data to the file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"CS130: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( 95 );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"Letter grade: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'A' </a:t>
            </a:r>
            <a:r>
              <a:rPr lang="en-US" dirty="0" smtClean="0"/>
              <a:t>);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1768410"/>
            <a:ext cx="430530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/>
              <a:t>pw.print</a:t>
            </a:r>
            <a:r>
              <a:rPr lang="en-US" dirty="0"/>
              <a:t>( "Current GPA: " );</a:t>
            </a:r>
          </a:p>
          <a:p>
            <a:r>
              <a:rPr lang="en-US" dirty="0" err="1" smtClean="0"/>
              <a:t>pw.println</a:t>
            </a:r>
            <a:r>
              <a:rPr lang="en-US" dirty="0"/>
              <a:t>( 3.68 );</a:t>
            </a:r>
          </a:p>
          <a:p>
            <a:r>
              <a:rPr lang="en-US" dirty="0" err="1" smtClean="0"/>
              <a:t>pw.print</a:t>
            </a:r>
            <a:r>
              <a:rPr lang="en-US" dirty="0"/>
              <a:t>( "Successful student as of Spring </a:t>
            </a:r>
            <a:r>
              <a:rPr lang="en-US" dirty="0" smtClean="0"/>
              <a:t>semester</a:t>
            </a:r>
            <a:r>
              <a:rPr lang="en-US" dirty="0"/>
              <a:t>: " );</a:t>
            </a:r>
          </a:p>
          <a:p>
            <a:r>
              <a:rPr lang="en-US" dirty="0" err="1" smtClean="0"/>
              <a:t>pw.println</a:t>
            </a:r>
            <a:r>
              <a:rPr lang="en-US" dirty="0"/>
              <a:t>( true );</a:t>
            </a:r>
            <a:endParaRPr lang="en-US" dirty="0" smtClean="0"/>
          </a:p>
          <a:p>
            <a:r>
              <a:rPr lang="en-US" dirty="0" smtClean="0"/>
              <a:t>// </a:t>
            </a:r>
            <a:r>
              <a:rPr lang="en-US" dirty="0"/>
              <a:t>release the resources associated with grades.txt</a:t>
            </a:r>
          </a:p>
          <a:p>
            <a:r>
              <a:rPr lang="en-US" dirty="0"/>
              <a:t>       </a:t>
            </a:r>
            <a:r>
              <a:rPr lang="en-US" dirty="0" err="1"/>
              <a:t>pw.close</a:t>
            </a:r>
            <a:r>
              <a:rPr lang="en-US" dirty="0"/>
              <a:t>( );</a:t>
            </a:r>
          </a:p>
          <a:p>
            <a:r>
              <a:rPr lang="en-US" dirty="0"/>
              <a:t>     }</a:t>
            </a:r>
          </a:p>
          <a:p>
            <a:endParaRPr lang="en-US" dirty="0"/>
          </a:p>
          <a:p>
            <a:r>
              <a:rPr lang="en-US" dirty="0"/>
              <a:t>     catch ( </a:t>
            </a:r>
            <a:r>
              <a:rPr lang="en-US" dirty="0" err="1"/>
              <a:t>FileNotFoundException</a:t>
            </a:r>
            <a:r>
              <a:rPr lang="en-US" dirty="0"/>
              <a:t> </a:t>
            </a:r>
            <a:r>
              <a:rPr lang="en-US" dirty="0" err="1"/>
              <a:t>fnfe</a:t>
            </a:r>
            <a:r>
              <a:rPr lang="en-US" dirty="0"/>
              <a:t> )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System.out.println</a:t>
            </a:r>
            <a:r>
              <a:rPr lang="en-US" dirty="0"/>
              <a:t>( "Unable to find grades.txt" );</a:t>
            </a:r>
          </a:p>
          <a:p>
            <a:r>
              <a:rPr lang="en-US" dirty="0"/>
              <a:t>     }</a:t>
            </a:r>
          </a:p>
          <a:p>
            <a:r>
              <a:rPr lang="en-US" dirty="0"/>
              <a:t>   }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58800" y="558799"/>
            <a:ext cx="8166100" cy="7429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Writing Primitive Types to Text Files</a:t>
            </a:r>
          </a:p>
        </p:txBody>
      </p:sp>
      <p:sp>
        <p:nvSpPr>
          <p:cNvPr id="2" name="Line Callout 1 1"/>
          <p:cNvSpPr/>
          <p:nvPr/>
        </p:nvSpPr>
        <p:spPr>
          <a:xfrm>
            <a:off x="4330700" y="2476500"/>
            <a:ext cx="3365500" cy="1485900"/>
          </a:xfrm>
          <a:prstGeom prst="borderCallout1">
            <a:avLst>
              <a:gd name="adj1" fmla="val 18750"/>
              <a:gd name="adj2" fmla="val -8333"/>
              <a:gd name="adj3" fmla="val 71859"/>
              <a:gd name="adj4" fmla="val -500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/>
              <a:t>Use a </a:t>
            </a:r>
            <a:r>
              <a:rPr lang="en-US" dirty="0" err="1" smtClean="0"/>
              <a:t>FileOutputStream</a:t>
            </a:r>
            <a:r>
              <a:rPr lang="en-US" dirty="0" smtClean="0"/>
              <a:t>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parameter is “false” which deletes the existing content of the file</a:t>
            </a:r>
          </a:p>
        </p:txBody>
      </p:sp>
    </p:spTree>
    <p:extLst>
      <p:ext uri="{BB962C8B-B14F-4D97-AF65-F5344CB8AC3E}">
        <p14:creationId xmlns:p14="http://schemas.microsoft.com/office/powerpoint/2010/main" val="26760933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000" y="1792255"/>
            <a:ext cx="450850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public </a:t>
            </a:r>
            <a:r>
              <a:rPr lang="en-US" dirty="0"/>
              <a:t>static void main( String [ ] </a:t>
            </a:r>
            <a:r>
              <a:rPr lang="en-US" dirty="0" err="1"/>
              <a:t>args</a:t>
            </a:r>
            <a:r>
              <a:rPr lang="en-US" dirty="0"/>
              <a:t> )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try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FileOutputStream</a:t>
            </a:r>
            <a:r>
              <a:rPr lang="en-US" dirty="0"/>
              <a:t> </a:t>
            </a:r>
            <a:r>
              <a:rPr lang="en-US" dirty="0" err="1"/>
              <a:t>fos</a:t>
            </a:r>
            <a:r>
              <a:rPr lang="en-US" dirty="0"/>
              <a:t> = new </a:t>
            </a:r>
            <a:r>
              <a:rPr lang="en-US" dirty="0" err="1"/>
              <a:t>FileOutputStream</a:t>
            </a:r>
            <a:endParaRPr lang="en-US" dirty="0"/>
          </a:p>
          <a:p>
            <a:r>
              <a:rPr lang="en-US" dirty="0"/>
              <a:t>               ( "grades.txt", false );</a:t>
            </a:r>
          </a:p>
          <a:p>
            <a:r>
              <a:rPr lang="en-US" dirty="0"/>
              <a:t>       // false means we will be writing to grades.txt,</a:t>
            </a:r>
          </a:p>
          <a:p>
            <a:r>
              <a:rPr lang="en-US" dirty="0"/>
              <a:t>       // rather than appending to </a:t>
            </a:r>
            <a:r>
              <a:rPr lang="en-US" dirty="0" smtClean="0"/>
              <a:t>it</a:t>
            </a:r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PrintWriter</a:t>
            </a:r>
            <a:r>
              <a:rPr lang="en-US" dirty="0"/>
              <a:t> pw = new </a:t>
            </a:r>
            <a:r>
              <a:rPr lang="en-US" dirty="0" err="1"/>
              <a:t>PrintWriter</a:t>
            </a:r>
            <a:r>
              <a:rPr lang="en-US" dirty="0"/>
              <a:t>( </a:t>
            </a:r>
            <a:r>
              <a:rPr lang="en-US" dirty="0" err="1"/>
              <a:t>fos</a:t>
            </a:r>
            <a:r>
              <a:rPr lang="en-US" dirty="0"/>
              <a:t> </a:t>
            </a:r>
            <a:r>
              <a:rPr lang="en-US" dirty="0" smtClean="0"/>
              <a:t>);</a:t>
            </a:r>
            <a:endParaRPr lang="en-US" dirty="0"/>
          </a:p>
          <a:p>
            <a:r>
              <a:rPr lang="en-US" dirty="0"/>
              <a:t>       // write data to the file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"CS130: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( 95 );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"Letter grade: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'A' </a:t>
            </a:r>
            <a:r>
              <a:rPr lang="en-US" dirty="0" smtClean="0"/>
              <a:t>);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1768410"/>
            <a:ext cx="430530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/>
              <a:t>pw.print</a:t>
            </a:r>
            <a:r>
              <a:rPr lang="en-US" dirty="0"/>
              <a:t>( "Current GPA: " );</a:t>
            </a:r>
          </a:p>
          <a:p>
            <a:r>
              <a:rPr lang="en-US" dirty="0" err="1" smtClean="0"/>
              <a:t>pw.println</a:t>
            </a:r>
            <a:r>
              <a:rPr lang="en-US" dirty="0"/>
              <a:t>( 3.68 );</a:t>
            </a:r>
          </a:p>
          <a:p>
            <a:r>
              <a:rPr lang="en-US" dirty="0" err="1" smtClean="0"/>
              <a:t>pw.print</a:t>
            </a:r>
            <a:r>
              <a:rPr lang="en-US" dirty="0"/>
              <a:t>( "Successful student as of Spring </a:t>
            </a:r>
            <a:r>
              <a:rPr lang="en-US" dirty="0" smtClean="0"/>
              <a:t>semester</a:t>
            </a:r>
            <a:r>
              <a:rPr lang="en-US" dirty="0"/>
              <a:t>: " );</a:t>
            </a:r>
          </a:p>
          <a:p>
            <a:r>
              <a:rPr lang="en-US" dirty="0" err="1" smtClean="0"/>
              <a:t>pw.println</a:t>
            </a:r>
            <a:r>
              <a:rPr lang="en-US" dirty="0"/>
              <a:t>( true );</a:t>
            </a:r>
            <a:endParaRPr lang="en-US" dirty="0" smtClean="0"/>
          </a:p>
          <a:p>
            <a:r>
              <a:rPr lang="en-US" dirty="0" smtClean="0"/>
              <a:t>// </a:t>
            </a:r>
            <a:r>
              <a:rPr lang="en-US" dirty="0"/>
              <a:t>release the resources associated with grades.txt</a:t>
            </a:r>
          </a:p>
          <a:p>
            <a:r>
              <a:rPr lang="en-US" dirty="0"/>
              <a:t>       </a:t>
            </a:r>
            <a:r>
              <a:rPr lang="en-US" dirty="0" err="1"/>
              <a:t>pw.close</a:t>
            </a:r>
            <a:r>
              <a:rPr lang="en-US" dirty="0"/>
              <a:t>( );</a:t>
            </a:r>
          </a:p>
          <a:p>
            <a:r>
              <a:rPr lang="en-US" dirty="0"/>
              <a:t>     }</a:t>
            </a:r>
          </a:p>
          <a:p>
            <a:endParaRPr lang="en-US" dirty="0"/>
          </a:p>
          <a:p>
            <a:r>
              <a:rPr lang="en-US" dirty="0"/>
              <a:t>     catch ( </a:t>
            </a:r>
            <a:r>
              <a:rPr lang="en-US" dirty="0" err="1"/>
              <a:t>FileNotFoundException</a:t>
            </a:r>
            <a:r>
              <a:rPr lang="en-US" dirty="0"/>
              <a:t> </a:t>
            </a:r>
            <a:r>
              <a:rPr lang="en-US" dirty="0" err="1"/>
              <a:t>fnfe</a:t>
            </a:r>
            <a:r>
              <a:rPr lang="en-US" dirty="0"/>
              <a:t> )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System.out.println</a:t>
            </a:r>
            <a:r>
              <a:rPr lang="en-US" dirty="0"/>
              <a:t>( "Unable to find grades.txt" );</a:t>
            </a:r>
          </a:p>
          <a:p>
            <a:r>
              <a:rPr lang="en-US" dirty="0"/>
              <a:t>     }</a:t>
            </a:r>
          </a:p>
          <a:p>
            <a:r>
              <a:rPr lang="en-US" dirty="0"/>
              <a:t>   }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58800" y="558799"/>
            <a:ext cx="8166100" cy="7429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Writing Primitive Types to Text Files</a:t>
            </a:r>
          </a:p>
        </p:txBody>
      </p:sp>
      <p:sp>
        <p:nvSpPr>
          <p:cNvPr id="2" name="Line Callout 1 1"/>
          <p:cNvSpPr/>
          <p:nvPr/>
        </p:nvSpPr>
        <p:spPr>
          <a:xfrm>
            <a:off x="4483100" y="3556000"/>
            <a:ext cx="3365500" cy="1041400"/>
          </a:xfrm>
          <a:prstGeom prst="borderCallout1">
            <a:avLst>
              <a:gd name="adj1" fmla="val 18750"/>
              <a:gd name="adj2" fmla="val -8333"/>
              <a:gd name="adj3" fmla="val 104786"/>
              <a:gd name="adj4" fmla="val -421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a </a:t>
            </a:r>
            <a:r>
              <a:rPr lang="en-US" dirty="0" err="1" smtClean="0"/>
              <a:t>PrintWriter</a:t>
            </a:r>
            <a:r>
              <a:rPr lang="en-US" dirty="0" smtClean="0"/>
              <a:t> object with a </a:t>
            </a:r>
            <a:r>
              <a:rPr lang="en-US" dirty="0" err="1" smtClean="0"/>
              <a:t>FileOutputStream</a:t>
            </a:r>
            <a:r>
              <a:rPr lang="en-US" dirty="0" smtClean="0"/>
              <a:t> object to write into a text file</a:t>
            </a:r>
          </a:p>
        </p:txBody>
      </p:sp>
    </p:spTree>
    <p:extLst>
      <p:ext uri="{BB962C8B-B14F-4D97-AF65-F5344CB8AC3E}">
        <p14:creationId xmlns:p14="http://schemas.microsoft.com/office/powerpoint/2010/main" val="16579550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000" y="1792255"/>
            <a:ext cx="450850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public </a:t>
            </a:r>
            <a:r>
              <a:rPr lang="en-US" dirty="0"/>
              <a:t>static void main( String [ ] </a:t>
            </a:r>
            <a:r>
              <a:rPr lang="en-US" dirty="0" err="1"/>
              <a:t>args</a:t>
            </a:r>
            <a:r>
              <a:rPr lang="en-US" dirty="0"/>
              <a:t> )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try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FileOutputStream</a:t>
            </a:r>
            <a:r>
              <a:rPr lang="en-US" dirty="0"/>
              <a:t> </a:t>
            </a:r>
            <a:r>
              <a:rPr lang="en-US" dirty="0" err="1"/>
              <a:t>fos</a:t>
            </a:r>
            <a:r>
              <a:rPr lang="en-US" dirty="0"/>
              <a:t> = new </a:t>
            </a:r>
            <a:r>
              <a:rPr lang="en-US" dirty="0" err="1"/>
              <a:t>FileOutputStream</a:t>
            </a:r>
            <a:endParaRPr lang="en-US" dirty="0"/>
          </a:p>
          <a:p>
            <a:r>
              <a:rPr lang="en-US" dirty="0"/>
              <a:t>               ( "grades.txt", false );</a:t>
            </a:r>
          </a:p>
          <a:p>
            <a:r>
              <a:rPr lang="en-US" dirty="0"/>
              <a:t>       // false means we will be writing to grades.txt,</a:t>
            </a:r>
          </a:p>
          <a:p>
            <a:r>
              <a:rPr lang="en-US" dirty="0"/>
              <a:t>       // rather than appending to </a:t>
            </a:r>
            <a:r>
              <a:rPr lang="en-US" dirty="0" smtClean="0"/>
              <a:t>it</a:t>
            </a:r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PrintWriter</a:t>
            </a:r>
            <a:r>
              <a:rPr lang="en-US" dirty="0"/>
              <a:t> pw = new </a:t>
            </a:r>
            <a:r>
              <a:rPr lang="en-US" dirty="0" err="1"/>
              <a:t>PrintWriter</a:t>
            </a:r>
            <a:r>
              <a:rPr lang="en-US" dirty="0"/>
              <a:t>( </a:t>
            </a:r>
            <a:r>
              <a:rPr lang="en-US" dirty="0" err="1"/>
              <a:t>fos</a:t>
            </a:r>
            <a:r>
              <a:rPr lang="en-US" dirty="0"/>
              <a:t> </a:t>
            </a:r>
            <a:r>
              <a:rPr lang="en-US" dirty="0" smtClean="0"/>
              <a:t>);</a:t>
            </a:r>
            <a:endParaRPr lang="en-US" dirty="0"/>
          </a:p>
          <a:p>
            <a:r>
              <a:rPr lang="en-US" dirty="0"/>
              <a:t>       // write data to the file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"CS130: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( 95 );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"Letter grade: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'A' </a:t>
            </a:r>
            <a:r>
              <a:rPr lang="en-US" dirty="0" smtClean="0"/>
              <a:t>);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1768410"/>
            <a:ext cx="430530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/>
              <a:t>pw.print</a:t>
            </a:r>
            <a:r>
              <a:rPr lang="en-US" dirty="0"/>
              <a:t>( "Current GPA: " );</a:t>
            </a:r>
          </a:p>
          <a:p>
            <a:r>
              <a:rPr lang="en-US" dirty="0" err="1" smtClean="0"/>
              <a:t>pw.println</a:t>
            </a:r>
            <a:r>
              <a:rPr lang="en-US" dirty="0"/>
              <a:t>( 3.68 );</a:t>
            </a:r>
          </a:p>
          <a:p>
            <a:r>
              <a:rPr lang="en-US" dirty="0" err="1" smtClean="0"/>
              <a:t>pw.print</a:t>
            </a:r>
            <a:r>
              <a:rPr lang="en-US" dirty="0"/>
              <a:t>( "Successful student as of Spring </a:t>
            </a:r>
            <a:r>
              <a:rPr lang="en-US" dirty="0" smtClean="0"/>
              <a:t>semester</a:t>
            </a:r>
            <a:r>
              <a:rPr lang="en-US" dirty="0"/>
              <a:t>: " );</a:t>
            </a:r>
          </a:p>
          <a:p>
            <a:r>
              <a:rPr lang="en-US" dirty="0" err="1" smtClean="0"/>
              <a:t>pw.println</a:t>
            </a:r>
            <a:r>
              <a:rPr lang="en-US" dirty="0"/>
              <a:t>( true );</a:t>
            </a:r>
            <a:endParaRPr lang="en-US" dirty="0" smtClean="0"/>
          </a:p>
          <a:p>
            <a:r>
              <a:rPr lang="en-US" dirty="0" smtClean="0"/>
              <a:t>// </a:t>
            </a:r>
            <a:r>
              <a:rPr lang="en-US" dirty="0"/>
              <a:t>release the resources associated with grades.txt</a:t>
            </a:r>
          </a:p>
          <a:p>
            <a:r>
              <a:rPr lang="en-US" dirty="0"/>
              <a:t>       </a:t>
            </a:r>
            <a:r>
              <a:rPr lang="en-US" dirty="0" err="1"/>
              <a:t>pw.close</a:t>
            </a:r>
            <a:r>
              <a:rPr lang="en-US" dirty="0"/>
              <a:t>( );</a:t>
            </a:r>
          </a:p>
          <a:p>
            <a:r>
              <a:rPr lang="en-US" dirty="0"/>
              <a:t>     }</a:t>
            </a:r>
          </a:p>
          <a:p>
            <a:endParaRPr lang="en-US" dirty="0"/>
          </a:p>
          <a:p>
            <a:r>
              <a:rPr lang="en-US" dirty="0"/>
              <a:t>     catch ( </a:t>
            </a:r>
            <a:r>
              <a:rPr lang="en-US" dirty="0" err="1"/>
              <a:t>FileNotFoundException</a:t>
            </a:r>
            <a:r>
              <a:rPr lang="en-US" dirty="0"/>
              <a:t> </a:t>
            </a:r>
            <a:r>
              <a:rPr lang="en-US" dirty="0" err="1"/>
              <a:t>fnfe</a:t>
            </a:r>
            <a:r>
              <a:rPr lang="en-US" dirty="0"/>
              <a:t> )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System.out.println</a:t>
            </a:r>
            <a:r>
              <a:rPr lang="en-US" dirty="0"/>
              <a:t>( "Unable to find grades.txt" );</a:t>
            </a:r>
          </a:p>
          <a:p>
            <a:r>
              <a:rPr lang="en-US" dirty="0"/>
              <a:t>     }</a:t>
            </a:r>
          </a:p>
          <a:p>
            <a:r>
              <a:rPr lang="en-US" dirty="0"/>
              <a:t>   }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58800" y="558799"/>
            <a:ext cx="8166100" cy="7429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Writing Primitive Types to Text Files</a:t>
            </a:r>
          </a:p>
        </p:txBody>
      </p:sp>
      <p:sp>
        <p:nvSpPr>
          <p:cNvPr id="2" name="Line Callout 1 1"/>
          <p:cNvSpPr/>
          <p:nvPr/>
        </p:nvSpPr>
        <p:spPr>
          <a:xfrm>
            <a:off x="4483100" y="3556000"/>
            <a:ext cx="3365500" cy="723900"/>
          </a:xfrm>
          <a:prstGeom prst="borderCallout1">
            <a:avLst>
              <a:gd name="adj1" fmla="val 18750"/>
              <a:gd name="adj2" fmla="val -8333"/>
              <a:gd name="adj3" fmla="val 222437"/>
              <a:gd name="adj4" fmla="val -960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</a:t>
            </a:r>
            <a:r>
              <a:rPr lang="en-US" dirty="0" smtClean="0"/>
              <a:t>rint(), </a:t>
            </a:r>
            <a:r>
              <a:rPr lang="en-US" dirty="0" err="1" smtClean="0"/>
              <a:t>println</a:t>
            </a:r>
            <a:r>
              <a:rPr lang="en-US" dirty="0" smtClean="0"/>
              <a:t>() method to write data</a:t>
            </a:r>
          </a:p>
        </p:txBody>
      </p:sp>
    </p:spTree>
    <p:extLst>
      <p:ext uri="{BB962C8B-B14F-4D97-AF65-F5344CB8AC3E}">
        <p14:creationId xmlns:p14="http://schemas.microsoft.com/office/powerpoint/2010/main" val="3616484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000" y="1792255"/>
            <a:ext cx="450850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public </a:t>
            </a:r>
            <a:r>
              <a:rPr lang="en-US" dirty="0"/>
              <a:t>static void main( String [ ] </a:t>
            </a:r>
            <a:r>
              <a:rPr lang="en-US" dirty="0" err="1"/>
              <a:t>args</a:t>
            </a:r>
            <a:r>
              <a:rPr lang="en-US" dirty="0"/>
              <a:t> )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try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FileOutputStream</a:t>
            </a:r>
            <a:r>
              <a:rPr lang="en-US" dirty="0"/>
              <a:t> </a:t>
            </a:r>
            <a:r>
              <a:rPr lang="en-US" dirty="0" err="1"/>
              <a:t>fos</a:t>
            </a:r>
            <a:r>
              <a:rPr lang="en-US" dirty="0"/>
              <a:t> = new </a:t>
            </a:r>
            <a:r>
              <a:rPr lang="en-US" dirty="0" err="1"/>
              <a:t>FileOutputStream</a:t>
            </a:r>
            <a:endParaRPr lang="en-US" dirty="0"/>
          </a:p>
          <a:p>
            <a:r>
              <a:rPr lang="en-US" dirty="0"/>
              <a:t>               ( "grades.txt", false );</a:t>
            </a:r>
          </a:p>
          <a:p>
            <a:r>
              <a:rPr lang="en-US" dirty="0"/>
              <a:t>       // false means we will be writing to grades.txt,</a:t>
            </a:r>
          </a:p>
          <a:p>
            <a:r>
              <a:rPr lang="en-US" dirty="0"/>
              <a:t>       // rather than appending to </a:t>
            </a:r>
            <a:r>
              <a:rPr lang="en-US" dirty="0" smtClean="0"/>
              <a:t>it</a:t>
            </a:r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PrintWriter</a:t>
            </a:r>
            <a:r>
              <a:rPr lang="en-US" dirty="0"/>
              <a:t> pw = new </a:t>
            </a:r>
            <a:r>
              <a:rPr lang="en-US" dirty="0" err="1"/>
              <a:t>PrintWriter</a:t>
            </a:r>
            <a:r>
              <a:rPr lang="en-US" dirty="0"/>
              <a:t>( </a:t>
            </a:r>
            <a:r>
              <a:rPr lang="en-US" dirty="0" err="1"/>
              <a:t>fos</a:t>
            </a:r>
            <a:r>
              <a:rPr lang="en-US" dirty="0"/>
              <a:t> </a:t>
            </a:r>
            <a:r>
              <a:rPr lang="en-US" dirty="0" smtClean="0"/>
              <a:t>);</a:t>
            </a:r>
            <a:endParaRPr lang="en-US" dirty="0"/>
          </a:p>
          <a:p>
            <a:r>
              <a:rPr lang="en-US" dirty="0"/>
              <a:t>       // write data to the file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"CS130: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( 95 );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"Letter grade: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'A' </a:t>
            </a:r>
            <a:r>
              <a:rPr lang="en-US" dirty="0" smtClean="0"/>
              <a:t>);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1768410"/>
            <a:ext cx="430530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/>
              <a:t>pw.print</a:t>
            </a:r>
            <a:r>
              <a:rPr lang="en-US" dirty="0"/>
              <a:t>( "Current GPA: " );</a:t>
            </a:r>
          </a:p>
          <a:p>
            <a:r>
              <a:rPr lang="en-US" dirty="0" err="1" smtClean="0"/>
              <a:t>pw.println</a:t>
            </a:r>
            <a:r>
              <a:rPr lang="en-US" dirty="0"/>
              <a:t>( 3.68 );</a:t>
            </a:r>
          </a:p>
          <a:p>
            <a:r>
              <a:rPr lang="en-US" dirty="0" err="1" smtClean="0"/>
              <a:t>pw.print</a:t>
            </a:r>
            <a:r>
              <a:rPr lang="en-US" dirty="0"/>
              <a:t>( "Successful student as of Spring </a:t>
            </a:r>
            <a:r>
              <a:rPr lang="en-US" dirty="0" smtClean="0"/>
              <a:t>semester</a:t>
            </a:r>
            <a:r>
              <a:rPr lang="en-US" dirty="0"/>
              <a:t>: " );</a:t>
            </a:r>
          </a:p>
          <a:p>
            <a:r>
              <a:rPr lang="en-US" dirty="0" err="1" smtClean="0"/>
              <a:t>pw.println</a:t>
            </a:r>
            <a:r>
              <a:rPr lang="en-US" dirty="0"/>
              <a:t>( true );</a:t>
            </a:r>
            <a:endParaRPr lang="en-US" dirty="0" smtClean="0"/>
          </a:p>
          <a:p>
            <a:r>
              <a:rPr lang="en-US" dirty="0" smtClean="0"/>
              <a:t>// </a:t>
            </a:r>
            <a:r>
              <a:rPr lang="en-US" dirty="0"/>
              <a:t>release the resources associated with grades.txt</a:t>
            </a:r>
          </a:p>
          <a:p>
            <a:r>
              <a:rPr lang="en-US" dirty="0"/>
              <a:t>       </a:t>
            </a:r>
            <a:r>
              <a:rPr lang="en-US" dirty="0" err="1"/>
              <a:t>pw.close</a:t>
            </a:r>
            <a:r>
              <a:rPr lang="en-US" dirty="0"/>
              <a:t>( );</a:t>
            </a:r>
          </a:p>
          <a:p>
            <a:r>
              <a:rPr lang="en-US" dirty="0"/>
              <a:t>     }</a:t>
            </a:r>
          </a:p>
          <a:p>
            <a:endParaRPr lang="en-US" dirty="0"/>
          </a:p>
          <a:p>
            <a:r>
              <a:rPr lang="en-US" dirty="0"/>
              <a:t>     catch ( </a:t>
            </a:r>
            <a:r>
              <a:rPr lang="en-US" dirty="0" err="1"/>
              <a:t>FileNotFoundException</a:t>
            </a:r>
            <a:r>
              <a:rPr lang="en-US" dirty="0"/>
              <a:t> </a:t>
            </a:r>
            <a:r>
              <a:rPr lang="en-US" dirty="0" err="1"/>
              <a:t>fnfe</a:t>
            </a:r>
            <a:r>
              <a:rPr lang="en-US" dirty="0"/>
              <a:t> )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System.out.println</a:t>
            </a:r>
            <a:r>
              <a:rPr lang="en-US" dirty="0"/>
              <a:t>( "Unable to find grades.txt" );</a:t>
            </a:r>
          </a:p>
          <a:p>
            <a:r>
              <a:rPr lang="en-US" dirty="0"/>
              <a:t>     }</a:t>
            </a:r>
          </a:p>
          <a:p>
            <a:r>
              <a:rPr lang="en-US" dirty="0"/>
              <a:t>   }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58800" y="558799"/>
            <a:ext cx="8166100" cy="7429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Writing Primitive Types to Text Files</a:t>
            </a:r>
          </a:p>
        </p:txBody>
      </p:sp>
      <p:sp>
        <p:nvSpPr>
          <p:cNvPr id="2" name="Line Callout 1 1"/>
          <p:cNvSpPr/>
          <p:nvPr/>
        </p:nvSpPr>
        <p:spPr>
          <a:xfrm>
            <a:off x="1092200" y="5270500"/>
            <a:ext cx="3365500" cy="457200"/>
          </a:xfrm>
          <a:prstGeom prst="borderCallout1">
            <a:avLst>
              <a:gd name="adj1" fmla="val -12829"/>
              <a:gd name="adj2" fmla="val 101101"/>
              <a:gd name="adj3" fmla="val -270984"/>
              <a:gd name="adj4" fmla="val 1216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Close the </a:t>
            </a:r>
            <a:r>
              <a:rPr lang="en-US" dirty="0" err="1" smtClean="0"/>
              <a:t>PrintWriter</a:t>
            </a:r>
            <a:r>
              <a:rPr lang="en-US" dirty="0" smtClean="0"/>
              <a:t> object</a:t>
            </a:r>
          </a:p>
        </p:txBody>
      </p:sp>
    </p:spTree>
    <p:extLst>
      <p:ext uri="{BB962C8B-B14F-4D97-AF65-F5344CB8AC3E}">
        <p14:creationId xmlns:p14="http://schemas.microsoft.com/office/powerpoint/2010/main" val="4078894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000" y="1792255"/>
            <a:ext cx="450850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public </a:t>
            </a:r>
            <a:r>
              <a:rPr lang="en-US" dirty="0"/>
              <a:t>static void main( String [ ] </a:t>
            </a:r>
            <a:r>
              <a:rPr lang="en-US" dirty="0" err="1"/>
              <a:t>args</a:t>
            </a:r>
            <a:r>
              <a:rPr lang="en-US" dirty="0"/>
              <a:t> )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try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FileOutputStream</a:t>
            </a:r>
            <a:r>
              <a:rPr lang="en-US" dirty="0"/>
              <a:t> </a:t>
            </a:r>
            <a:r>
              <a:rPr lang="en-US" dirty="0" err="1"/>
              <a:t>fos</a:t>
            </a:r>
            <a:r>
              <a:rPr lang="en-US" dirty="0"/>
              <a:t> = new </a:t>
            </a:r>
            <a:r>
              <a:rPr lang="en-US" dirty="0" err="1"/>
              <a:t>FileOutputStream</a:t>
            </a:r>
            <a:endParaRPr lang="en-US" dirty="0"/>
          </a:p>
          <a:p>
            <a:r>
              <a:rPr lang="en-US" dirty="0"/>
              <a:t>               ( "grades.txt", </a:t>
            </a:r>
            <a:r>
              <a:rPr lang="en-US" dirty="0" smtClean="0"/>
              <a:t>true </a:t>
            </a:r>
            <a:r>
              <a:rPr lang="en-US" dirty="0"/>
              <a:t>);</a:t>
            </a:r>
          </a:p>
          <a:p>
            <a:r>
              <a:rPr lang="en-US" dirty="0"/>
              <a:t>       // false means we will be writing to grades.txt,</a:t>
            </a:r>
          </a:p>
          <a:p>
            <a:r>
              <a:rPr lang="en-US" dirty="0"/>
              <a:t>       // rather than appending to </a:t>
            </a:r>
            <a:r>
              <a:rPr lang="en-US" dirty="0" smtClean="0"/>
              <a:t>it</a:t>
            </a:r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PrintWriter</a:t>
            </a:r>
            <a:r>
              <a:rPr lang="en-US" dirty="0"/>
              <a:t> pw = new </a:t>
            </a:r>
            <a:r>
              <a:rPr lang="en-US" dirty="0" err="1"/>
              <a:t>PrintWriter</a:t>
            </a:r>
            <a:r>
              <a:rPr lang="en-US" dirty="0"/>
              <a:t>( </a:t>
            </a:r>
            <a:r>
              <a:rPr lang="en-US" dirty="0" err="1"/>
              <a:t>fos</a:t>
            </a:r>
            <a:r>
              <a:rPr lang="en-US" dirty="0"/>
              <a:t> </a:t>
            </a:r>
            <a:r>
              <a:rPr lang="en-US" dirty="0" smtClean="0"/>
              <a:t>);</a:t>
            </a:r>
            <a:endParaRPr lang="en-US" dirty="0"/>
          </a:p>
          <a:p>
            <a:r>
              <a:rPr lang="en-US" dirty="0"/>
              <a:t>       // write data to the file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"CS130: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( 95 );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"Letter grade: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'A' </a:t>
            </a:r>
            <a:r>
              <a:rPr lang="en-US" dirty="0" smtClean="0"/>
              <a:t>);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1768410"/>
            <a:ext cx="4305300" cy="45243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/>
              <a:t>pw.print</a:t>
            </a:r>
            <a:r>
              <a:rPr lang="en-US" dirty="0"/>
              <a:t>( "Current GPA: " );</a:t>
            </a:r>
          </a:p>
          <a:p>
            <a:r>
              <a:rPr lang="en-US" dirty="0" err="1" smtClean="0"/>
              <a:t>pw.println</a:t>
            </a:r>
            <a:r>
              <a:rPr lang="en-US" dirty="0"/>
              <a:t>( 3.68 );</a:t>
            </a:r>
          </a:p>
          <a:p>
            <a:r>
              <a:rPr lang="en-US" dirty="0" err="1" smtClean="0"/>
              <a:t>pw.print</a:t>
            </a:r>
            <a:r>
              <a:rPr lang="en-US" dirty="0"/>
              <a:t>( "Successful student as of Spring </a:t>
            </a:r>
            <a:r>
              <a:rPr lang="en-US" dirty="0" smtClean="0"/>
              <a:t>semester</a:t>
            </a:r>
            <a:r>
              <a:rPr lang="en-US" dirty="0"/>
              <a:t>: " );</a:t>
            </a:r>
          </a:p>
          <a:p>
            <a:r>
              <a:rPr lang="en-US" dirty="0" err="1" smtClean="0"/>
              <a:t>pw.println</a:t>
            </a:r>
            <a:r>
              <a:rPr lang="en-US" dirty="0"/>
              <a:t>( true );</a:t>
            </a:r>
            <a:endParaRPr lang="en-US" dirty="0" smtClean="0"/>
          </a:p>
          <a:p>
            <a:r>
              <a:rPr lang="en-US" dirty="0" smtClean="0"/>
              <a:t>// </a:t>
            </a:r>
            <a:r>
              <a:rPr lang="en-US" dirty="0"/>
              <a:t>release the resources associated with grades.txt</a:t>
            </a:r>
          </a:p>
          <a:p>
            <a:r>
              <a:rPr lang="en-US" dirty="0"/>
              <a:t>       </a:t>
            </a:r>
            <a:r>
              <a:rPr lang="en-US" dirty="0" err="1"/>
              <a:t>pw.close</a:t>
            </a:r>
            <a:r>
              <a:rPr lang="en-US" dirty="0"/>
              <a:t>( );</a:t>
            </a:r>
          </a:p>
          <a:p>
            <a:r>
              <a:rPr lang="en-US" dirty="0"/>
              <a:t>     }</a:t>
            </a:r>
          </a:p>
          <a:p>
            <a:endParaRPr lang="en-US" dirty="0"/>
          </a:p>
          <a:p>
            <a:r>
              <a:rPr lang="en-US" dirty="0"/>
              <a:t>     catch ( </a:t>
            </a:r>
            <a:r>
              <a:rPr lang="en-US" dirty="0" err="1"/>
              <a:t>FileNotFoundException</a:t>
            </a:r>
            <a:r>
              <a:rPr lang="en-US" dirty="0"/>
              <a:t> </a:t>
            </a:r>
            <a:r>
              <a:rPr lang="en-US" dirty="0" err="1"/>
              <a:t>fnfe</a:t>
            </a:r>
            <a:r>
              <a:rPr lang="en-US" dirty="0"/>
              <a:t> )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System.out.println</a:t>
            </a:r>
            <a:r>
              <a:rPr lang="en-US" dirty="0"/>
              <a:t>( "Unable to find grades.txt" );</a:t>
            </a:r>
          </a:p>
          <a:p>
            <a:r>
              <a:rPr lang="en-US" dirty="0"/>
              <a:t>     }</a:t>
            </a:r>
          </a:p>
          <a:p>
            <a:r>
              <a:rPr lang="en-US" dirty="0"/>
              <a:t>   }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58800" y="558799"/>
            <a:ext cx="8166100" cy="7429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 smtClean="0"/>
              <a:t>Appending to </a:t>
            </a:r>
            <a:r>
              <a:rPr lang="en-US" altLang="en-US" dirty="0"/>
              <a:t>Text Files</a:t>
            </a:r>
          </a:p>
        </p:txBody>
      </p:sp>
      <p:sp>
        <p:nvSpPr>
          <p:cNvPr id="2" name="Line Callout 1 1"/>
          <p:cNvSpPr/>
          <p:nvPr/>
        </p:nvSpPr>
        <p:spPr>
          <a:xfrm>
            <a:off x="4330700" y="2476500"/>
            <a:ext cx="3365500" cy="1016000"/>
          </a:xfrm>
          <a:prstGeom prst="borderCallout1">
            <a:avLst>
              <a:gd name="adj1" fmla="val 18750"/>
              <a:gd name="adj2" fmla="val -8333"/>
              <a:gd name="adj3" fmla="val 98109"/>
              <a:gd name="adj4" fmla="val -519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parameter is “true” which add the new data to the end of the file</a:t>
            </a:r>
          </a:p>
        </p:txBody>
      </p:sp>
    </p:spTree>
    <p:extLst>
      <p:ext uri="{BB962C8B-B14F-4D97-AF65-F5344CB8AC3E}">
        <p14:creationId xmlns:p14="http://schemas.microsoft.com/office/powerpoint/2010/main" val="3949318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BufferedWriter</a:t>
            </a:r>
            <a:r>
              <a:rPr lang="en-US" dirty="0" smtClean="0"/>
              <a:t> Vs </a:t>
            </a:r>
            <a:r>
              <a:rPr lang="en-US" dirty="0" err="1" smtClean="0"/>
              <a:t>PrintWriter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BufferedWriter</a:t>
            </a:r>
            <a:r>
              <a:rPr lang="en-US" dirty="0" smtClean="0"/>
              <a:t> is more efficient</a:t>
            </a:r>
          </a:p>
          <a:p>
            <a:pPr lvl="1"/>
            <a:r>
              <a:rPr lang="en-US" dirty="0" smtClean="0"/>
              <a:t>Buffering helps to make the write process faster</a:t>
            </a:r>
          </a:p>
          <a:p>
            <a:r>
              <a:rPr lang="en-US" dirty="0" err="1" smtClean="0"/>
              <a:t>PrintWriter</a:t>
            </a:r>
            <a:r>
              <a:rPr lang="en-US" dirty="0" smtClean="0"/>
              <a:t> has a large number of methods to handle different data types</a:t>
            </a:r>
          </a:p>
          <a:p>
            <a:pPr lvl="1"/>
            <a:r>
              <a:rPr lang="en-US" dirty="0" smtClean="0"/>
              <a:t>Tedious to write using </a:t>
            </a:r>
            <a:r>
              <a:rPr lang="en-US" dirty="0" err="1" smtClean="0"/>
              <a:t>BufferedWriter</a:t>
            </a:r>
            <a:endParaRPr lang="en-US" dirty="0" smtClean="0"/>
          </a:p>
          <a:p>
            <a:r>
              <a:rPr lang="en-US" dirty="0" smtClean="0"/>
              <a:t>You can combine them.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726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23250" cy="1325563"/>
          </a:xfrm>
        </p:spPr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PrintWriter</a:t>
            </a:r>
            <a:r>
              <a:rPr lang="en-US" dirty="0" smtClean="0"/>
              <a:t> + </a:t>
            </a:r>
            <a:r>
              <a:rPr lang="en-US" dirty="0" err="1" smtClean="0"/>
              <a:t>BufferedWriter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47650" y="1598356"/>
            <a:ext cx="4832350" cy="535531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try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FileWriter</a:t>
            </a:r>
            <a:r>
              <a:rPr lang="en-US" dirty="0"/>
              <a:t> </a:t>
            </a:r>
            <a:r>
              <a:rPr lang="en-US" dirty="0" err="1"/>
              <a:t>fw</a:t>
            </a:r>
            <a:r>
              <a:rPr lang="en-US" dirty="0"/>
              <a:t> = new </a:t>
            </a:r>
            <a:r>
              <a:rPr lang="en-US" dirty="0" err="1"/>
              <a:t>FileWriter</a:t>
            </a:r>
            <a:endParaRPr lang="en-US" dirty="0"/>
          </a:p>
          <a:p>
            <a:r>
              <a:rPr lang="en-US" dirty="0"/>
              <a:t>               ( "grades.txt", false );      </a:t>
            </a:r>
          </a:p>
          <a:p>
            <a:r>
              <a:rPr lang="en-US" dirty="0"/>
              <a:t>       </a:t>
            </a:r>
            <a:r>
              <a:rPr lang="en-US" dirty="0" err="1"/>
              <a:t>BufferedWriter</a:t>
            </a:r>
            <a:r>
              <a:rPr lang="en-US" dirty="0"/>
              <a:t> </a:t>
            </a:r>
            <a:r>
              <a:rPr lang="en-US" dirty="0" err="1"/>
              <a:t>bw</a:t>
            </a:r>
            <a:r>
              <a:rPr lang="en-US" dirty="0"/>
              <a:t> = new </a:t>
            </a:r>
            <a:r>
              <a:rPr lang="en-US" dirty="0" err="1"/>
              <a:t>BufferedWriter</a:t>
            </a:r>
            <a:r>
              <a:rPr lang="en-US" dirty="0"/>
              <a:t>( </a:t>
            </a:r>
            <a:r>
              <a:rPr lang="en-US" dirty="0" err="1"/>
              <a:t>fw</a:t>
            </a:r>
            <a:r>
              <a:rPr lang="en-US" dirty="0"/>
              <a:t> );</a:t>
            </a:r>
          </a:p>
          <a:p>
            <a:r>
              <a:rPr lang="en-US" dirty="0"/>
              <a:t>	   </a:t>
            </a:r>
            <a:r>
              <a:rPr lang="en-US" dirty="0" err="1"/>
              <a:t>PrintWriter</a:t>
            </a:r>
            <a:r>
              <a:rPr lang="en-US" dirty="0"/>
              <a:t> pw=new </a:t>
            </a:r>
            <a:r>
              <a:rPr lang="en-US" dirty="0" err="1"/>
              <a:t>PrintWriter</a:t>
            </a:r>
            <a:r>
              <a:rPr lang="en-US" dirty="0"/>
              <a:t>(</a:t>
            </a:r>
            <a:r>
              <a:rPr lang="en-US" dirty="0" err="1"/>
              <a:t>bw</a:t>
            </a:r>
            <a:r>
              <a:rPr lang="en-US" dirty="0"/>
              <a:t>);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"CS130: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( 95 );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"Letter grade: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'A' );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"Current GPA: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( 3.68 );</a:t>
            </a:r>
          </a:p>
          <a:p>
            <a:r>
              <a:rPr lang="en-US" dirty="0"/>
              <a:t>       </a:t>
            </a:r>
            <a:r>
              <a:rPr lang="en-US" dirty="0" err="1"/>
              <a:t>pw.print</a:t>
            </a:r>
            <a:r>
              <a:rPr lang="en-US" dirty="0"/>
              <a:t>( "Successful student as of Spring semester: " );</a:t>
            </a:r>
          </a:p>
          <a:p>
            <a:r>
              <a:rPr lang="en-US" dirty="0"/>
              <a:t>       </a:t>
            </a:r>
            <a:r>
              <a:rPr lang="en-US" dirty="0" err="1"/>
              <a:t>pw.println</a:t>
            </a:r>
            <a:r>
              <a:rPr lang="en-US" dirty="0"/>
              <a:t>( true );</a:t>
            </a:r>
          </a:p>
          <a:p>
            <a:r>
              <a:rPr lang="en-US" dirty="0"/>
              <a:t>       </a:t>
            </a:r>
          </a:p>
          <a:p>
            <a:r>
              <a:rPr lang="en-US" dirty="0" smtClean="0"/>
              <a:t>       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83200" y="1690689"/>
            <a:ext cx="3454400" cy="258532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bw.flush</a:t>
            </a:r>
            <a:r>
              <a:rPr lang="en-US" dirty="0"/>
              <a:t>();		</a:t>
            </a:r>
          </a:p>
          <a:p>
            <a:r>
              <a:rPr lang="en-US" dirty="0"/>
              <a:t>       </a:t>
            </a:r>
            <a:r>
              <a:rPr lang="en-US" dirty="0" err="1"/>
              <a:t>pw.close</a:t>
            </a:r>
            <a:r>
              <a:rPr lang="en-US" dirty="0"/>
              <a:t>( );</a:t>
            </a:r>
          </a:p>
          <a:p>
            <a:r>
              <a:rPr lang="en-US" dirty="0"/>
              <a:t>     }</a:t>
            </a:r>
          </a:p>
          <a:p>
            <a:r>
              <a:rPr lang="en-US" dirty="0"/>
              <a:t>	 catch (</a:t>
            </a:r>
            <a:r>
              <a:rPr lang="en-US" dirty="0" err="1"/>
              <a:t>IOException</a:t>
            </a:r>
            <a:r>
              <a:rPr lang="en-US" dirty="0"/>
              <a:t> e)</a:t>
            </a:r>
          </a:p>
          <a:p>
            <a:r>
              <a:rPr lang="en-US" dirty="0"/>
              <a:t>	 {</a:t>
            </a:r>
          </a:p>
          <a:p>
            <a:r>
              <a:rPr lang="en-US" dirty="0"/>
              <a:t>		 </a:t>
            </a:r>
            <a:r>
              <a:rPr lang="en-US" dirty="0" err="1"/>
              <a:t>System.out.println</a:t>
            </a:r>
            <a:r>
              <a:rPr lang="en-US" dirty="0"/>
              <a:t>( "Text errors" );</a:t>
            </a:r>
          </a:p>
          <a:p>
            <a:r>
              <a:rPr lang="en-US" dirty="0"/>
              <a:t>	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385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46100" y="577850"/>
            <a:ext cx="8597900" cy="603250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sz="4000" dirty="0"/>
              <a:t>Opening and Closing Standard Streams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000250"/>
            <a:ext cx="8585200" cy="371475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anose="02020603050405020304" pitchFamily="18" charset="0"/>
              </a:rPr>
              <a:t>Some streams are standard and the are available to any java program.</a:t>
            </a:r>
          </a:p>
          <a:p>
            <a:pPr eaLnBrk="1" hangingPunct="1"/>
            <a:r>
              <a:rPr lang="en-US" altLang="en-US" dirty="0" smtClean="0">
                <a:cs typeface="Times New Roman" panose="02020603050405020304" pitchFamily="18" charset="0"/>
              </a:rPr>
              <a:t>The standard input stream (</a:t>
            </a:r>
            <a:r>
              <a:rPr lang="en-US" altLang="en-US" i="1" dirty="0" smtClean="0">
                <a:cs typeface="Times New Roman" panose="02020603050405020304" pitchFamily="18" charset="0"/>
              </a:rPr>
              <a:t>System.in</a:t>
            </a:r>
            <a:r>
              <a:rPr lang="en-US" altLang="en-US" dirty="0" smtClean="0">
                <a:cs typeface="Times New Roman" panose="02020603050405020304" pitchFamily="18" charset="0"/>
              </a:rPr>
              <a:t>), the standard output stream (</a:t>
            </a:r>
            <a:r>
              <a:rPr lang="en-US" altLang="en-US" i="1" dirty="0" err="1" smtClean="0">
                <a:cs typeface="Times New Roman" panose="02020603050405020304" pitchFamily="18" charset="0"/>
              </a:rPr>
              <a:t>System.out</a:t>
            </a:r>
            <a:r>
              <a:rPr lang="en-US" altLang="en-US" dirty="0" smtClean="0">
                <a:cs typeface="Times New Roman" panose="02020603050405020304" pitchFamily="18" charset="0"/>
              </a:rPr>
              <a:t>), and the standard error stream </a:t>
            </a:r>
            <a:r>
              <a:rPr lang="en-US" altLang="en-US" i="1" dirty="0" smtClean="0">
                <a:cs typeface="Times New Roman" panose="02020603050405020304" pitchFamily="18" charset="0"/>
              </a:rPr>
              <a:t>(</a:t>
            </a:r>
            <a:r>
              <a:rPr lang="en-US" altLang="en-US" i="1" dirty="0" err="1" smtClean="0">
                <a:cs typeface="Times New Roman" panose="02020603050405020304" pitchFamily="18" charset="0"/>
              </a:rPr>
              <a:t>System.err</a:t>
            </a:r>
            <a:r>
              <a:rPr lang="en-US" altLang="en-US" dirty="0" smtClean="0">
                <a:cs typeface="Times New Roman" panose="02020603050405020304" pitchFamily="18" charset="0"/>
              </a:rPr>
              <a:t>) are open when the program begins.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cs typeface="Times New Roman" panose="02020603050405020304" pitchFamily="18" charset="0"/>
              </a:rPr>
              <a:t>They are intended to stay open and should not be closed.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B778B7-19D1-4220-AFBC-D5E905EE597C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40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0590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9" name="Rectangle 3"/>
          <p:cNvSpPr>
            <a:spLocks noGrp="1" noChangeArrowheads="1"/>
          </p:cNvSpPr>
          <p:nvPr>
            <p:ph idx="1"/>
          </p:nvPr>
        </p:nvSpPr>
        <p:spPr>
          <a:xfrm>
            <a:off x="800100" y="1670050"/>
            <a:ext cx="7848600" cy="3600450"/>
          </a:xfrm>
        </p:spPr>
        <p:txBody>
          <a:bodyPr rtlCol="0">
            <a:normAutofit fontScale="92500" lnSpcReduction="20000"/>
          </a:bodyPr>
          <a:lstStyle/>
          <a:p>
            <a:pPr>
              <a:defRPr/>
            </a:pPr>
            <a:r>
              <a:rPr lang="en-US" dirty="0" smtClean="0">
                <a:cs typeface="Times New Roman" charset="0"/>
              </a:rPr>
              <a:t>Calling the close method is optional. When the program finishes executing, all the resources of any unclosed files are released. </a:t>
            </a:r>
            <a:br>
              <a:rPr lang="en-US" dirty="0" smtClean="0">
                <a:cs typeface="Times New Roman" charset="0"/>
              </a:rPr>
            </a:br>
            <a:endParaRPr lang="en-US" dirty="0" smtClean="0">
              <a:cs typeface="Times New Roman" charset="0"/>
            </a:endParaRPr>
          </a:p>
          <a:p>
            <a:pPr>
              <a:defRPr/>
            </a:pPr>
            <a:r>
              <a:rPr lang="en-US" dirty="0" smtClean="0">
                <a:cs typeface="Times New Roman" charset="0"/>
              </a:rPr>
              <a:t>It is good practice to call the </a:t>
            </a:r>
            <a:r>
              <a:rPr lang="en-US" i="1" dirty="0" smtClean="0">
                <a:cs typeface="Times New Roman" charset="0"/>
              </a:rPr>
              <a:t>close</a:t>
            </a:r>
            <a:r>
              <a:rPr lang="en-US" dirty="0" smtClean="0">
                <a:cs typeface="Times New Roman" charset="0"/>
              </a:rPr>
              <a:t> method, however, especially if you will be opening a number of files (or opening the same file multiple times.) </a:t>
            </a:r>
          </a:p>
          <a:p>
            <a:pPr>
              <a:buNone/>
              <a:defRPr/>
            </a:pPr>
            <a:r>
              <a:rPr lang="en-US" dirty="0" smtClean="0">
                <a:cs typeface="Times New Roman" charset="0"/>
              </a:rPr>
              <a:t>    </a:t>
            </a:r>
          </a:p>
          <a:p>
            <a:pPr>
              <a:defRPr/>
            </a:pPr>
            <a:r>
              <a:rPr lang="en-US" dirty="0" smtClean="0">
                <a:cs typeface="Times New Roman" charset="0"/>
              </a:rPr>
              <a:t>Do not close the standard</a:t>
            </a:r>
            <a:r>
              <a:rPr lang="en-US" dirty="0" smtClean="0">
                <a:solidFill>
                  <a:srgbClr val="FF0000"/>
                </a:solidFill>
                <a:cs typeface="Times New Roman" charset="0"/>
              </a:rPr>
              <a:t> </a:t>
            </a:r>
            <a:r>
              <a:rPr lang="en-US" dirty="0" smtClean="0">
                <a:cs typeface="Times New Roman" charset="0"/>
              </a:rPr>
              <a:t>input, output, or error devices, however. They are intended to remain open.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D3C12A9-E53D-44D4-AC6E-CBE5F1415BAB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41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9459" name="Picture 5" descr="SftwrEngTip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496927"/>
            <a:ext cx="6858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7"/>
          <p:cNvSpPr>
            <a:spLocks noChangeArrowheads="1"/>
          </p:cNvSpPr>
          <p:nvPr/>
        </p:nvSpPr>
        <p:spPr bwMode="auto">
          <a:xfrm>
            <a:off x="1885950" y="496927"/>
            <a:ext cx="56578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000" dirty="0">
                <a:solidFill>
                  <a:schemeClr val="accent2"/>
                </a:solidFill>
                <a:latin typeface="Calibri" panose="020F0502020204030204" pitchFamily="34" charset="0"/>
              </a:rPr>
              <a:t>SOFTWARE ENGINEERING TIP</a:t>
            </a:r>
          </a:p>
        </p:txBody>
      </p:sp>
    </p:spTree>
    <p:extLst>
      <p:ext uri="{BB962C8B-B14F-4D97-AF65-F5344CB8AC3E}">
        <p14:creationId xmlns:p14="http://schemas.microsoft.com/office/powerpoint/2010/main" val="18677797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Closing an output stream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When closing a </a:t>
            </a:r>
            <a:r>
              <a:rPr lang="en-US" altLang="en-US" b="1" dirty="0" smtClean="0"/>
              <a:t>Buffered </a:t>
            </a:r>
            <a:r>
              <a:rPr lang="en-US" altLang="en-US" dirty="0" smtClean="0"/>
              <a:t>output stream in addition to the close() method for the stream the </a:t>
            </a:r>
            <a:r>
              <a:rPr lang="en-US" altLang="en-US" dirty="0" smtClean="0"/>
              <a:t>method </a:t>
            </a:r>
            <a:r>
              <a:rPr lang="en-US" altLang="en-US" dirty="0" smtClean="0"/>
              <a:t>flush() should also be invoked:</a:t>
            </a:r>
          </a:p>
          <a:p>
            <a:r>
              <a:rPr lang="en-US" altLang="en-US" dirty="0" smtClean="0"/>
              <a:t>Flushing </a:t>
            </a:r>
            <a:r>
              <a:rPr lang="en-US" altLang="en-US" dirty="0" smtClean="0"/>
              <a:t>the output stream forces any   buffered output bytes to be written out.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144460-1979-48E7-A915-B89589888CA6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42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439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1343</TotalTime>
  <Words>3198</Words>
  <Application>Microsoft Office PowerPoint</Application>
  <PresentationFormat>On-screen Show (4:3)</PresentationFormat>
  <Paragraphs>587</Paragraphs>
  <Slides>42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Times New Roman</vt:lpstr>
      <vt:lpstr>Office Theme</vt:lpstr>
      <vt:lpstr>CS 116 Object Oriented Programming II</vt:lpstr>
      <vt:lpstr>Today’s Topics</vt:lpstr>
      <vt:lpstr>File Types</vt:lpstr>
      <vt:lpstr>File Types</vt:lpstr>
      <vt:lpstr>Reading Text Files with Scanner</vt:lpstr>
      <vt:lpstr>Streams</vt:lpstr>
      <vt:lpstr>Hierarchy for Input Classes</vt:lpstr>
      <vt:lpstr>Selected Input Classes in the java.io Package</vt:lpstr>
      <vt:lpstr>FileInputStream Class</vt:lpstr>
      <vt:lpstr> BufferedReader Class</vt:lpstr>
      <vt:lpstr>Reading using Streams (Example: Reading one character at a time)</vt:lpstr>
      <vt:lpstr>Reading using Streams (Example: Reading one character at a time)</vt:lpstr>
      <vt:lpstr>Example Reading Text File </vt:lpstr>
      <vt:lpstr>Example Reading Text File </vt:lpstr>
      <vt:lpstr>Opening and Closing an Input Stream</vt:lpstr>
      <vt:lpstr>Reading Structured Text Files</vt:lpstr>
      <vt:lpstr>Reading Structured Text Files (Example: Airline records)</vt:lpstr>
      <vt:lpstr>Remember the StringTokenizer Class/Split method in String class?</vt:lpstr>
      <vt:lpstr>Reading Structured Text Files (Example: Airline records)</vt:lpstr>
      <vt:lpstr>In class Exercise</vt:lpstr>
      <vt:lpstr>In class Exercise</vt:lpstr>
      <vt:lpstr>Writing to Text Files</vt:lpstr>
      <vt:lpstr>Selected java.io Output Classes </vt:lpstr>
      <vt:lpstr>Hierarchy for Output Classes</vt:lpstr>
      <vt:lpstr> Constructors for Writing to Text Files</vt:lpstr>
      <vt:lpstr>Buffering</vt:lpstr>
      <vt:lpstr>Methods of the BufferedWriter Class</vt:lpstr>
      <vt:lpstr>Using BufferedWriter to Write to Files</vt:lpstr>
      <vt:lpstr>Writing Primitive Types to Text Files</vt:lpstr>
      <vt:lpstr> Writing to Structured Text Files</vt:lpstr>
      <vt:lpstr>Useful PrintWriter Methods</vt:lpstr>
      <vt:lpstr>Writing Primitive Types to Text Files</vt:lpstr>
      <vt:lpstr>Writing Primitive Types to Text Files</vt:lpstr>
      <vt:lpstr>Writing Primitive Types to Text Files</vt:lpstr>
      <vt:lpstr>Writing Primitive Types to Text Files</vt:lpstr>
      <vt:lpstr>Writing Primitive Types to Text Files</vt:lpstr>
      <vt:lpstr>Appending to Text Files</vt:lpstr>
      <vt:lpstr>BufferedWriter Vs PrintWriter</vt:lpstr>
      <vt:lpstr>Using PrintWriter + BufferedWriter</vt:lpstr>
      <vt:lpstr>Opening and Closing Standard Streams</vt:lpstr>
      <vt:lpstr>PowerPoint Presentation</vt:lpstr>
      <vt:lpstr>Closing an output stream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korah</dc:creator>
  <cp:lastModifiedBy>john korah</cp:lastModifiedBy>
  <cp:revision>144</cp:revision>
  <dcterms:created xsi:type="dcterms:W3CDTF">2016-03-01T16:49:43Z</dcterms:created>
  <dcterms:modified xsi:type="dcterms:W3CDTF">2016-04-05T22:10:07Z</dcterms:modified>
</cp:coreProperties>
</file>